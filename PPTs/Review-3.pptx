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43"/>
  </p:notesMasterIdLst>
  <p:sldIdLst>
    <p:sldId id="282" r:id="rId3"/>
    <p:sldId id="257" r:id="rId4"/>
    <p:sldId id="292" r:id="rId5"/>
    <p:sldId id="310" r:id="rId6"/>
    <p:sldId id="293" r:id="rId7"/>
    <p:sldId id="294" r:id="rId8"/>
    <p:sldId id="295" r:id="rId9"/>
    <p:sldId id="296" r:id="rId10"/>
    <p:sldId id="297" r:id="rId11"/>
    <p:sldId id="311" r:id="rId12"/>
    <p:sldId id="312" r:id="rId13"/>
    <p:sldId id="313" r:id="rId14"/>
    <p:sldId id="315" r:id="rId15"/>
    <p:sldId id="316" r:id="rId16"/>
    <p:sldId id="317" r:id="rId17"/>
    <p:sldId id="318" r:id="rId18"/>
    <p:sldId id="319" r:id="rId19"/>
    <p:sldId id="300" r:id="rId20"/>
    <p:sldId id="301" r:id="rId21"/>
    <p:sldId id="302" r:id="rId22"/>
    <p:sldId id="284" r:id="rId23"/>
    <p:sldId id="280" r:id="rId24"/>
    <p:sldId id="285" r:id="rId25"/>
    <p:sldId id="309" r:id="rId26"/>
    <p:sldId id="281" r:id="rId27"/>
    <p:sldId id="322" r:id="rId28"/>
    <p:sldId id="320" r:id="rId29"/>
    <p:sldId id="291" r:id="rId30"/>
    <p:sldId id="327" r:id="rId31"/>
    <p:sldId id="321" r:id="rId32"/>
    <p:sldId id="290" r:id="rId33"/>
    <p:sldId id="328" r:id="rId34"/>
    <p:sldId id="329" r:id="rId35"/>
    <p:sldId id="330" r:id="rId36"/>
    <p:sldId id="331" r:id="rId37"/>
    <p:sldId id="305" r:id="rId38"/>
    <p:sldId id="276" r:id="rId39"/>
    <p:sldId id="289" r:id="rId40"/>
    <p:sldId id="314" r:id="rId41"/>
    <p:sldId id="264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gZpxF7Zee30fhjMZJOO9uuOAEd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5172" autoAdjust="0"/>
  </p:normalViewPr>
  <p:slideViewPr>
    <p:cSldViewPr snapToGrid="0">
      <p:cViewPr varScale="1">
        <p:scale>
          <a:sx n="104" d="100"/>
          <a:sy n="104" d="100"/>
        </p:scale>
        <p:origin x="811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51;p:notes">
            <a:extLst>
              <a:ext uri="{FF2B5EF4-FFF2-40B4-BE49-F238E27FC236}">
                <a16:creationId xmlns:a16="http://schemas.microsoft.com/office/drawing/2014/main" id="{97087682-E3C2-01CD-06F9-03A87A5C78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6147" name="Google Shape;52;p:notes">
            <a:extLst>
              <a:ext uri="{FF2B5EF4-FFF2-40B4-BE49-F238E27FC236}">
                <a16:creationId xmlns:a16="http://schemas.microsoft.com/office/drawing/2014/main" id="{5BEA381B-4395-8C12-695A-0027E38FC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06BA5C60-1896-55A2-6DF1-C2E89BE7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A8ACA7A0-8B2C-DAC4-F020-7BD9F4495B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A634F269-C9B3-889B-A6A3-7249FAE30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4541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F9FAFE32-CEDA-A93C-E9A5-102F8B9AF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4F8909E9-26BB-F7A3-3DBE-79B4A7BF22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0A31E941-34CB-C6AD-A8EC-235E4F54B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41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F4F274CC-CA44-A9D2-89AB-89D0D66E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06123A3A-1061-2154-6ECA-88D9C7F2C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D961B195-B516-832B-628E-D88BC2494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037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B2B45215-ACC8-1047-5FAE-ABA1EB0B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F51F1245-6A7C-139D-77E5-DAFB38164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19AF9C96-FE9A-348C-28C5-459762D0F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4532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6AF907A0-6677-E9B7-4209-14FBDD63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5768FCE9-4E52-BAD9-8BD4-B01E1D404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7920B1CD-5E2D-A775-1AA2-D61C0EBEF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3609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80D00F6A-8887-15C7-5A62-45F7B0F0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2B88CDCE-FAEA-8662-1028-C6737794A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E365FEA7-6F8B-1EDF-A94F-2B0635FEA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5524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551F8562-DDE7-0A0C-3CD5-0FA33983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BFFC5690-9496-8C79-6545-9F46DECE0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0675865A-E413-8130-C972-422C8A246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351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636E22EF-A3D0-46FA-E790-C7A93305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DC3078BF-9000-6E06-2D95-E287F0037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05D417F9-EA02-1AAF-810C-CAB963586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426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9CF63504-8C68-7DCA-E37D-0CA0C87A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54C63972-51F3-FEF3-6988-D4CF99F30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F4105BE9-58BF-7084-7241-7F48B5558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1428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CAA1D8C8-E5FB-49B8-2844-FBD0463A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C1E2E304-B8E6-8FA0-436B-C44B4D2B5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48907E54-98A0-29F9-4262-E0209BD26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512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37CA00E1-8294-C57C-FE6F-5903F559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295E97D6-30C2-C8A4-5778-9FA1ADDA4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CD8C7529-5149-BFE0-CED7-557988A9A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1512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350;p10:notes">
            <a:extLst>
              <a:ext uri="{FF2B5EF4-FFF2-40B4-BE49-F238E27FC236}">
                <a16:creationId xmlns:a16="http://schemas.microsoft.com/office/drawing/2014/main" id="{BBE4BAB0-D547-FEA3-B63C-033E156AF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Google Shape;351;p10:notes">
            <a:extLst>
              <a:ext uri="{FF2B5EF4-FFF2-40B4-BE49-F238E27FC236}">
                <a16:creationId xmlns:a16="http://schemas.microsoft.com/office/drawing/2014/main" id="{6BB9BD26-2238-8417-A584-6C843A149C7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350;p10:notes">
            <a:extLst>
              <a:ext uri="{FF2B5EF4-FFF2-40B4-BE49-F238E27FC236}">
                <a16:creationId xmlns:a16="http://schemas.microsoft.com/office/drawing/2014/main" id="{B3AC2E4D-081D-3E3C-5C68-A0FEB4785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Google Shape;351;p10:notes">
            <a:extLst>
              <a:ext uri="{FF2B5EF4-FFF2-40B4-BE49-F238E27FC236}">
                <a16:creationId xmlns:a16="http://schemas.microsoft.com/office/drawing/2014/main" id="{4D9F29A7-A1AD-BA6C-9F8D-BB952ED26C9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40E89C7-220A-DA96-45CD-FB2486A3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350;p10:notes">
            <a:extLst>
              <a:ext uri="{FF2B5EF4-FFF2-40B4-BE49-F238E27FC236}">
                <a16:creationId xmlns:a16="http://schemas.microsoft.com/office/drawing/2014/main" id="{F88029B3-8B84-206C-021A-1B314A881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Google Shape;351;p10:notes">
            <a:extLst>
              <a:ext uri="{FF2B5EF4-FFF2-40B4-BE49-F238E27FC236}">
                <a16:creationId xmlns:a16="http://schemas.microsoft.com/office/drawing/2014/main" id="{6B500818-342E-7A6A-19D7-B8559DCCBE2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90264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350;p10:notes">
            <a:extLst>
              <a:ext uri="{FF2B5EF4-FFF2-40B4-BE49-F238E27FC236}">
                <a16:creationId xmlns:a16="http://schemas.microsoft.com/office/drawing/2014/main" id="{950985AE-265B-B455-434B-F2E50E0B2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Google Shape;351;p10:notes">
            <a:extLst>
              <a:ext uri="{FF2B5EF4-FFF2-40B4-BE49-F238E27FC236}">
                <a16:creationId xmlns:a16="http://schemas.microsoft.com/office/drawing/2014/main" id="{2E8634D7-B49F-740E-B77E-BFE8319D8D1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350;p10:notes">
            <a:extLst>
              <a:ext uri="{FF2B5EF4-FFF2-40B4-BE49-F238E27FC236}">
                <a16:creationId xmlns:a16="http://schemas.microsoft.com/office/drawing/2014/main" id="{ADB595D5-3CED-7498-B60C-18BB840A9E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Google Shape;351;p10:notes">
            <a:extLst>
              <a:ext uri="{FF2B5EF4-FFF2-40B4-BE49-F238E27FC236}">
                <a16:creationId xmlns:a16="http://schemas.microsoft.com/office/drawing/2014/main" id="{87ECF282-91F0-4C78-F393-E29DF8A7B2D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C306D90-7CBB-F083-AD64-3AEEDB5F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350;p10:notes">
            <a:extLst>
              <a:ext uri="{FF2B5EF4-FFF2-40B4-BE49-F238E27FC236}">
                <a16:creationId xmlns:a16="http://schemas.microsoft.com/office/drawing/2014/main" id="{0BF3EEC4-ED42-5F2B-C483-E16D9DEBE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Google Shape;351;p10:notes">
            <a:extLst>
              <a:ext uri="{FF2B5EF4-FFF2-40B4-BE49-F238E27FC236}">
                <a16:creationId xmlns:a16="http://schemas.microsoft.com/office/drawing/2014/main" id="{2BDF22D7-B537-0F1D-4FC7-24C69EF6102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2761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A4B7FE-0E19-84DE-EFCD-501307E5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350;p10:notes">
            <a:extLst>
              <a:ext uri="{FF2B5EF4-FFF2-40B4-BE49-F238E27FC236}">
                <a16:creationId xmlns:a16="http://schemas.microsoft.com/office/drawing/2014/main" id="{3F264881-0BA4-9723-60BD-9205800B02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Google Shape;351;p10:notes">
            <a:extLst>
              <a:ext uri="{FF2B5EF4-FFF2-40B4-BE49-F238E27FC236}">
                <a16:creationId xmlns:a16="http://schemas.microsoft.com/office/drawing/2014/main" id="{DC9A213F-816B-620E-67BC-5B1878E3D4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601874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8F29E0-5676-8313-EFFB-36762B82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350;p10:notes">
            <a:extLst>
              <a:ext uri="{FF2B5EF4-FFF2-40B4-BE49-F238E27FC236}">
                <a16:creationId xmlns:a16="http://schemas.microsoft.com/office/drawing/2014/main" id="{0DBBDCB6-04A2-4FB4-0680-88EAFED28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Google Shape;351;p10:notes">
            <a:extLst>
              <a:ext uri="{FF2B5EF4-FFF2-40B4-BE49-F238E27FC236}">
                <a16:creationId xmlns:a16="http://schemas.microsoft.com/office/drawing/2014/main" id="{AFEF2124-4556-31A3-29A3-E64DAFB1AB4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2073299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1301024-BBB6-E122-416D-C4175BDA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350;p10:notes">
            <a:extLst>
              <a:ext uri="{FF2B5EF4-FFF2-40B4-BE49-F238E27FC236}">
                <a16:creationId xmlns:a16="http://schemas.microsoft.com/office/drawing/2014/main" id="{7721CF1F-9BE4-A1DF-1B18-BE7B7E8F72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</p:spPr>
        <p:txBody>
          <a:bodyPr tIns="45700" bIns="45700"/>
          <a:lstStyle/>
          <a:p>
            <a:pPr marL="0" indent="0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Google Shape;351;p10:notes">
            <a:extLst>
              <a:ext uri="{FF2B5EF4-FFF2-40B4-BE49-F238E27FC236}">
                <a16:creationId xmlns:a16="http://schemas.microsoft.com/office/drawing/2014/main" id="{210B29AE-18B8-C750-928F-DDB96BA7097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073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49C73F61-D314-3579-A314-920945AE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72A95C07-12CE-932F-A6FF-FA7F801A2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DC556461-BC14-1014-04EF-A141324B7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10379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8AC495E5-0F9C-781E-F5D8-80447642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CC800358-241D-CECB-D6D6-9ABE7B5AE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60A61670-FAFB-8431-A2B3-4C121D6EE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52199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>
          <a:extLst>
            <a:ext uri="{FF2B5EF4-FFF2-40B4-BE49-F238E27FC236}">
              <a16:creationId xmlns:a16="http://schemas.microsoft.com/office/drawing/2014/main" id="{E99AB8A6-EF88-6D3E-266D-8A0934AE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>
            <a:extLst>
              <a:ext uri="{FF2B5EF4-FFF2-40B4-BE49-F238E27FC236}">
                <a16:creationId xmlns:a16="http://schemas.microsoft.com/office/drawing/2014/main" id="{080EC705-5B07-077D-37D9-B7125B1A5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>
            <a:extLst>
              <a:ext uri="{FF2B5EF4-FFF2-40B4-BE49-F238E27FC236}">
                <a16:creationId xmlns:a16="http://schemas.microsoft.com/office/drawing/2014/main" id="{0CFC9B51-169B-24CB-21E9-69C384094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86875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165100" y="914400"/>
            <a:ext cx="8763000" cy="34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2706687" y="4760912"/>
            <a:ext cx="35385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693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tabLst>
                <a:tab pos="4127500" algn="l"/>
              </a:tabLst>
              <a:defRPr sz="3200" b="1" baseline="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5100" y="914400"/>
            <a:ext cx="8763000" cy="3479800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200">
                <a:latin typeface="+mn-lt"/>
              </a:defRPr>
            </a:lvl2pPr>
            <a:lvl3pPr>
              <a:defRPr sz="22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12;p2">
            <a:extLst>
              <a:ext uri="{FF2B5EF4-FFF2-40B4-BE49-F238E27FC236}">
                <a16:creationId xmlns:a16="http://schemas.microsoft.com/office/drawing/2014/main" id="{79D5018C-57F8-566E-E5B7-23C181761D73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6C623-DE27-4A99-8424-AFD36C142E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F15494-8374-819B-5661-D082F4F305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auto">
          <a:xfrm>
            <a:off x="2706688" y="4760913"/>
            <a:ext cx="3538537" cy="1984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000000"/>
              </a:buClr>
              <a:buFont typeface="Arial" pitchFamily="34" charset="0"/>
              <a:buNone/>
              <a:defRPr sz="900" b="1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Department of CSE (AI &amp; ML) - Review 0- Abstract Selection</a:t>
            </a:r>
          </a:p>
        </p:txBody>
      </p:sp>
    </p:spTree>
    <p:extLst>
      <p:ext uri="{BB962C8B-B14F-4D97-AF65-F5344CB8AC3E}">
        <p14:creationId xmlns:p14="http://schemas.microsoft.com/office/powerpoint/2010/main" val="112121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14">
            <a:extLst>
              <a:ext uri="{FF2B5EF4-FFF2-40B4-BE49-F238E27FC236}">
                <a16:creationId xmlns:a16="http://schemas.microsoft.com/office/drawing/2014/main" id="{B18B853F-F672-3E48-0F3B-B29439B02BF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17;p14">
            <a:extLst>
              <a:ext uri="{FF2B5EF4-FFF2-40B4-BE49-F238E27FC236}">
                <a16:creationId xmlns:a16="http://schemas.microsoft.com/office/drawing/2014/main" id="{ADEC6A7E-0A6B-A732-5FE7-9C8C4567CE3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18;p14">
            <a:extLst>
              <a:ext uri="{FF2B5EF4-FFF2-40B4-BE49-F238E27FC236}">
                <a16:creationId xmlns:a16="http://schemas.microsoft.com/office/drawing/2014/main" id="{F505C946-4A9C-62FD-BDE0-9E709F611A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</p:spPr>
        <p:txBody>
          <a:bodyPr spcFirstLastPara="1" tIns="45700" bIns="4570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17C7928-86E5-42C2-A53C-D80CB071AD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4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2706687" y="4760912"/>
            <a:ext cx="35385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165100" y="914400"/>
            <a:ext cx="8763000" cy="34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2706687" y="4760912"/>
            <a:ext cx="35385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438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2706687" y="4760912"/>
            <a:ext cx="35385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2706687" y="4760912"/>
            <a:ext cx="35385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54;p13">
            <a:extLst>
              <a:ext uri="{FF2B5EF4-FFF2-40B4-BE49-F238E27FC236}">
                <a16:creationId xmlns:a16="http://schemas.microsoft.com/office/drawing/2014/main" id="{BD528D64-C7FC-9868-A69A-72624342A15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9525" y="738188"/>
            <a:ext cx="9144000" cy="1712912"/>
          </a:xfrm>
        </p:spPr>
        <p:txBody>
          <a:bodyPr anchor="b">
            <a:normAutofit fontScale="90000"/>
          </a:bodyPr>
          <a:lstStyle>
            <a:lvl1pPr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tabLst>
                <a:tab pos="4127500" algn="l"/>
              </a:tabLs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Gokaraju Rangaraju Institute of Engineering and Technology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(Autonomous)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Department of Data Science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000" dirty="0">
                <a:solidFill>
                  <a:schemeClr val="dk1"/>
                </a:solidFill>
              </a:rPr>
              <a:t>ini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Work</a:t>
            </a:r>
            <a:b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(CSE(DS))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Google Shape;55;p13">
            <a:extLst>
              <a:ext uri="{FF2B5EF4-FFF2-40B4-BE49-F238E27FC236}">
                <a16:creationId xmlns:a16="http://schemas.microsoft.com/office/drawing/2014/main" id="{10D8D452-EC88-2A25-A8BE-367FADA2D58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525" y="2571750"/>
            <a:ext cx="9144000" cy="523875"/>
          </a:xfrm>
        </p:spPr>
        <p:txBody>
          <a:bodyPr/>
          <a:lstStyle/>
          <a:p>
            <a:pPr marL="0" indent="0" algn="ctr" eaLnBrk="1" hangingPunct="1">
              <a:lnSpc>
                <a:spcPct val="115000"/>
              </a:lnSpc>
              <a:buClr>
                <a:srgbClr val="595959"/>
              </a:buClr>
              <a:buSzPts val="1800"/>
              <a:defRPr/>
            </a:pPr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Review3: Module Presentation</a:t>
            </a:r>
          </a:p>
          <a:p>
            <a:pPr marL="0" indent="0" algn="ctr" eaLnBrk="1" hangingPunct="1">
              <a:lnSpc>
                <a:spcPct val="115000"/>
              </a:lnSpc>
              <a:buClr>
                <a:srgbClr val="595959"/>
              </a:buClr>
              <a:buSzPts val="1800"/>
              <a:defRPr/>
            </a:pP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5" descr="Untitled-1 copy">
            <a:extLst>
              <a:ext uri="{FF2B5EF4-FFF2-40B4-BE49-F238E27FC236}">
                <a16:creationId xmlns:a16="http://schemas.microsoft.com/office/drawing/2014/main" id="{C7106773-7BED-7398-7571-2C608CA9B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62" t="23018" r="26994" b="21857"/>
          <a:stretch>
            <a:fillRect/>
          </a:stretch>
        </p:blipFill>
        <p:spPr bwMode="auto">
          <a:xfrm>
            <a:off x="4271963" y="114300"/>
            <a:ext cx="60483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Google Shape;30;p1">
            <a:extLst>
              <a:ext uri="{FF2B5EF4-FFF2-40B4-BE49-F238E27FC236}">
                <a16:creationId xmlns:a16="http://schemas.microsoft.com/office/drawing/2014/main" id="{745F6784-02FA-4358-2F68-4C27336EF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341942"/>
            <a:ext cx="4260850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0">
              <a:buClr>
                <a:schemeClr val="dk1"/>
              </a:buClr>
              <a:buSzPts val="1600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lang="en-US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600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Mr. Md. Shoaib Nadeem (2324167A0)</a:t>
            </a:r>
            <a:endParaRPr lang="en-US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600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Mr. Vishal Abhishek (23241A6774)</a:t>
            </a:r>
            <a:endParaRPr lang="en-US" sz="16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600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Mr. Shiva Kumar (23241A6797)</a:t>
            </a:r>
            <a:endParaRPr lang="en-US" sz="1600" dirty="0">
              <a:solidFill>
                <a:schemeClr val="dk1"/>
              </a:solidFill>
            </a:endParaRPr>
          </a:p>
        </p:txBody>
      </p:sp>
      <p:sp>
        <p:nvSpPr>
          <p:cNvPr id="5126" name="Google Shape;31;p1">
            <a:extLst>
              <a:ext uri="{FF2B5EF4-FFF2-40B4-BE49-F238E27FC236}">
                <a16:creationId xmlns:a16="http://schemas.microsoft.com/office/drawing/2014/main" id="{05CFAC28-EFDD-8166-1A6E-E0E36983D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388" y="3500438"/>
            <a:ext cx="3294062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0">
              <a:lnSpc>
                <a:spcPct val="90000"/>
              </a:lnSpc>
              <a:buClr>
                <a:schemeClr val="dk1"/>
              </a:buClr>
              <a:buSzPts val="1600"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endParaRPr lang="en-US" sz="1600" dirty="0">
              <a:solidFill>
                <a:schemeClr val="dk1"/>
              </a:solidFill>
            </a:endParaRPr>
          </a:p>
          <a:p>
            <a:pPr lvl="0">
              <a:lnSpc>
                <a:spcPct val="90000"/>
              </a:lnSpc>
              <a:buClr>
                <a:srgbClr val="006600"/>
              </a:buClr>
              <a:buSzPts val="1600"/>
            </a:pPr>
            <a:r>
              <a:rPr lang="en-US" sz="1600" b="1" dirty="0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:Dr. M. Kiran Kumar</a:t>
            </a:r>
            <a:endParaRPr lang="en-US" sz="1600" dirty="0">
              <a:solidFill>
                <a:schemeClr val="dk1"/>
              </a:solidFill>
            </a:endParaRPr>
          </a:p>
          <a:p>
            <a:pPr lvl="0">
              <a:lnSpc>
                <a:spcPct val="90000"/>
              </a:lnSpc>
              <a:buClr>
                <a:srgbClr val="006600"/>
              </a:buClr>
              <a:buSzPts val="1600"/>
            </a:pPr>
            <a:r>
              <a:rPr lang="en-US" sz="1600" b="1" dirty="0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 :Associate Professor</a:t>
            </a:r>
            <a:endParaRPr lang="en-US" sz="1600" dirty="0">
              <a:solidFill>
                <a:schemeClr val="dk1"/>
              </a:solidFill>
            </a:endParaRPr>
          </a:p>
          <a:p>
            <a:pPr lvl="0">
              <a:lnSpc>
                <a:spcPct val="90000"/>
              </a:lnSpc>
              <a:buClr>
                <a:srgbClr val="006600"/>
              </a:buClr>
              <a:buSzPts val="1600"/>
            </a:pPr>
            <a:r>
              <a:rPr lang="en-US" sz="1600" b="1" dirty="0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: DS</a:t>
            </a:r>
            <a:endParaRPr lang="en-US"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90000"/>
              </a:lnSpc>
              <a:buClr>
                <a:srgbClr val="006600"/>
              </a:buClr>
              <a:buSzPts val="1600"/>
              <a:buFont typeface="Times New Roman" panose="02020603050405020304" pitchFamily="18" charset="0"/>
              <a:buNone/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Google Shape;29;p1">
            <a:extLst>
              <a:ext uri="{FF2B5EF4-FFF2-40B4-BE49-F238E27FC236}">
                <a16:creationId xmlns:a16="http://schemas.microsoft.com/office/drawing/2014/main" id="{D8A271FA-1CEF-E0F0-AEAD-D66FF3C78E44}"/>
              </a:ext>
            </a:extLst>
          </p:cNvPr>
          <p:cNvSpPr txBox="1">
            <a:spLocks/>
          </p:cNvSpPr>
          <p:nvPr/>
        </p:nvSpPr>
        <p:spPr>
          <a:xfrm>
            <a:off x="82550" y="2976563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15000"/>
              </a:lnSpc>
              <a:buSzPts val="2200"/>
              <a:defRPr/>
            </a:pPr>
            <a:r>
              <a:rPr lang="en-US" sz="1800" b="1" dirty="0">
                <a:solidFill>
                  <a:srgbClr val="0D5B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 -  3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SzPts val="2200"/>
              <a:defRPr/>
            </a:pPr>
            <a:endParaRPr lang="en-US" sz="2200" b="1" dirty="0">
              <a:solidFill>
                <a:srgbClr val="0D5B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defRPr/>
            </a:pPr>
            <a:endParaRPr lang="en-US" sz="2200" b="1" dirty="0">
              <a:solidFill>
                <a:srgbClr val="0D5B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>
            <a:spLocks noGrp="1"/>
          </p:cNvSpPr>
          <p:nvPr>
            <p:ph type="title"/>
          </p:nvPr>
        </p:nvSpPr>
        <p:spPr>
          <a:xfrm>
            <a:off x="0" y="2095500"/>
            <a:ext cx="9144000" cy="84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 UPI Transaction based Fraud Detection System using Generative AI and Machine Learning Techniques</a:t>
            </a:r>
            <a:endParaRPr dirty="0"/>
          </a:p>
        </p:txBody>
      </p:sp>
      <p:sp>
        <p:nvSpPr>
          <p:cNvPr id="38" name="Google Shape;38;p2"/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dirty="0"/>
              <a:t>I</a:t>
            </a:r>
            <a:r>
              <a:rPr lang="en-IN" dirty="0" err="1"/>
              <a:t>ntroduction</a:t>
            </a:r>
            <a:r>
              <a:rPr lang="en-IN" dirty="0"/>
              <a:t> :</a:t>
            </a:r>
            <a:endParaRPr dirty="0"/>
          </a:p>
        </p:txBody>
      </p:sp>
      <p:sp>
        <p:nvSpPr>
          <p:cNvPr id="44" name="Google Shape;44;p3"/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851B6-A14E-B68B-A668-BA37C127B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752" y="405097"/>
            <a:ext cx="8953010" cy="487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intelligent fraud detection system designed for digital payment platforms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ddresses the challenge of highly imbalanced fraud data using CGAN-based augmentation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Conditional GAN generates realistic synthetic fraud samples based on transaction behavior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1700" dirty="0" err="1">
                <a:latin typeface="+mj-lt"/>
              </a:rPr>
              <a:t>XGBoost</a:t>
            </a:r>
            <a:r>
              <a:rPr lang="en-US" sz="1700" dirty="0">
                <a:latin typeface="+mj-lt"/>
              </a:rPr>
              <a:t> classifier is trained with class weighting to effectively detect fraudulent transactions while minimizing false negatives.</a:t>
            </a:r>
            <a:r>
              <a:rPr lang="en-US" altLang="en-US" sz="17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NGBoost</a:t>
            </a:r>
            <a:r>
              <a:rPr lang="en-US" sz="1800" dirty="0">
                <a:latin typeface="+mj-lt"/>
              </a:rPr>
              <a:t> is added as a secondary probabilistic model to estimate fraud risk (probability and uncertainty), enabling risk-aware decisions alongside </a:t>
            </a:r>
            <a:r>
              <a:rPr lang="en-US" sz="1800" dirty="0" err="1">
                <a:latin typeface="+mj-lt"/>
              </a:rPr>
              <a:t>XGBoost’s</a:t>
            </a:r>
            <a:r>
              <a:rPr lang="en-US" sz="1800" dirty="0">
                <a:latin typeface="+mj-lt"/>
              </a:rPr>
              <a:t> classification</a:t>
            </a:r>
            <a:r>
              <a:rPr lang="en-US" sz="1800" dirty="0"/>
              <a:t>.</a:t>
            </a: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>
                <a:solidFill>
                  <a:schemeClr val="tx1"/>
                </a:solidFill>
                <a:latin typeface="Arial" panose="020B0604020202020204" pitchFamily="34" charset="0"/>
              </a:rPr>
              <a:t> Provides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SHAP-based explainability  for transparent, feature-level insights in decision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making process.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F8275235-909D-21EF-EEDB-FD731B9F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3A381506-D1D7-DE17-509A-6CCF332F463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dirty="0"/>
              <a:t>C</a:t>
            </a:r>
            <a:r>
              <a:rPr lang="en-IN" dirty="0"/>
              <a:t>GAN Architecture: (Cont..)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53DCE9E9-7901-D96C-EDA0-BCFC61E92778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9599CE-0E00-B6E6-55BA-C350708C5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013"/>
            <a:ext cx="9144000" cy="3631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AB9B87-45EB-4A87-2D97-8CA88FC25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48757"/>
            <a:ext cx="1498600" cy="120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3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A0C1304B-E03C-8903-D002-0706EEED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2589EB08-967C-C56D-0967-33712A36F7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0841F032-491B-A16B-BD40-8CC55E4BBE7E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FA2DB6E5-5B84-C64C-AD8C-83B6D5466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238" y="482600"/>
            <a:ext cx="9021762" cy="466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1. </a:t>
            </a:r>
            <a:r>
              <a:rPr lang="en-US" sz="1900" b="1" i="1" dirty="0"/>
              <a:t>Improved VAE-GAN for Credit Card Fraud Detection</a:t>
            </a:r>
            <a:r>
              <a:rPr lang="en-US" sz="1900" b="1" dirty="0"/>
              <a:t> (IEEE Access, 2023)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Addresses </a:t>
            </a:r>
            <a:r>
              <a:rPr lang="en-US" sz="1900" b="1" dirty="0"/>
              <a:t>severe class imbalance</a:t>
            </a:r>
            <a:r>
              <a:rPr lang="en-US" sz="1900" dirty="0"/>
              <a:t>, a major challenge in fraud detection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Demonstrates that </a:t>
            </a:r>
            <a:r>
              <a:rPr lang="en-US" sz="1900" b="1" dirty="0"/>
              <a:t>generative models improve fraud recall</a:t>
            </a:r>
            <a:r>
              <a:rPr lang="en-US" sz="1900" dirty="0"/>
              <a:t>, not just overall accuracy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Validates the effectiveness of </a:t>
            </a:r>
            <a:r>
              <a:rPr lang="en-US" sz="1900" b="1" dirty="0"/>
              <a:t>synthetic fraud data generation</a:t>
            </a:r>
            <a:r>
              <a:rPr lang="en-US" sz="1900" dirty="0"/>
              <a:t> for minority classes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Relation to our project:</a:t>
            </a:r>
            <a:endParaRPr lang="en-US" sz="1900" dirty="0"/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Forms the foundation for using </a:t>
            </a:r>
            <a:r>
              <a:rPr lang="en-US" sz="1900" b="1" dirty="0"/>
              <a:t>generative models to balance UPI transaction data</a:t>
            </a:r>
            <a:endParaRPr lang="en-US" sz="1900" dirty="0"/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Directly supports our choice of </a:t>
            </a:r>
            <a:r>
              <a:rPr lang="en-US" sz="1900" b="1" dirty="0"/>
              <a:t>CGAN-based synthetic fraud data</a:t>
            </a:r>
            <a:r>
              <a:rPr lang="en-US" sz="2000" b="1" dirty="0"/>
              <a:t> augmentation</a:t>
            </a:r>
            <a:endParaRPr lang="en-US" sz="2000" dirty="0"/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8992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64F652A1-EFAD-6564-CFD7-64EA1E9F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D13DBF06-6FDE-02A4-3D0B-42984382986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3797EFC8-2722-D79A-F37D-D738566F4A1A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EAA46100-DA87-D175-7AC0-F4DD32153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238" y="482600"/>
            <a:ext cx="9021762" cy="466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2. </a:t>
            </a:r>
            <a:r>
              <a:rPr lang="en-IN" sz="1600" b="1" i="1" dirty="0"/>
              <a:t>Using Generative Adversarial Networks for Improving Classification Effectiveness in Credit Card Fraud Detection</a:t>
            </a:r>
            <a:r>
              <a:rPr lang="en-IN" sz="1600" b="1" dirty="0"/>
              <a:t> (2023) Author:</a:t>
            </a:r>
            <a:r>
              <a:rPr lang="en-IN" sz="1600" dirty="0"/>
              <a:t> Umberto Fiore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Uses GAN-based synthetic fraud data to handle class imbalance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Improves fraud recall and F1-score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Relation to our project: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 Motivates generative data augmentation for balancing rare fraud samples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3. </a:t>
            </a:r>
            <a:r>
              <a:rPr lang="en-IN" sz="1600" b="1" i="1" dirty="0"/>
              <a:t>Credit Card Fraud Detection Using Conditional Generative Adversarial Networks</a:t>
            </a:r>
            <a:r>
              <a:rPr lang="en-IN" sz="1600" b="1" dirty="0"/>
              <a:t> (2023)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Authors:</a:t>
            </a:r>
            <a:r>
              <a:rPr lang="en-IN" sz="1600" dirty="0"/>
              <a:t> </a:t>
            </a:r>
            <a:r>
              <a:rPr lang="en-IN" sz="1600" dirty="0" err="1"/>
              <a:t>Shichao</a:t>
            </a:r>
            <a:r>
              <a:rPr lang="en-IN" sz="1600" dirty="0"/>
              <a:t> Li, Saleh B. </a:t>
            </a:r>
            <a:r>
              <a:rPr lang="en-IN" sz="1600" dirty="0" err="1"/>
              <a:t>Hulayyil</a:t>
            </a:r>
            <a:r>
              <a:rPr lang="en-IN" sz="1600" dirty="0"/>
              <a:t>, Nitesh Saxena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Uses CGAN to generate fraud samples conditioned on transaction attributes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Outperforms traditional GAN and SMOTE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Relation to our project:</a:t>
            </a:r>
            <a:r>
              <a:rPr lang="en-IN" sz="1600" dirty="0"/>
              <a:t> Direct basis for using </a:t>
            </a:r>
            <a:r>
              <a:rPr lang="en-IN" sz="1600" b="1" dirty="0"/>
              <a:t>CGAN-based data balancing</a:t>
            </a:r>
            <a:r>
              <a:rPr lang="en-IN" sz="1600" dirty="0"/>
              <a:t> in UPI fraud detection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53764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559D2FC1-73A7-4231-0376-9FDD7908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BA711B1D-0C5D-4E73-D8F3-0B83960FC0D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0FA3ECF9-CA63-9047-3D1E-B8D833E01AE9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4FF4E18C-E17B-44D9-FB52-8FCF9F8B1F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119" y="649287"/>
            <a:ext cx="9021762" cy="466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700" b="1" dirty="0"/>
              <a:t>4. </a:t>
            </a:r>
            <a:r>
              <a:rPr lang="en-US" sz="1700" b="1" i="1" dirty="0"/>
              <a:t>Semi-Supervised Generative Adversarial Networks for Credit Card Fraud Detection</a:t>
            </a:r>
            <a:r>
              <a:rPr lang="en-US" sz="1700" b="1" dirty="0"/>
              <a:t> (2025)</a:t>
            </a:r>
          </a:p>
          <a:p>
            <a:pPr algn="just">
              <a:lnSpc>
                <a:spcPct val="150000"/>
              </a:lnSpc>
            </a:pPr>
            <a:r>
              <a:rPr lang="en-US" sz="1700" b="1" dirty="0"/>
              <a:t>Author:</a:t>
            </a:r>
            <a:r>
              <a:rPr lang="en-US" sz="1700" dirty="0"/>
              <a:t> Dominik </a:t>
            </a:r>
            <a:r>
              <a:rPr lang="en-US" sz="1700" dirty="0" err="1"/>
              <a:t>Hirnschall</a:t>
            </a:r>
            <a:endParaRPr lang="en-US" sz="1700" dirty="0"/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Applies semi-supervised GAN to limited fraud labels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Enhances minority-class learning</a:t>
            </a:r>
          </a:p>
          <a:p>
            <a:pPr algn="just">
              <a:lnSpc>
                <a:spcPct val="150000"/>
              </a:lnSpc>
            </a:pPr>
            <a:r>
              <a:rPr lang="en-US" sz="1700" b="1" dirty="0"/>
              <a:t>Relation to our project:</a:t>
            </a:r>
            <a:r>
              <a:rPr lang="en-US" sz="1700" dirty="0"/>
              <a:t> Supports CGAN use when real fraud data is scarce</a:t>
            </a:r>
          </a:p>
          <a:p>
            <a:pPr algn="just">
              <a:lnSpc>
                <a:spcPct val="150000"/>
              </a:lnSpc>
            </a:pPr>
            <a:r>
              <a:rPr lang="en-IN" sz="1700" b="1" dirty="0"/>
              <a:t>5. </a:t>
            </a:r>
            <a:r>
              <a:rPr lang="en-IN" sz="1700" b="1" i="1" dirty="0"/>
              <a:t>WDAE-GAN: Generative Adversarial Network for Financial Fraud Detection</a:t>
            </a:r>
            <a:r>
              <a:rPr lang="en-IN" sz="1700" b="1" dirty="0"/>
              <a:t> (2025)</a:t>
            </a:r>
          </a:p>
          <a:p>
            <a:pPr algn="just">
              <a:lnSpc>
                <a:spcPct val="150000"/>
              </a:lnSpc>
            </a:pPr>
            <a:r>
              <a:rPr lang="en-IN" sz="1700" b="1" dirty="0"/>
              <a:t>Authors:</a:t>
            </a:r>
            <a:r>
              <a:rPr lang="en-IN" sz="1700" dirty="0"/>
              <a:t> Mohammad Rezvani Nejad, Alireza Khosravi, Saeid </a:t>
            </a:r>
            <a:r>
              <a:rPr lang="en-IN" sz="1700" dirty="0" err="1"/>
              <a:t>Nahavandi</a:t>
            </a:r>
            <a:endParaRPr lang="en-IN" sz="1700" dirty="0"/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Combines GAN with denoising autoencoders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Improves quality of synthetic fraud data</a:t>
            </a:r>
          </a:p>
          <a:p>
            <a:pPr marL="228600" indent="0" algn="just">
              <a:lnSpc>
                <a:spcPct val="150000"/>
              </a:lnSpc>
            </a:pPr>
            <a:r>
              <a:rPr lang="en-IN" sz="1700" b="1" dirty="0"/>
              <a:t>Relation to our project:</a:t>
            </a:r>
            <a:r>
              <a:rPr lang="en-IN" sz="1700" dirty="0"/>
              <a:t> Inspires realistic CGAN-based fraud sample generation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9247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AA4B3C77-677D-788B-1929-1022461C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3C6878A6-542A-FC7E-B71E-97CBC92D6DC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B54B6557-CBE2-4F6A-48D3-93F65CA453A7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56A20A05-0B31-872F-7B9A-BBD744FD8F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238" y="563262"/>
            <a:ext cx="9021762" cy="449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700" b="1" dirty="0"/>
              <a:t>6. </a:t>
            </a:r>
            <a:r>
              <a:rPr lang="en-US" sz="1700" b="1" i="1" dirty="0"/>
              <a:t>Gated Attention-Based Generative Adversarial Networks for Financial Fraud Detection</a:t>
            </a:r>
            <a:r>
              <a:rPr lang="en-US" sz="1700" b="1" dirty="0"/>
              <a:t> (2024)</a:t>
            </a:r>
          </a:p>
          <a:p>
            <a:pPr algn="just">
              <a:lnSpc>
                <a:spcPct val="150000"/>
              </a:lnSpc>
            </a:pPr>
            <a:r>
              <a:rPr lang="en-US" sz="1700" b="1" dirty="0"/>
              <a:t>Authors:</a:t>
            </a:r>
            <a:r>
              <a:rPr lang="en-US" sz="1700" dirty="0"/>
              <a:t> Jing Ge, </a:t>
            </a:r>
            <a:r>
              <a:rPr lang="en-US" sz="1700" dirty="0" err="1"/>
              <a:t>Yiqiang</a:t>
            </a:r>
            <a:r>
              <a:rPr lang="en-US" sz="1700" dirty="0"/>
              <a:t> Chen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Integrates attention mechanisms into GAN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Generates higher-quality fraud samples</a:t>
            </a:r>
          </a:p>
          <a:p>
            <a:pPr algn="just">
              <a:lnSpc>
                <a:spcPct val="150000"/>
              </a:lnSpc>
            </a:pPr>
            <a:r>
              <a:rPr lang="en-US" sz="1700" b="1" dirty="0"/>
              <a:t>Relation to our project:</a:t>
            </a:r>
            <a:r>
              <a:rPr lang="en-US" sz="1700" dirty="0"/>
              <a:t> Supports advanced CGAN architectures for better balancing</a:t>
            </a:r>
          </a:p>
          <a:p>
            <a:pPr algn="just">
              <a:lnSpc>
                <a:spcPct val="150000"/>
              </a:lnSpc>
            </a:pPr>
            <a:r>
              <a:rPr lang="en-IN" sz="1700" b="1" dirty="0"/>
              <a:t>7. </a:t>
            </a:r>
            <a:r>
              <a:rPr lang="en-IN" sz="1700" b="1" i="1" dirty="0" err="1"/>
              <a:t>XGBoost</a:t>
            </a:r>
            <a:r>
              <a:rPr lang="en-IN" sz="1700" b="1" i="1" dirty="0"/>
              <a:t>: A Scalable Tree Boosting System</a:t>
            </a:r>
            <a:r>
              <a:rPr lang="en-IN" sz="1700" b="1" dirty="0"/>
              <a:t> (2016)</a:t>
            </a:r>
          </a:p>
          <a:p>
            <a:pPr algn="just">
              <a:lnSpc>
                <a:spcPct val="150000"/>
              </a:lnSpc>
            </a:pPr>
            <a:r>
              <a:rPr lang="en-IN" sz="1700" b="1" dirty="0"/>
              <a:t>Authors:</a:t>
            </a:r>
            <a:r>
              <a:rPr lang="en-IN" sz="1700" dirty="0"/>
              <a:t> Tianqi Chen, Carlos </a:t>
            </a:r>
            <a:r>
              <a:rPr lang="en-IN" sz="1700" dirty="0" err="1"/>
              <a:t>Guestrin</a:t>
            </a:r>
            <a:endParaRPr lang="en-IN" sz="1700" dirty="0"/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Introduces </a:t>
            </a:r>
            <a:r>
              <a:rPr lang="en-IN" sz="1700" dirty="0" err="1"/>
              <a:t>XGBoost</a:t>
            </a:r>
            <a:r>
              <a:rPr lang="en-IN" sz="1700" dirty="0"/>
              <a:t> with scalability and regularization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Handles non-linear transactional data</a:t>
            </a:r>
          </a:p>
          <a:p>
            <a:pPr algn="just">
              <a:lnSpc>
                <a:spcPct val="150000"/>
              </a:lnSpc>
            </a:pPr>
            <a:r>
              <a:rPr lang="en-IN" sz="1700" b="1" dirty="0"/>
              <a:t>Relation to our project:</a:t>
            </a:r>
            <a:r>
              <a:rPr lang="en-IN" sz="1700" dirty="0"/>
              <a:t> Core classifier for accurate UPI fraud detection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7495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AA1A5420-E49E-87BE-9484-F74C53DA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0C6DA773-19FB-1EBD-CD7A-585384B58A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B023F3DE-5EE7-A668-18AE-A7A6DA24D93B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534D8032-F5AD-06E4-9072-F59D1E3C8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238" y="482600"/>
            <a:ext cx="9021762" cy="466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8. </a:t>
            </a:r>
            <a:r>
              <a:rPr lang="en-IN" sz="1800" b="1" i="1" dirty="0"/>
              <a:t>Scarff: A Scalable Framework for Fraud Detection with Imbalanced Data</a:t>
            </a:r>
            <a:r>
              <a:rPr lang="en-IN" sz="1800" b="1" dirty="0"/>
              <a:t> (2023)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Authors:</a:t>
            </a:r>
            <a:r>
              <a:rPr lang="en-IN" sz="1800" dirty="0"/>
              <a:t> Fabrizio </a:t>
            </a:r>
            <a:r>
              <a:rPr lang="en-IN" sz="1800" dirty="0" err="1"/>
              <a:t>Carcillo</a:t>
            </a:r>
            <a:r>
              <a:rPr lang="en-IN" sz="1800" dirty="0"/>
              <a:t>, Yann-Adrien Bontempi, Gianluca </a:t>
            </a:r>
            <a:r>
              <a:rPr lang="en-IN" sz="1800" dirty="0" err="1"/>
              <a:t>Snoeck</a:t>
            </a:r>
            <a:endParaRPr lang="en-IN" sz="1800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Evaluates ensemble models under extreme imbalance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Demonstrates effectiveness of boosting models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Relation to our project:</a:t>
            </a:r>
            <a:r>
              <a:rPr lang="en-IN" sz="1800" dirty="0"/>
              <a:t> Justifies CGAN + </a:t>
            </a:r>
            <a:r>
              <a:rPr lang="en-IN" sz="1800" dirty="0" err="1"/>
              <a:t>XGBoost</a:t>
            </a:r>
            <a:r>
              <a:rPr lang="en-IN" sz="1800" dirty="0"/>
              <a:t> combination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9. </a:t>
            </a:r>
            <a:r>
              <a:rPr lang="en-IN" sz="1800" b="1" i="1" dirty="0"/>
              <a:t>Adversarial Drift Detection in Credit Card Fraud</a:t>
            </a:r>
            <a:r>
              <a:rPr lang="en-IN" sz="1800" b="1" dirty="0"/>
              <a:t> (2022)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Authors:</a:t>
            </a:r>
            <a:r>
              <a:rPr lang="en-IN" sz="1800" dirty="0"/>
              <a:t> Andrea Dal </a:t>
            </a:r>
            <a:r>
              <a:rPr lang="en-IN" sz="1800" dirty="0" err="1"/>
              <a:t>Pozzolo</a:t>
            </a:r>
            <a:r>
              <a:rPr lang="en-IN" sz="1800" dirty="0"/>
              <a:t>, Gianluca Bontempi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Addresses concept drift in fraud detection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Uses ensemble learning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Relation to our project:</a:t>
            </a:r>
            <a:r>
              <a:rPr lang="en-IN" sz="1800" dirty="0"/>
              <a:t> Highlights need for robust fraud models</a:t>
            </a:r>
          </a:p>
          <a:p>
            <a:pPr algn="just"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0007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7A0F20ED-921D-5B6D-B65F-043C34C9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B8AAF705-4D24-F872-FA9E-CD74D0E4C0A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A24BF0AA-E574-4121-ECDF-F276A60943F1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A14FA69A-E225-C6CB-996D-2CF914B7E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238" y="482600"/>
            <a:ext cx="9021762" cy="466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10. </a:t>
            </a:r>
            <a:r>
              <a:rPr lang="en-IN" sz="1800" b="1" i="1" dirty="0" err="1"/>
              <a:t>NGBoost</a:t>
            </a:r>
            <a:r>
              <a:rPr lang="en-IN" sz="1800" b="1" i="1" dirty="0"/>
              <a:t>: Natural Gradient Boosting for Probabilistic Prediction</a:t>
            </a:r>
            <a:r>
              <a:rPr lang="en-IN" sz="1800" b="1" dirty="0"/>
              <a:t> (2020)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Authors:</a:t>
            </a:r>
            <a:r>
              <a:rPr lang="en-IN" sz="1800" dirty="0"/>
              <a:t> Tony Duan, Alex </a:t>
            </a:r>
            <a:r>
              <a:rPr lang="en-IN" sz="1800" dirty="0" err="1"/>
              <a:t>Gamarnik</a:t>
            </a:r>
            <a:r>
              <a:rPr lang="en-IN" sz="1800" dirty="0"/>
              <a:t>, Vladimir Li, Alexander V. </a:t>
            </a:r>
            <a:r>
              <a:rPr lang="en-IN" sz="1800" dirty="0" err="1"/>
              <a:t>Rakhlin</a:t>
            </a:r>
            <a:endParaRPr lang="en-IN" sz="1800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Provides probabilistic prediction with uncertainty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Enables risk-aware decisions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Relation to our project:</a:t>
            </a:r>
            <a:r>
              <a:rPr lang="en-IN" sz="1800" dirty="0"/>
              <a:t> Supports fraud risk estimation using </a:t>
            </a:r>
            <a:r>
              <a:rPr lang="en-IN" sz="1800" dirty="0" err="1"/>
              <a:t>NGBoost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11. </a:t>
            </a:r>
            <a:r>
              <a:rPr lang="en-IN" sz="1800" b="1" i="1" dirty="0"/>
              <a:t>Probabilistic Fraud Detection Using </a:t>
            </a:r>
            <a:r>
              <a:rPr lang="en-IN" sz="1800" b="1" i="1" dirty="0" err="1"/>
              <a:t>NGBoost</a:t>
            </a:r>
            <a:r>
              <a:rPr lang="en-IN" sz="1800" b="1" dirty="0"/>
              <a:t> (2023)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Authors:</a:t>
            </a:r>
            <a:r>
              <a:rPr lang="en-IN" sz="1800" dirty="0"/>
              <a:t> Yifan Zhao, Jun Wang, Hui Liu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Applies </a:t>
            </a:r>
            <a:r>
              <a:rPr lang="en-IN" sz="1800" dirty="0" err="1"/>
              <a:t>NGBoost</a:t>
            </a:r>
            <a:r>
              <a:rPr lang="en-IN" sz="1800" dirty="0"/>
              <a:t> to imbalanced fraud datasets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Improves probability calibration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Relation to our project:</a:t>
            </a:r>
            <a:r>
              <a:rPr lang="en-IN" sz="1800" dirty="0"/>
              <a:t> </a:t>
            </a:r>
            <a:r>
              <a:rPr lang="en-IN" sz="1800" dirty="0" err="1"/>
              <a:t>NGBoost</a:t>
            </a:r>
            <a:r>
              <a:rPr lang="en-IN" sz="1800" dirty="0"/>
              <a:t> as comparison or secondary model</a:t>
            </a:r>
          </a:p>
          <a:p>
            <a:pPr algn="just"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48767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45BB8BB6-6019-4B51-FE6B-A17D2F34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4934C9BA-3BBB-6E46-CA93-C07FA80CD1F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A30F7FB7-442E-DECE-E2F8-DC6B2AD29390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21476CF5-F5A6-5A52-35FB-A2C73CD56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238" y="482600"/>
            <a:ext cx="9021762" cy="466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/>
              <a:t>12. </a:t>
            </a:r>
            <a:r>
              <a:rPr lang="en-IN" sz="1800" b="1" i="1" dirty="0"/>
              <a:t>SMOTE: Synthetic Minority Over-sampling Technique</a:t>
            </a:r>
            <a:r>
              <a:rPr lang="en-IN" sz="1800" b="1" dirty="0"/>
              <a:t> (2002)</a:t>
            </a:r>
          </a:p>
          <a:p>
            <a:pPr algn="just">
              <a:lnSpc>
                <a:spcPct val="150000"/>
              </a:lnSpc>
            </a:pPr>
            <a:r>
              <a:rPr lang="en-IN" sz="1800" b="1" dirty="0"/>
              <a:t>Authors:</a:t>
            </a:r>
            <a:r>
              <a:rPr lang="en-IN" sz="1800" dirty="0"/>
              <a:t> Nitesh V. Chawla, Kevin W. Bowyer, Lawrence O. Hall, W. Philip </a:t>
            </a:r>
            <a:r>
              <a:rPr lang="en-IN" sz="1800" dirty="0" err="1"/>
              <a:t>Kegelmeyer</a:t>
            </a:r>
            <a:endParaRPr lang="en-IN" sz="1800" dirty="0"/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Introduces SMOTE oversampling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Baseline for imbalance handling</a:t>
            </a:r>
          </a:p>
          <a:p>
            <a:pPr algn="just">
              <a:lnSpc>
                <a:spcPct val="150000"/>
              </a:lnSpc>
            </a:pPr>
            <a:r>
              <a:rPr lang="en-IN" sz="1800" b="1" dirty="0"/>
              <a:t>Relation to our project:</a:t>
            </a:r>
            <a:r>
              <a:rPr lang="en-IN" sz="1800" dirty="0"/>
              <a:t> Used for baseline comparison with CGAN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13. </a:t>
            </a:r>
            <a:r>
              <a:rPr lang="en-US" sz="1800" b="1" i="1" dirty="0"/>
              <a:t>Learning from Imbalanced Data</a:t>
            </a:r>
            <a:r>
              <a:rPr lang="en-US" sz="1800" b="1" dirty="0"/>
              <a:t> (2009)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Authors:</a:t>
            </a:r>
            <a:r>
              <a:rPr lang="en-US" sz="1800" dirty="0"/>
              <a:t> </a:t>
            </a:r>
            <a:r>
              <a:rPr lang="en-US" sz="1800" dirty="0" err="1"/>
              <a:t>Haibo</a:t>
            </a:r>
            <a:r>
              <a:rPr lang="en-US" sz="1800" dirty="0"/>
              <a:t> He, Edwardo A. Garcia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Foundational study on imbalanced learning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Emphasizes recall over accuracy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Relation to our project:</a:t>
            </a:r>
            <a:r>
              <a:rPr lang="en-US" sz="1800" dirty="0"/>
              <a:t> Guides evaluation metrics</a:t>
            </a:r>
          </a:p>
          <a:p>
            <a:endParaRPr lang="en-IN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9011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C8FE62C2-75C8-F5CE-04B3-C27DBEBF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A6DACEF5-A41E-0DA8-96F2-5C41154977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Literature review: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B76704C1-6393-D724-94C4-49ADD0E80D9A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B6776DD0-2382-3E3D-27EF-25190DE0D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238" y="482600"/>
            <a:ext cx="9021762" cy="466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14. </a:t>
            </a:r>
            <a:r>
              <a:rPr lang="en-US" sz="1800" b="1" i="1" dirty="0"/>
              <a:t>Explainable AI-Based Fraud and Intrusion Detection in IoT Systems</a:t>
            </a:r>
            <a:r>
              <a:rPr lang="en-US" sz="1800" b="1" dirty="0"/>
              <a:t> (2025)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Authors:</a:t>
            </a:r>
            <a:r>
              <a:rPr lang="en-US" sz="1800" dirty="0"/>
              <a:t> S. Li, S. B. </a:t>
            </a:r>
            <a:r>
              <a:rPr lang="en-US" sz="1800" dirty="0" err="1"/>
              <a:t>Hulayyil</a:t>
            </a:r>
            <a:r>
              <a:rPr lang="en-US" sz="1800" dirty="0"/>
              <a:t>, N. Saxena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Integrates explainable AI in fraud detection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Improves trust and transparency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Relation to our project:</a:t>
            </a:r>
            <a:r>
              <a:rPr lang="en-US" sz="1800" dirty="0"/>
              <a:t> Motivates SHAP-based explainability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15. </a:t>
            </a:r>
            <a:r>
              <a:rPr lang="en-IN" sz="1800" b="1" i="1" dirty="0"/>
              <a:t>Explainable AI for Intrusion Detection Systems: SHAP Applicability on Multi-Layer Perceptron</a:t>
            </a:r>
            <a:r>
              <a:rPr lang="en-IN" sz="1800" b="1" dirty="0"/>
              <a:t> (2024)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Authors:</a:t>
            </a:r>
            <a:r>
              <a:rPr lang="en-IN" sz="1800" dirty="0"/>
              <a:t> D. Gaspar, P. Silva, C. Silva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Uses SHAP to explain ML predictions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Provides feature-level interpretability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Relation to our project:</a:t>
            </a:r>
            <a:r>
              <a:rPr lang="en-IN" sz="1800" dirty="0"/>
              <a:t> Justifies SHAP integration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25518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CD4B-16DD-4CF5-B784-5EF60CEA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135A-3329-819B-A44D-D08C315C8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buClr>
                <a:schemeClr val="dk1"/>
              </a:buClr>
              <a:defRPr/>
            </a:pPr>
            <a:r>
              <a:rPr lang="en-US" dirty="0">
                <a:solidFill>
                  <a:schemeClr val="dk1"/>
                </a:solidFill>
                <a:sym typeface="Arial"/>
              </a:rPr>
              <a:t>Literature Review </a:t>
            </a:r>
            <a:r>
              <a:rPr lang="en-US" dirty="0">
                <a:solidFill>
                  <a:schemeClr val="dk1"/>
                </a:solidFill>
              </a:rPr>
              <a:t>Summery</a:t>
            </a:r>
            <a:endParaRPr lang="en-US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433739D2-7EB2-97B1-8259-69615701584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64ACC18-24D7-4A32-8150-7B02F44DB486}" type="slidenum">
              <a:rPr lang="en-US" altLang="en-US" sz="1000" smtClean="0">
                <a:solidFill>
                  <a:srgbClr val="595959"/>
                </a:solidFill>
              </a:rPr>
              <a:pPr/>
              <a:t>13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7E8BE-F88E-3D22-B622-EA724EE12F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spcFirstLastPara="1">
            <a:normAutofit/>
          </a:bodyPr>
          <a:lstStyle/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/>
            </a:pPr>
            <a:endParaRPr lang="en-US" dirty="0">
              <a:solidFill>
                <a:schemeClr val="dk2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433FB1-40C5-F714-9442-1074153BF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33740"/>
              </p:ext>
            </p:extLst>
          </p:nvPr>
        </p:nvGraphicFramePr>
        <p:xfrm>
          <a:off x="215900" y="557848"/>
          <a:ext cx="8805862" cy="4535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1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Source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accent6"/>
                          </a:solidFill>
                        </a:rPr>
                        <a:t>Research Objective or Research Question</a:t>
                      </a:r>
                      <a:endParaRPr lang="en-US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Methodology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Key Findings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Relevance to Project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Techniques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Accuracy &amp; Performance Measures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Advantages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Disadvantages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/>
                        <a:t>[1] Improved VAE-GAN for Credit Card Fraud Detection (IEEE Access, 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Improve fraud detection performance on highly imbalanced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Variational Autoencoder combined with GAN for data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Synthetic fraud data improves classifier learning and fraud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Directly supports fraud data augmentation for imbalanced UPI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VAE-GAN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Higher recall, improved F1-score, Accuracy ≈ 85–90%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Handles severe class imbalance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GAN training is complex and time-consuming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6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/>
                        <a:t>[2]. Using GANs for Improving Classification Effectiveness in Credit Card Fraud Detection (2023) – Umberto Fiore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Balance fraud datasets using advanced sampling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Hybrid over-sampling and under-sampling with 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Better quality synthetic samples than traditional 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Useful for realistic fraud data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Hybrid GAN Sampling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Improved recall and F1-score, Accuracy ≈ 90–95%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Generates high-quality synthetic fraud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Computationally expensive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dirty="0"/>
                        <a:t>[3]. Credit Card Fraud Detection Using Conditional GANs (2023) – Li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Improve fraud detection using conditioned data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Conditional GAN conditioned on transaction attributes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CGAN outperforms traditional GAN and SMOTE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Forms the direct basis for using CGAN in UPI fraud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Conditional GAN (CGAN)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Improved recall and F1-score, Accuracy ≈ 82–84%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Generates behavior-specific fraud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More complex training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55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A1CC-A4ED-CC1C-6B4F-186D8D3AB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008E-9B52-6521-20E9-39E0B86A8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buClr>
                <a:schemeClr val="dk1"/>
              </a:buClr>
              <a:defRPr/>
            </a:pPr>
            <a:r>
              <a:rPr lang="en-US" dirty="0">
                <a:solidFill>
                  <a:schemeClr val="dk1"/>
                </a:solidFill>
                <a:sym typeface="Arial"/>
              </a:rPr>
              <a:t>Literature Review </a:t>
            </a:r>
            <a:r>
              <a:rPr lang="en-US" dirty="0">
                <a:solidFill>
                  <a:schemeClr val="dk1"/>
                </a:solidFill>
              </a:rPr>
              <a:t>Summery</a:t>
            </a:r>
            <a:endParaRPr lang="en-US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0028442C-5D38-EC18-3375-24E166C39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64ACC18-24D7-4A32-8150-7B02F44DB486}" type="slidenum">
              <a:rPr lang="en-US" altLang="en-US" sz="1000" smtClean="0">
                <a:solidFill>
                  <a:srgbClr val="595959"/>
                </a:solidFill>
              </a:rPr>
              <a:pPr/>
              <a:t>14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F6C8A-B4B5-A47B-24E9-9F30DCD38A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spcFirstLastPara="1">
            <a:normAutofit/>
          </a:bodyPr>
          <a:lstStyle/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/>
            </a:pPr>
            <a:endParaRPr lang="en-US" dirty="0">
              <a:solidFill>
                <a:schemeClr val="dk2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175155-34DF-EE28-549C-03F8AD44D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65097"/>
              </p:ext>
            </p:extLst>
          </p:nvPr>
        </p:nvGraphicFramePr>
        <p:xfrm>
          <a:off x="215900" y="557848"/>
          <a:ext cx="8805862" cy="4498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1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Source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accent6"/>
                          </a:solidFill>
                        </a:rPr>
                        <a:t>Research Objective or Research Question</a:t>
                      </a:r>
                      <a:endParaRPr lang="en-US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Methodology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Key Findings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Relevance to Project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Techniques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Accuracy &amp; Performance Measures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Advantages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Disadvantages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[4]. Semi-Supervised GAN for Credit Card Fraud Detection (2025)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Improve detection with limited labeled fraud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Semi-supervised GAN framework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Enhances minority-class learning with fewer labels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Supports CGAN use when real fraud data is scarce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Semi-Supervised 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Improved recall on imbalanced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Works well with limited labeled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Training complexity is high</a:t>
                      </a:r>
                      <a:endParaRPr 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6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[5]. WDAE-GAN for Financial Fraud Detection (2025)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Improve quality of synthetic fraud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GAN combined with Denoising Autoencoder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Produces cleaner and more realistic fraud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Inspires realistic CGAN-based fraud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WDAE-GAN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Improved fraud detection metrics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High-quality synthetic data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Complex hybrid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[6]. Gated Attention-Based GAN for Financial Fraud Detection (2024)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Generate higher-quality fraud samples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GAN with 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Attention improves sample quality and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Supports advanced CGAN designs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Attention-based 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Better recall and precision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Improved data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High computational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446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44E6-EE56-9484-8215-E727B938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A6EF-0D9C-0F8B-5A11-FAECD602B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buClr>
                <a:schemeClr val="dk1"/>
              </a:buClr>
              <a:defRPr/>
            </a:pPr>
            <a:r>
              <a:rPr lang="en-US" dirty="0">
                <a:solidFill>
                  <a:schemeClr val="dk1"/>
                </a:solidFill>
                <a:sym typeface="Arial"/>
              </a:rPr>
              <a:t>Literature Review </a:t>
            </a:r>
            <a:r>
              <a:rPr lang="en-US" dirty="0">
                <a:solidFill>
                  <a:schemeClr val="dk1"/>
                </a:solidFill>
              </a:rPr>
              <a:t>Summery</a:t>
            </a:r>
            <a:endParaRPr lang="en-US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6C34815D-C917-32FE-7B39-66A9985FB36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64ACC18-24D7-4A32-8150-7B02F44DB486}" type="slidenum">
              <a:rPr lang="en-US" altLang="en-US" sz="1000" smtClean="0">
                <a:solidFill>
                  <a:srgbClr val="595959"/>
                </a:solidFill>
              </a:rPr>
              <a:pPr/>
              <a:t>15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4C86A-B806-6D2D-9BBF-A134945020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spcFirstLastPara="1">
            <a:normAutofit/>
          </a:bodyPr>
          <a:lstStyle/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/>
            </a:pPr>
            <a:endParaRPr lang="en-US" dirty="0">
              <a:solidFill>
                <a:schemeClr val="dk2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165BF7-FF15-03CE-5B3E-77334D0C9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15039"/>
              </p:ext>
            </p:extLst>
          </p:nvPr>
        </p:nvGraphicFramePr>
        <p:xfrm>
          <a:off x="215900" y="557848"/>
          <a:ext cx="8805862" cy="4498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1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Source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accent6"/>
                          </a:solidFill>
                        </a:rPr>
                        <a:t>Research Objective or Research Question</a:t>
                      </a:r>
                      <a:endParaRPr lang="en-US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Methodology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Key Findings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Relevance to Project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Techniques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Accuracy &amp; Performance Measures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Advantages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Disadvantages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[7]. </a:t>
                      </a:r>
                      <a:r>
                        <a:rPr lang="en-US" sz="800" dirty="0" err="1"/>
                        <a:t>XGBoost</a:t>
                      </a:r>
                      <a:r>
                        <a:rPr lang="en-US" sz="800" dirty="0"/>
                        <a:t>: A Scalable Tree Boosting System (2016)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800" dirty="0"/>
                        <a:t>Efficient classification on large-</a:t>
                      </a:r>
                      <a:r>
                        <a:rPr lang="fr-FR" sz="800" dirty="0" err="1"/>
                        <a:t>scale</a:t>
                      </a:r>
                      <a:r>
                        <a:rPr lang="fr-FR" sz="800" dirty="0"/>
                        <a:t> data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Gradient Boosted Decision Trees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Strong performance on tabular financial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Core classifier for UPI fraud detection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XGBoost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High accuracy and fast 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Handles non-linear data well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Requires imbalance handling</a:t>
                      </a:r>
                      <a:endParaRPr 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6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[8]. Scarff: A Scalable Framework for Fraud Detection (2023)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Evaluate fraud detection under extreme imbalance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Ensemble and boosting models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Boosting performs well on imbalanced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Justifies CGAN + </a:t>
                      </a:r>
                      <a:r>
                        <a:rPr lang="en-IN" sz="800" dirty="0" err="1"/>
                        <a:t>XGBoost</a:t>
                      </a:r>
                      <a:r>
                        <a:rPr lang="en-IN" sz="800" dirty="0"/>
                        <a:t> combination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Boosting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Improved recall and robustness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Scalable framework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No generative augmentation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[9]. </a:t>
                      </a:r>
                      <a:r>
                        <a:rPr lang="en-IN" sz="800" dirty="0" err="1"/>
                        <a:t>NGBoost</a:t>
                      </a:r>
                      <a:r>
                        <a:rPr lang="en-IN" sz="800" dirty="0"/>
                        <a:t>: Natural Gradient Boosting (2020)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Provide probabilistic predictions with uncertainty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Natural 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Enables risk-aware fraud decisions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Used as comparison or secondary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NGBoost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Improved probability calibration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Uncertainty estimation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Computationally expensive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536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1F2D-CC63-5F4A-E133-1D7D49F9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81A8-3DFB-DDDD-3D29-61171BA6D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buClr>
                <a:schemeClr val="dk1"/>
              </a:buClr>
              <a:defRPr/>
            </a:pPr>
            <a:r>
              <a:rPr lang="en-US" dirty="0">
                <a:solidFill>
                  <a:schemeClr val="dk1"/>
                </a:solidFill>
                <a:sym typeface="Arial"/>
              </a:rPr>
              <a:t>Literature Review </a:t>
            </a:r>
            <a:r>
              <a:rPr lang="en-US" dirty="0">
                <a:solidFill>
                  <a:schemeClr val="dk1"/>
                </a:solidFill>
              </a:rPr>
              <a:t>Summery</a:t>
            </a:r>
            <a:endParaRPr lang="en-US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8CD91241-C27C-CEB3-3FF5-5FDC4951AF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64ACC18-24D7-4A32-8150-7B02F44DB486}" type="slidenum">
              <a:rPr lang="en-US" altLang="en-US" sz="1000" smtClean="0">
                <a:solidFill>
                  <a:srgbClr val="595959"/>
                </a:solidFill>
              </a:rPr>
              <a:pPr/>
              <a:t>16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13E3DE-D40D-9C4E-C745-5B87C7264E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spcFirstLastPara="1">
            <a:normAutofit/>
          </a:bodyPr>
          <a:lstStyle/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/>
            </a:pPr>
            <a:endParaRPr lang="en-US" dirty="0">
              <a:solidFill>
                <a:schemeClr val="dk2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3EC59C-89BB-1CF8-EB85-49EB7C54D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091955"/>
              </p:ext>
            </p:extLst>
          </p:nvPr>
        </p:nvGraphicFramePr>
        <p:xfrm>
          <a:off x="215900" y="557848"/>
          <a:ext cx="8805862" cy="4498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1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Source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accent6"/>
                          </a:solidFill>
                        </a:rPr>
                        <a:t>Research Objective or Research Question</a:t>
                      </a:r>
                      <a:endParaRPr lang="en-US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Methodology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Key Findings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Relevance to Project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Techniques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Accuracy &amp; Performance Measures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Advantages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Disadvantages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[10]. SMOTE: Synthetic Minority Over-sampling Technique (2002)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Address class imbalance in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Oversampling minority class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Improves class balance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Used as baseline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SMOTE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 recall improvement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Simple and fast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Generates less realistic samples</a:t>
                      </a:r>
                      <a:endParaRPr 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6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[11]. Learning from Imbalanced Data (2009)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Study challenges of imbalanced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Theoretical analysis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Emphasizes recall over accuracy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Guides evaluation metric selection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Imbalanced Learning Theory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Focus on recall &amp; F1-score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Strong theoretical foundation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No practical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[12]. Explainable AI-Based Fraud Detection (2025)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Improve trust and transparency in fraud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Explainable AI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Enhances interpretability of fraud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Motivates SHAP-based explainability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XAI + SHAP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Explainable predictions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Improves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Additional 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211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8AD4-A2A7-0F56-A0FE-11608EDE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E897-80D8-A087-8313-31804F386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buClr>
                <a:schemeClr val="dk1"/>
              </a:buClr>
              <a:defRPr/>
            </a:pPr>
            <a:r>
              <a:rPr lang="en-US" dirty="0">
                <a:solidFill>
                  <a:schemeClr val="dk1"/>
                </a:solidFill>
                <a:sym typeface="Arial"/>
              </a:rPr>
              <a:t>Literature Review </a:t>
            </a:r>
            <a:r>
              <a:rPr lang="en-US" dirty="0">
                <a:solidFill>
                  <a:schemeClr val="dk1"/>
                </a:solidFill>
              </a:rPr>
              <a:t>Summery</a:t>
            </a:r>
            <a:endParaRPr lang="en-US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E0A7F4F5-1CDC-E85D-0A70-97DD6FF0E8F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64ACC18-24D7-4A32-8150-7B02F44DB486}" type="slidenum">
              <a:rPr lang="en-US" altLang="en-US" sz="1000" smtClean="0">
                <a:solidFill>
                  <a:srgbClr val="595959"/>
                </a:solidFill>
              </a:rPr>
              <a:pPr/>
              <a:t>17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9C9-1B7A-D352-6AFF-F1B620CB93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spcFirstLastPara="1">
            <a:normAutofit/>
          </a:bodyPr>
          <a:lstStyle/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/>
            </a:pPr>
            <a:endParaRPr lang="en-US" dirty="0">
              <a:solidFill>
                <a:schemeClr val="dk2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2463D9-C95C-E38C-17C2-232D6066D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688971"/>
              </p:ext>
            </p:extLst>
          </p:nvPr>
        </p:nvGraphicFramePr>
        <p:xfrm>
          <a:off x="215900" y="557848"/>
          <a:ext cx="8805862" cy="4614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1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Source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chemeClr val="accent6"/>
                          </a:solidFill>
                        </a:rPr>
                        <a:t>Research Objective or Research Question</a:t>
                      </a:r>
                      <a:endParaRPr lang="en-US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Methodology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Key Findings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Relevance to Project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Techniques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Accuracy &amp; Performance Measures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>
                          <a:solidFill>
                            <a:schemeClr val="accent6"/>
                          </a:solidFill>
                        </a:rPr>
                        <a:t>Advantages</a:t>
                      </a:r>
                      <a:endParaRPr lang="en-IN" sz="80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>
                          <a:solidFill>
                            <a:schemeClr val="accent6"/>
                          </a:solidFill>
                        </a:rPr>
                        <a:t>Disadvantages</a:t>
                      </a:r>
                      <a:endParaRPr lang="en-IN" sz="8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[13]. Adversarial Drift Detection in Credit Card Fraud (2022) – Dal </a:t>
                      </a:r>
                      <a:r>
                        <a:rPr lang="en-US" sz="800" dirty="0" err="1"/>
                        <a:t>Pozzolo</a:t>
                      </a:r>
                      <a:r>
                        <a:rPr lang="en-US" sz="800" dirty="0"/>
                        <a:t> &amp; Bontempi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Address concept drift in evolving fraud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Ensemble learning with drift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Improves robustness of fraud detection over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Highlights need for stable fraud models under changing transaction behavior</a:t>
                      </a:r>
                      <a:endParaRPr lang="en-IN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Ensemble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Maintains detection performance under drift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Robust to evolving fraud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Does not address data imbalance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6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[14]. Explainable AI-Based Fraud and Intrusion Detection in IoT Systems (2025)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Improve trust and transparency in fraud detection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Integration of Explainable AI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Explainability increases user trust and system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Direct motivation for SHAP-based explanations in fraud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XAI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Improved interpretability without major accuracy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Transparent decision-making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Additional computational overhead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[15]. Explainable AI for Intrusion Detection Systems: SHAP Applicability (2024)</a:t>
                      </a:r>
                      <a:endParaRPr lang="en-US" sz="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Explain ML model decisions using SHAP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SHAP-based feature attribution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Provides clear feature-level explanations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Justifies SHAP integration for UPI fraud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SHAP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Maintains accuracy while improving 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Feature-level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Explanation generation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96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0D8562F3-EF4E-4EA1-8416-F769F14D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D7430083-762D-3B6E-DAC3-3D98EE6A2F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Research Gaps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5FD84FE6-1EF7-E90B-9561-FC7CF4214F17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380B9875-0545-C7A1-F58F-DE1C68DCE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501888"/>
            <a:ext cx="8763000" cy="464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Most existing fraud detection systems focus mainly on improving accuracy, with limited emphasis on </a:t>
            </a:r>
            <a:r>
              <a:rPr lang="en-US" sz="1400" b="1" dirty="0"/>
              <a:t>reducing false negatives</a:t>
            </a:r>
            <a:r>
              <a:rPr lang="en-US" sz="1400" dirty="0"/>
              <a:t>, which is critical in real-world fraud prevention.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Traditional machine learning models struggle with </a:t>
            </a:r>
            <a:r>
              <a:rPr lang="en-US" sz="1400" b="1" dirty="0"/>
              <a:t>severely imbalanced transaction datasets</a:t>
            </a:r>
            <a:r>
              <a:rPr lang="en-US" sz="1400" dirty="0"/>
              <a:t>, leading to poor detection of rare fraud cases.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Many GAN-based approaches use </a:t>
            </a:r>
            <a:r>
              <a:rPr lang="en-US" sz="1400" b="1" dirty="0"/>
              <a:t>complex architectures</a:t>
            </a:r>
            <a:r>
              <a:rPr lang="en-US" sz="1400" dirty="0"/>
              <a:t>, making them difficult to train, interpret, and deploy in practical payment systems.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Several fraud detection models operate as </a:t>
            </a:r>
            <a:r>
              <a:rPr lang="en-US" sz="1400" b="1" dirty="0"/>
              <a:t>black-box systems</a:t>
            </a:r>
            <a:r>
              <a:rPr lang="en-US" sz="1400" dirty="0"/>
              <a:t>, offering little or no </a:t>
            </a:r>
            <a:r>
              <a:rPr lang="en-US" sz="1400" b="1" dirty="0"/>
              <a:t>explainability</a:t>
            </a:r>
            <a:r>
              <a:rPr lang="en-US" sz="1400" dirty="0"/>
              <a:t>, which reduces trust among users and financial institutions.</a:t>
            </a:r>
          </a:p>
          <a:p>
            <a:pPr marL="228600" indent="0">
              <a:lnSpc>
                <a:spcPct val="170000"/>
              </a:lnSpc>
            </a:pPr>
            <a:r>
              <a:rPr lang="en-US" sz="1400" b="1" dirty="0"/>
              <a:t>Opportunity Identified:</a:t>
            </a:r>
            <a:br>
              <a:rPr lang="en-US" sz="1400" dirty="0"/>
            </a:br>
            <a:r>
              <a:rPr lang="en-US" sz="1400" dirty="0"/>
              <a:t>These gaps motivate the development of a </a:t>
            </a:r>
            <a:r>
              <a:rPr lang="en-US" sz="1400" b="1" dirty="0"/>
              <a:t>simpler, explainable, and fraud detection system</a:t>
            </a:r>
            <a:r>
              <a:rPr lang="en-US" sz="1400" dirty="0"/>
              <a:t> using CGAN-based data augmentation combined with a robust classification model, as proposed in this project.</a:t>
            </a:r>
          </a:p>
        </p:txBody>
      </p:sp>
    </p:spTree>
    <p:extLst>
      <p:ext uri="{BB962C8B-B14F-4D97-AF65-F5344CB8AC3E}">
        <p14:creationId xmlns:p14="http://schemas.microsoft.com/office/powerpoint/2010/main" val="2678418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291C7F78-E42D-F789-412D-53C660C0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3364DABB-86F0-041F-1690-AD45B814158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Problem statement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105073AE-3BAB-9959-75E9-6BDAB9C42CE1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186DEA44-DE74-8BF1-9FD0-1F1BEEF60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649287"/>
            <a:ext cx="8763000" cy="440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46368" lvl="0" indent="0" algn="just">
              <a:lnSpc>
                <a:spcPct val="160000"/>
              </a:lnSpc>
              <a:buClr>
                <a:srgbClr val="595959"/>
              </a:buClr>
              <a:buSzPct val="58333"/>
            </a:pPr>
            <a:r>
              <a:rPr lang="en-US" dirty="0"/>
              <a:t>Despite the rapid growth of digital payment systems, financial fraud continues to increase due to evolving and sophisticated attack patterns. Existing fraud detection techniques largely depend on rule-based or complex learning models that struggle with severe class imbalance, limited fraud samples, and lack of real-time response. Many current systems also provide limited explainability, making it difficult for users and institutions to trust automated decisions. Therefore, there is a need for a reliable fraud detection system that can effectively handle imbalanced transaction data, detect fraud, and support transparent decision-making in digital payment environments.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853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5795-D3F6-ED75-3627-11BF13108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23"/>
            <a:ext cx="4572000" cy="616777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Objectives of the project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DF65D-3ABF-D9E6-732D-1A9130D47C60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pPr>
              <a:defRPr/>
            </a:pPr>
            <a:fld id="{EF26C623-DE27-4A99-8424-AFD36C142E5A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3D747A-47DA-C73C-BB4E-A56C2B46281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99227" y="612020"/>
            <a:ext cx="874554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UPI transaction fraud detection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capable of identifying fraudulent activities.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address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imbalance in fraud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GAN (CGAN)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synthetic fraud sample generation.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Classification that reduces false negatives and improves fraud detection accuracy.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To incorporate </a:t>
            </a:r>
            <a:r>
              <a:rPr lang="en-US" sz="1800" b="1" dirty="0" err="1"/>
              <a:t>NGBoost</a:t>
            </a:r>
            <a:r>
              <a:rPr lang="en-US" sz="1800" dirty="0"/>
              <a:t> for probabilistic fraud risk estimation, enabling risk-aware and confidence-driven transaction decision-making.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fraud 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SHAP for transparent and trustworthy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107492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AA6C-D284-F536-3AE8-41C65B8DA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29600"/>
            <a:ext cx="9144000" cy="649288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buClr>
                <a:schemeClr val="dk1"/>
              </a:buClr>
              <a:buFont typeface="Arial"/>
              <a:buNone/>
              <a:defRPr/>
            </a:pPr>
            <a:r>
              <a:rPr lang="en-US" dirty="0">
                <a:solidFill>
                  <a:schemeClr val="dk1"/>
                </a:solidFill>
                <a:sym typeface="Arial"/>
              </a:rPr>
              <a:t>Proposed Solution</a:t>
            </a:r>
          </a:p>
        </p:txBody>
      </p:sp>
      <p:sp>
        <p:nvSpPr>
          <p:cNvPr id="10243" name="Slide Number Placeholder 2">
            <a:extLst>
              <a:ext uri="{FF2B5EF4-FFF2-40B4-BE49-F238E27FC236}">
                <a16:creationId xmlns:a16="http://schemas.microsoft.com/office/drawing/2014/main" id="{6D00ABFA-D88A-B7AF-7D4A-6012A136BF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9C45A0C-E776-438A-BBC0-372ED89C29E2}" type="slidenum">
              <a:rPr lang="en-US" altLang="en-US" sz="1000" smtClean="0">
                <a:solidFill>
                  <a:srgbClr val="595959"/>
                </a:solidFill>
              </a:rPr>
              <a:pPr/>
              <a:t>21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D36CC-B0BD-65FC-5B42-DB93D92A82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24644"/>
            <a:ext cx="9144000" cy="4680204"/>
          </a:xfrm>
        </p:spPr>
        <p:txBody>
          <a:bodyPr spcFirstLastPara="1">
            <a:noAutofit/>
          </a:bodyPr>
          <a:lstStyle/>
          <a:p>
            <a:pPr marL="514350" indent="-285750" algn="just">
              <a:lnSpc>
                <a:spcPct val="170000"/>
              </a:lnSpc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The project proposes an intelligent, real-time fraud detection framework that combines conditional generative modeling, machine learning and explainable AI . </a:t>
            </a:r>
          </a:p>
          <a:p>
            <a:pPr marL="514350" indent="-285750" algn="just">
              <a:lnSpc>
                <a:spcPct val="170000"/>
              </a:lnSpc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A </a:t>
            </a:r>
            <a:r>
              <a:rPr lang="en-US" sz="1400" b="1" dirty="0"/>
              <a:t>Conditional Generative Adversarial Network (CGAN</a:t>
            </a:r>
            <a:r>
              <a:rPr lang="en-US" sz="1400" dirty="0"/>
              <a:t>) is used to generate behavior-conditioned synthetic fraud samples based on key transaction characteristics such as amount, frequency, and risk patterns. </a:t>
            </a:r>
          </a:p>
          <a:p>
            <a:pPr marL="514350" indent="-285750" algn="just">
              <a:lnSpc>
                <a:spcPct val="170000"/>
              </a:lnSpc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This synthetic data is combined with real transaction data to address severe class imbalance and improve minority fraud representation. </a:t>
            </a:r>
          </a:p>
          <a:p>
            <a:pPr marL="514350" indent="-285750" algn="just">
              <a:lnSpc>
                <a:spcPct val="170000"/>
              </a:lnSpc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An </a:t>
            </a:r>
            <a:r>
              <a:rPr lang="en-US" sz="1400" b="1" dirty="0" err="1"/>
              <a:t>XGBoost</a:t>
            </a:r>
            <a:r>
              <a:rPr lang="en-US" sz="1400" dirty="0"/>
              <a:t> classifier is then trained on the balanced dataset to prioritize fraud detection and minimize false negatives. </a:t>
            </a:r>
          </a:p>
          <a:p>
            <a:pPr marL="514350" indent="-285750" algn="just">
              <a:lnSpc>
                <a:spcPct val="170000"/>
              </a:lnSpc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400" b="1" dirty="0" err="1"/>
              <a:t>NGBoost</a:t>
            </a:r>
            <a:r>
              <a:rPr lang="en-US" sz="1400" dirty="0"/>
              <a:t> is added as a secondary probabilistic model to estimate fraud risk (probability and uncertainty), enabling risk-aware decisions alongside </a:t>
            </a:r>
            <a:r>
              <a:rPr lang="en-US" sz="1400" dirty="0" err="1"/>
              <a:t>XGBoost’s</a:t>
            </a:r>
            <a:r>
              <a:rPr lang="en-US" sz="1400" dirty="0"/>
              <a:t> classification.</a:t>
            </a:r>
          </a:p>
          <a:p>
            <a:pPr marL="514350" indent="-285750" algn="just">
              <a:lnSpc>
                <a:spcPct val="170000"/>
              </a:lnSpc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To enhance transparency and user trust, </a:t>
            </a:r>
            <a:r>
              <a:rPr lang="en-US" sz="1400" b="1" dirty="0"/>
              <a:t>SHAP-based explainability </a:t>
            </a:r>
            <a:r>
              <a:rPr lang="en-US" sz="1400" dirty="0"/>
              <a:t>is integrated to provide transaction-level reasoning for each fraud decision</a:t>
            </a:r>
            <a:r>
              <a:rPr lang="en-US" sz="1600" dirty="0"/>
              <a:t>.</a:t>
            </a:r>
            <a:endParaRPr lang="en-US" sz="1600" dirty="0">
              <a:solidFill>
                <a:schemeClr val="dk2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2">
            <a:extLst>
              <a:ext uri="{FF2B5EF4-FFF2-40B4-BE49-F238E27FC236}">
                <a16:creationId xmlns:a16="http://schemas.microsoft.com/office/drawing/2014/main" id="{ED46C40A-8AED-4E05-7B1E-3C80C4B90E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45F3082-D53D-40B3-AEDA-81BD1AE0820A}" type="slidenum">
              <a:rPr lang="en-US" altLang="en-US" sz="1000" smtClean="0">
                <a:solidFill>
                  <a:srgbClr val="595959"/>
                </a:solidFill>
              </a:rPr>
              <a:pPr/>
              <a:t>22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57B95-99A4-8F62-B79A-595199FE632C}"/>
              </a:ext>
            </a:extLst>
          </p:cNvPr>
          <p:cNvSpPr txBox="1"/>
          <p:nvPr/>
        </p:nvSpPr>
        <p:spPr>
          <a:xfrm>
            <a:off x="233755" y="240631"/>
            <a:ext cx="4510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j-lt"/>
              </a:rPr>
              <a:t>ARCHITECTURE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7707A4-6A09-5E81-5038-4BDD5838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8" y="0"/>
            <a:ext cx="7644703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D5F2E5-7235-3AC9-94D2-CA8A2F458F5B}"/>
              </a:ext>
            </a:extLst>
          </p:cNvPr>
          <p:cNvSpPr txBox="1"/>
          <p:nvPr/>
        </p:nvSpPr>
        <p:spPr>
          <a:xfrm>
            <a:off x="122238" y="132909"/>
            <a:ext cx="4802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Methodology / Algorithms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E072-FEAF-2AB3-5605-110CD9785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buClr>
                <a:schemeClr val="dk1"/>
              </a:buClr>
              <a:defRPr/>
            </a:pPr>
            <a:r>
              <a:rPr lang="en-IN" dirty="0"/>
              <a:t>Methodology / Algorithms</a:t>
            </a:r>
            <a:endParaRPr lang="en-US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2291" name="Slide Number Placeholder 2">
            <a:extLst>
              <a:ext uri="{FF2B5EF4-FFF2-40B4-BE49-F238E27FC236}">
                <a16:creationId xmlns:a16="http://schemas.microsoft.com/office/drawing/2014/main" id="{5D4E9857-593F-94E3-B1F5-D6FF21535E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85B2634-3FD6-49B7-832A-3BFA1738CCD2}" type="slidenum">
              <a:rPr lang="en-US" altLang="en-US" sz="1000" smtClean="0">
                <a:solidFill>
                  <a:srgbClr val="595959"/>
                </a:solidFill>
              </a:rPr>
              <a:pPr/>
              <a:t>23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265C9-4F3F-5CC5-669E-76B66DA82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923202"/>
            <a:ext cx="4055717" cy="1188261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IN" sz="1200" b="1" dirty="0"/>
              <a:t>Alignment with Objectives</a:t>
            </a:r>
          </a:p>
          <a:p>
            <a:pPr marL="571500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Improves </a:t>
            </a:r>
            <a:r>
              <a:rPr lang="en-IN" sz="1200" b="1" dirty="0"/>
              <a:t>fraud detection accuracy and recall</a:t>
            </a:r>
            <a:endParaRPr lang="en-IN" sz="1200" dirty="0"/>
          </a:p>
          <a:p>
            <a:pPr marL="571500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Minimizes </a:t>
            </a:r>
            <a:r>
              <a:rPr lang="en-IN" sz="1200" b="1" dirty="0"/>
              <a:t>false negatives and financial loss</a:t>
            </a:r>
          </a:p>
          <a:p>
            <a:pPr marL="571500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Ensures </a:t>
            </a:r>
            <a:r>
              <a:rPr lang="en-IN" sz="1200" b="1" dirty="0"/>
              <a:t>explainability.</a:t>
            </a:r>
            <a:endParaRPr lang="en-IN" sz="1200" dirty="0"/>
          </a:p>
          <a:p>
            <a:pPr marL="0" indent="0" eaLnBrk="1" hangingPunct="1">
              <a:lnSpc>
                <a:spcPct val="115000"/>
              </a:lnSpc>
              <a:buClr>
                <a:srgbClr val="595959"/>
              </a:buClr>
              <a:buSzPts val="1800"/>
            </a:pPr>
            <a:endParaRPr lang="en-US" altLang="en-US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E0B487-8577-685F-A45D-7C8B49A6F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077336"/>
              </p:ext>
            </p:extLst>
          </p:nvPr>
        </p:nvGraphicFramePr>
        <p:xfrm>
          <a:off x="491020" y="649288"/>
          <a:ext cx="82561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052">
                  <a:extLst>
                    <a:ext uri="{9D8B030D-6E8A-4147-A177-3AD203B41FA5}">
                      <a16:colId xmlns:a16="http://schemas.microsoft.com/office/drawing/2014/main" val="3807795804"/>
                    </a:ext>
                  </a:extLst>
                </a:gridCol>
                <a:gridCol w="4128052">
                  <a:extLst>
                    <a:ext uri="{9D8B030D-6E8A-4147-A177-3AD203B41FA5}">
                      <a16:colId xmlns:a16="http://schemas.microsoft.com/office/drawing/2014/main" val="2104484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050" dirty="0"/>
                        <a:t>Algorithms chosen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66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/>
                        <a:t>CGAN (Conditional GAN)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Data Augmentation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13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 err="1"/>
                        <a:t>XGBoost</a:t>
                      </a:r>
                      <a:r>
                        <a:rPr lang="en-IN" sz="1050" dirty="0"/>
                        <a:t>  and </a:t>
                      </a:r>
                      <a:r>
                        <a:rPr lang="en-IN" sz="1050" dirty="0" err="1"/>
                        <a:t>NGBoost</a:t>
                      </a:r>
                      <a:r>
                        <a:rPr lang="en-IN" sz="1050" dirty="0"/>
                        <a:t> Classifiers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Fraud Detection and Probability Estimation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93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/>
                        <a:t>SHAP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Model explainability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8263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652658-BD62-94CC-A0A4-F8BB7B9EB718}"/>
              </a:ext>
            </a:extLst>
          </p:cNvPr>
          <p:cNvSpPr txBox="1"/>
          <p:nvPr/>
        </p:nvSpPr>
        <p:spPr>
          <a:xfrm>
            <a:off x="238540" y="2132648"/>
            <a:ext cx="1364974" cy="30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Justification: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152AA0-6526-0D41-961E-7E24CD3EF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56699"/>
              </p:ext>
            </p:extLst>
          </p:nvPr>
        </p:nvGraphicFramePr>
        <p:xfrm>
          <a:off x="491018" y="2439843"/>
          <a:ext cx="8195782" cy="1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891">
                  <a:extLst>
                    <a:ext uri="{9D8B030D-6E8A-4147-A177-3AD203B41FA5}">
                      <a16:colId xmlns:a16="http://schemas.microsoft.com/office/drawing/2014/main" val="1050036931"/>
                    </a:ext>
                  </a:extLst>
                </a:gridCol>
                <a:gridCol w="4097891">
                  <a:extLst>
                    <a:ext uri="{9D8B030D-6E8A-4147-A177-3AD203B41FA5}">
                      <a16:colId xmlns:a16="http://schemas.microsoft.com/office/drawing/2014/main" val="331536853"/>
                    </a:ext>
                  </a:extLst>
                </a:gridCol>
              </a:tblGrid>
              <a:tr h="322304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20784"/>
                  </a:ext>
                </a:extLst>
              </a:tr>
              <a:tr h="387019">
                <a:tc>
                  <a:txBody>
                    <a:bodyPr/>
                    <a:lstStyle/>
                    <a:p>
                      <a:r>
                        <a:rPr lang="en-IN" sz="1050" dirty="0"/>
                        <a:t>CGAN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Addresses severe class imbalance by generating realistic synthetic fraud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999953"/>
                  </a:ext>
                </a:extLst>
              </a:tr>
              <a:tr h="387019">
                <a:tc>
                  <a:txBody>
                    <a:bodyPr/>
                    <a:lstStyle/>
                    <a:p>
                      <a:r>
                        <a:rPr lang="en-IN" sz="1050" dirty="0" err="1"/>
                        <a:t>XGBoost</a:t>
                      </a:r>
                      <a:r>
                        <a:rPr lang="en-IN" sz="1050" dirty="0"/>
                        <a:t> and </a:t>
                      </a:r>
                      <a:r>
                        <a:rPr lang="en-IN" sz="1050" dirty="0" err="1"/>
                        <a:t>NGBoost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Well-suited for tabular financial data, offering high accuracy and Probability Estimation of fraud.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22383"/>
                  </a:ext>
                </a:extLst>
              </a:tr>
              <a:tr h="387019">
                <a:tc>
                  <a:txBody>
                    <a:bodyPr/>
                    <a:lstStyle/>
                    <a:p>
                      <a:r>
                        <a:rPr lang="en-IN" sz="1050" dirty="0"/>
                        <a:t>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Provides transparent, interpretable explanations for model 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6589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ED70-C483-7BC1-1001-D141BEA64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D6F4-C1D0-C773-84CD-BCA78B486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buClr>
                <a:schemeClr val="dk1"/>
              </a:buClr>
              <a:defRPr/>
            </a:pPr>
            <a:r>
              <a:rPr lang="en-IN" dirty="0">
                <a:solidFill>
                  <a:schemeClr val="dk1"/>
                </a:solidFill>
                <a:sym typeface="Arial"/>
              </a:rPr>
              <a:t>Software and Hardware </a:t>
            </a:r>
            <a:endParaRPr lang="en-US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2291" name="Slide Number Placeholder 2">
            <a:extLst>
              <a:ext uri="{FF2B5EF4-FFF2-40B4-BE49-F238E27FC236}">
                <a16:creationId xmlns:a16="http://schemas.microsoft.com/office/drawing/2014/main" id="{54F90A53-A7D0-FE6A-0F24-707A3BB898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85B2634-3FD6-49B7-832A-3BFA1738CCD2}" type="slidenum">
              <a:rPr lang="en-US" altLang="en-US" sz="1000" smtClean="0">
                <a:solidFill>
                  <a:srgbClr val="595959"/>
                </a:solidFill>
              </a:rPr>
              <a:pPr/>
              <a:t>24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F1B2B-6F93-3CA7-C239-EAF9AFFF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8" y="511790"/>
            <a:ext cx="7362967" cy="463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44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D383-7C2E-175D-CF39-99054404C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Datasets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69247-AE56-0F1C-7920-5A070ED37E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/>
              <a:t>Dataset Source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Dataset : </a:t>
            </a:r>
            <a:r>
              <a:rPr lang="en-IN" sz="1800" dirty="0"/>
              <a:t>Generated from IEEE-CIS Fraud Detection 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Platform:</a:t>
            </a:r>
            <a:r>
              <a:rPr lang="en-IN" sz="1800" dirty="0"/>
              <a:t> Kaggle (IEEE Computational Intelligence Society)</a:t>
            </a:r>
            <a:endParaRPr lang="en-US" sz="1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/>
              <a:t>Size of the Dataset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Total Records:</a:t>
            </a:r>
            <a:r>
              <a:rPr lang="en-US" sz="1800" dirty="0"/>
              <a:t> Approximately </a:t>
            </a:r>
            <a:r>
              <a:rPr lang="en-US" sz="1800" b="1" dirty="0"/>
              <a:t>20,000 transactions</a:t>
            </a:r>
            <a:r>
              <a:rPr lang="en-US" sz="1800" dirty="0"/>
              <a:t> 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Fraudulent Transactions:</a:t>
            </a:r>
            <a:r>
              <a:rPr lang="en-US" sz="1800" dirty="0"/>
              <a:t> Around </a:t>
            </a:r>
            <a:r>
              <a:rPr lang="en-US" sz="1800" b="1" dirty="0"/>
              <a:t>10%</a:t>
            </a:r>
            <a:endParaRPr lang="en-US" sz="1800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Legitimate Transactions:</a:t>
            </a:r>
            <a:r>
              <a:rPr lang="en-US" sz="1800" dirty="0"/>
              <a:t> Around </a:t>
            </a:r>
            <a:r>
              <a:rPr lang="en-US" sz="1800" b="1" dirty="0"/>
              <a:t>90%</a:t>
            </a:r>
            <a:endParaRPr lang="en-US" sz="1800" dirty="0"/>
          </a:p>
          <a:p>
            <a:endParaRPr lang="en-IN" sz="1400" dirty="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0CDA1D8E-9DE7-9299-8603-468CCDC455A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A2FB1D4-4E4D-4581-89B2-8F96AFD91271}" type="slidenum">
              <a:rPr lang="en-US" altLang="en-US" sz="1000" smtClean="0">
                <a:solidFill>
                  <a:srgbClr val="595959"/>
                </a:solidFill>
              </a:rPr>
              <a:pPr/>
              <a:t>25</a:t>
            </a:fld>
            <a:endParaRPr lang="en-US" altLang="en-US"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F2EC-0AD5-DAEC-1010-A7C7819C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6714-E05A-38E0-D1AB-B1B35317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Datasets Details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730D7B6B-F46C-D960-B5D2-1E255DEE17F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A2FB1D4-4E4D-4581-89B2-8F96AFD91271}" type="slidenum">
              <a:rPr lang="en-US" altLang="en-US" sz="1000" smtClean="0">
                <a:solidFill>
                  <a:srgbClr val="595959"/>
                </a:solidFill>
              </a:rPr>
              <a:pPr/>
              <a:t>26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0D1354-299A-2799-1F1F-7CCA03EE0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228768"/>
              </p:ext>
            </p:extLst>
          </p:nvPr>
        </p:nvGraphicFramePr>
        <p:xfrm>
          <a:off x="40943" y="571805"/>
          <a:ext cx="9062113" cy="4568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973">
                  <a:extLst>
                    <a:ext uri="{9D8B030D-6E8A-4147-A177-3AD203B41FA5}">
                      <a16:colId xmlns:a16="http://schemas.microsoft.com/office/drawing/2014/main" val="1862118641"/>
                    </a:ext>
                  </a:extLst>
                </a:gridCol>
                <a:gridCol w="3016155">
                  <a:extLst>
                    <a:ext uri="{9D8B030D-6E8A-4147-A177-3AD203B41FA5}">
                      <a16:colId xmlns:a16="http://schemas.microsoft.com/office/drawing/2014/main" val="2369880778"/>
                    </a:ext>
                  </a:extLst>
                </a:gridCol>
                <a:gridCol w="5424985">
                  <a:extLst>
                    <a:ext uri="{9D8B030D-6E8A-4147-A177-3AD203B41FA5}">
                      <a16:colId xmlns:a16="http://schemas.microsoft.com/office/drawing/2014/main" val="869348529"/>
                    </a:ext>
                  </a:extLst>
                </a:gridCol>
              </a:tblGrid>
              <a:tr h="379268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Fields /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33599"/>
                  </a:ext>
                </a:extLst>
              </a:tr>
              <a:tr h="358695">
                <a:tc>
                  <a:txBody>
                    <a:bodyPr/>
                    <a:lstStyle/>
                    <a:p>
                      <a:r>
                        <a:rPr lang="en-IN" dirty="0"/>
                        <a:t>    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Transaction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 identifier for each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6538"/>
                  </a:ext>
                </a:extLst>
              </a:tr>
              <a:tr h="358695">
                <a:tc>
                  <a:txBody>
                    <a:bodyPr/>
                    <a:lstStyle/>
                    <a:p>
                      <a:r>
                        <a:rPr lang="en-IN" dirty="0"/>
                        <a:t>     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Transaction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Monetary value of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63444"/>
                  </a:ext>
                </a:extLst>
              </a:tr>
              <a:tr h="358695">
                <a:tc>
                  <a:txBody>
                    <a:bodyPr/>
                    <a:lstStyle/>
                    <a:p>
                      <a:r>
                        <a:rPr lang="en-IN" dirty="0"/>
                        <a:t>     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Transaction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Timestamp of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621894"/>
                  </a:ext>
                </a:extLst>
              </a:tr>
              <a:tr h="358695">
                <a:tc>
                  <a:txBody>
                    <a:bodyPr/>
                    <a:lstStyle/>
                    <a:p>
                      <a:r>
                        <a:rPr lang="en-IN" dirty="0"/>
                        <a:t>     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Merchant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 identifier for merchants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097186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r>
                        <a:rPr lang="en-IN" dirty="0"/>
                        <a:t>     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Merchant Category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Category of </a:t>
                      </a:r>
                      <a:r>
                        <a:rPr lang="en-IN" sz="1400" dirty="0"/>
                        <a:t>Category of merchant (retail, travel, food, etc.)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536584"/>
                  </a:ext>
                </a:extLst>
              </a:tr>
              <a:tr h="345944">
                <a:tc>
                  <a:txBody>
                    <a:bodyPr/>
                    <a:lstStyle/>
                    <a:p>
                      <a:r>
                        <a:rPr lang="en-IN" dirty="0"/>
                        <a:t>     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Geographic location of the transaction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255967"/>
                  </a:ext>
                </a:extLst>
              </a:tr>
              <a:tr h="358695">
                <a:tc>
                  <a:txBody>
                    <a:bodyPr/>
                    <a:lstStyle/>
                    <a:p>
                      <a:r>
                        <a:rPr lang="en-IN" dirty="0"/>
                        <a:t>     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Previous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Count of past user transactions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168031"/>
                  </a:ext>
                </a:extLst>
              </a:tr>
              <a:tr h="506893">
                <a:tc>
                  <a:txBody>
                    <a:bodyPr/>
                    <a:lstStyle/>
                    <a:p>
                      <a:r>
                        <a:rPr lang="en-IN" dirty="0"/>
                        <a:t>     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Average Transaction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User’s historical average transaction value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424610"/>
                  </a:ext>
                </a:extLst>
              </a:tr>
              <a:tr h="506893">
                <a:tc>
                  <a:txBody>
                    <a:bodyPr/>
                    <a:lstStyle/>
                    <a:p>
                      <a:r>
                        <a:rPr lang="en-IN" dirty="0"/>
                        <a:t>     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International Transaction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Indicates domestic or international transaction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052693"/>
                  </a:ext>
                </a:extLst>
              </a:tr>
              <a:tr h="407742">
                <a:tc>
                  <a:txBody>
                    <a:bodyPr/>
                    <a:lstStyle/>
                    <a:p>
                      <a:r>
                        <a:rPr lang="en-IN" dirty="0"/>
                        <a:t>   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Fraud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Target variable (0 = Legitimate, 1 = Fraud)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822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654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CC5C44D-D8EE-A4C1-7E38-B25750DC7A50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FEE4B0-5022-F732-2200-39C6B3BB5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95" y="0"/>
            <a:ext cx="859340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353;p10">
            <a:extLst>
              <a:ext uri="{FF2B5EF4-FFF2-40B4-BE49-F238E27FC236}">
                <a16:creationId xmlns:a16="http://schemas.microsoft.com/office/drawing/2014/main" id="{60364F5E-50ED-A606-D590-9B4C93451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" y="152400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Data flow diagram(Level – 0)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5F952C7-FCE9-CF92-02A2-E0C140643382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07254-4285-C1B0-6819-DAFEA7FC7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895350"/>
            <a:ext cx="725805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82FA2-4B71-D898-E3E5-5A53A3DB7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353;p10">
            <a:extLst>
              <a:ext uri="{FF2B5EF4-FFF2-40B4-BE49-F238E27FC236}">
                <a16:creationId xmlns:a16="http://schemas.microsoft.com/office/drawing/2014/main" id="{750D5C97-714F-7A00-EC5B-4817D7602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" y="152400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Data flow diagram(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Level - 1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78EF1FD-F0C0-4876-6A1F-2058215CB858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AEE65-A1CC-C266-86D2-0D8A0897A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5204"/>
            <a:ext cx="9144000" cy="347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33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353;p10">
            <a:extLst>
              <a:ext uri="{FF2B5EF4-FFF2-40B4-BE49-F238E27FC236}">
                <a16:creationId xmlns:a16="http://schemas.microsoft.com/office/drawing/2014/main" id="{2AB4EABF-7D42-3F0F-ACBB-F56D7D9F5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Control flow diagram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E9DB43-DF9C-BFB2-9116-EA0ABCC6D9B0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2E120-D43A-9C49-7D24-D828C41EE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52" y="0"/>
            <a:ext cx="409387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353;p10">
            <a:extLst>
              <a:ext uri="{FF2B5EF4-FFF2-40B4-BE49-F238E27FC236}">
                <a16:creationId xmlns:a16="http://schemas.microsoft.com/office/drawing/2014/main" id="{788B10ED-C2F6-D1F4-FC7D-B401455B9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156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Modules description: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BD8927-8BA6-CBA7-3C6D-6F868234A444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D9E2DA-8E68-CBB7-5B64-248F7518D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479557"/>
              </p:ext>
            </p:extLst>
          </p:nvPr>
        </p:nvGraphicFramePr>
        <p:xfrm>
          <a:off x="215900" y="749301"/>
          <a:ext cx="7916164" cy="3965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420">
                  <a:extLst>
                    <a:ext uri="{9D8B030D-6E8A-4147-A177-3AD203B41FA5}">
                      <a16:colId xmlns:a16="http://schemas.microsoft.com/office/drawing/2014/main" val="3900833814"/>
                    </a:ext>
                  </a:extLst>
                </a:gridCol>
                <a:gridCol w="5571744">
                  <a:extLst>
                    <a:ext uri="{9D8B030D-6E8A-4147-A177-3AD203B41FA5}">
                      <a16:colId xmlns:a16="http://schemas.microsoft.com/office/drawing/2014/main" val="4138509665"/>
                    </a:ext>
                  </a:extLst>
                </a:gridCol>
              </a:tblGrid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8831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Frontend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945534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interaction &amp; transaction input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2954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CSV dataset upload </a:t>
                      </a:r>
                      <a:br>
                        <a:rPr lang="en-US" dirty="0"/>
                      </a:br>
                      <a:r>
                        <a:rPr lang="en-US" dirty="0"/>
                        <a:t>• UPI transaction simulation (real-time) </a:t>
                      </a:r>
                      <a:br>
                        <a:rPr lang="en-US" dirty="0"/>
                      </a:br>
                      <a:r>
                        <a:rPr lang="en-US" dirty="0"/>
                        <a:t>• Authentication token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655858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• UI validation </a:t>
                      </a:r>
                      <a:br>
                        <a:rPr lang="en-IN" dirty="0"/>
                      </a:br>
                      <a:r>
                        <a:rPr lang="en-IN" dirty="0"/>
                        <a:t>• JSON formatting </a:t>
                      </a:r>
                      <a:br>
                        <a:rPr lang="en-IN" dirty="0"/>
                      </a:br>
                      <a:r>
                        <a:rPr lang="en-IN" dirty="0"/>
                        <a:t>• Secure API request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931140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Tools /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• React.js </a:t>
                      </a:r>
                      <a:br>
                        <a:rPr lang="en-IN" dirty="0"/>
                      </a:br>
                      <a:r>
                        <a:rPr lang="en-IN" dirty="0"/>
                        <a:t>• JavaScript </a:t>
                      </a:r>
                      <a:br>
                        <a:rPr lang="en-IN" dirty="0"/>
                      </a:br>
                      <a:r>
                        <a:rPr lang="en-IN" dirty="0"/>
                        <a:t>• HTML/CSS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6613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Structured JSON transaction data </a:t>
                      </a:r>
                      <a:br>
                        <a:rPr lang="en-US" dirty="0"/>
                      </a:br>
                      <a:r>
                        <a:rPr lang="en-US" dirty="0"/>
                        <a:t>• API request to backend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8897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F635-E39C-F75C-9E45-D4B4B1FE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353;p10">
            <a:extLst>
              <a:ext uri="{FF2B5EF4-FFF2-40B4-BE49-F238E27FC236}">
                <a16:creationId xmlns:a16="http://schemas.microsoft.com/office/drawing/2014/main" id="{838396FB-B620-4A1D-7BE0-83A662D26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156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Modules description: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7CE9BBE-93A3-C7A9-F1DE-CF39D4219CCF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42A3D0-8440-46AF-45A3-C92303C0B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955794"/>
              </p:ext>
            </p:extLst>
          </p:nvPr>
        </p:nvGraphicFramePr>
        <p:xfrm>
          <a:off x="215900" y="749301"/>
          <a:ext cx="7916164" cy="4179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420">
                  <a:extLst>
                    <a:ext uri="{9D8B030D-6E8A-4147-A177-3AD203B41FA5}">
                      <a16:colId xmlns:a16="http://schemas.microsoft.com/office/drawing/2014/main" val="3900833814"/>
                    </a:ext>
                  </a:extLst>
                </a:gridCol>
                <a:gridCol w="5571744">
                  <a:extLst>
                    <a:ext uri="{9D8B030D-6E8A-4147-A177-3AD203B41FA5}">
                      <a16:colId xmlns:a16="http://schemas.microsoft.com/office/drawing/2014/main" val="4138509665"/>
                    </a:ext>
                  </a:extLst>
                </a:gridCol>
              </a:tblGrid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8831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 Module (Flask API Server)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945534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 processing &amp; feature engineering layer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2954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JSON transaction data </a:t>
                      </a:r>
                      <a:br>
                        <a:rPr lang="en-US" dirty="0"/>
                      </a:br>
                      <a:r>
                        <a:rPr lang="en-US" dirty="0"/>
                        <a:t>• Batch dataset (CSV) </a:t>
                      </a:r>
                      <a:br>
                        <a:rPr lang="en-US" dirty="0"/>
                      </a:br>
                      <a:r>
                        <a:rPr lang="en-US" dirty="0"/>
                        <a:t>• Auth token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655858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Token verification </a:t>
                      </a:r>
                      <a:br>
                        <a:rPr lang="en-US" dirty="0"/>
                      </a:br>
                      <a:r>
                        <a:rPr lang="en-US" dirty="0"/>
                        <a:t>• Data preprocessing </a:t>
                      </a:r>
                      <a:br>
                        <a:rPr lang="en-US" dirty="0"/>
                      </a:br>
                      <a:r>
                        <a:rPr lang="en-US" dirty="0"/>
                        <a:t>• Feature engineering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931140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Tools /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• Flask (Python) </a:t>
                      </a:r>
                      <a:br>
                        <a:rPr lang="en-IN" dirty="0"/>
                      </a:br>
                      <a:r>
                        <a:rPr lang="en-IN" dirty="0"/>
                        <a:t>• Pandas </a:t>
                      </a:r>
                      <a:br>
                        <a:rPr lang="en-IN" dirty="0"/>
                      </a:br>
                      <a:r>
                        <a:rPr lang="en-IN" dirty="0"/>
                        <a:t>• NumPy </a:t>
                      </a:r>
                      <a:br>
                        <a:rPr lang="en-IN" dirty="0"/>
                      </a:br>
                      <a:r>
                        <a:rPr lang="en-IN" dirty="0"/>
                        <a:t>• Scikit-learn utilities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46613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Engineered feature set </a:t>
                      </a:r>
                      <a:br>
                        <a:rPr lang="en-US" dirty="0"/>
                      </a:br>
                      <a:r>
                        <a:rPr lang="en-US" dirty="0"/>
                        <a:t>• Model-ready 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889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169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DC89-D765-5CCE-6727-70468FEF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353;p10">
            <a:extLst>
              <a:ext uri="{FF2B5EF4-FFF2-40B4-BE49-F238E27FC236}">
                <a16:creationId xmlns:a16="http://schemas.microsoft.com/office/drawing/2014/main" id="{9AADB03D-20AA-9502-21D5-5C6E97262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156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Modules description: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2B509E-E395-9F0C-2EE9-E9C730EB3DA3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C6E57B-B059-F0F5-7290-E30B7556B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071278"/>
              </p:ext>
            </p:extLst>
          </p:nvPr>
        </p:nvGraphicFramePr>
        <p:xfrm>
          <a:off x="215900" y="749301"/>
          <a:ext cx="7438962" cy="4179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218">
                  <a:extLst>
                    <a:ext uri="{9D8B030D-6E8A-4147-A177-3AD203B41FA5}">
                      <a16:colId xmlns:a16="http://schemas.microsoft.com/office/drawing/2014/main" val="3900833814"/>
                    </a:ext>
                  </a:extLst>
                </a:gridCol>
                <a:gridCol w="5571744">
                  <a:extLst>
                    <a:ext uri="{9D8B030D-6E8A-4147-A177-3AD203B41FA5}">
                      <a16:colId xmlns:a16="http://schemas.microsoft.com/office/drawing/2014/main" val="4138509665"/>
                    </a:ext>
                  </a:extLst>
                </a:gridCol>
              </a:tblGrid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8831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ML Module (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NGBoost</a:t>
                      </a:r>
                      <a:r>
                        <a:rPr lang="en-US" dirty="0"/>
                        <a:t> / SHAP)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945534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Fraud detection &amp; probabilistic risk prediction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2954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Engineered features </a:t>
                      </a:r>
                      <a:br>
                        <a:rPr lang="en-US" dirty="0"/>
                      </a:br>
                      <a:r>
                        <a:rPr lang="en-US" dirty="0"/>
                        <a:t>• trained model files (.</a:t>
                      </a:r>
                      <a:r>
                        <a:rPr lang="en-US" dirty="0" err="1"/>
                        <a:t>pkl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655858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Model loading </a:t>
                      </a:r>
                      <a:br>
                        <a:rPr lang="en-US" dirty="0"/>
                      </a:br>
                      <a:r>
                        <a:rPr lang="en-US" dirty="0"/>
                        <a:t>• Fraud probability prediction </a:t>
                      </a:r>
                      <a:br>
                        <a:rPr lang="en-US" dirty="0"/>
                      </a:br>
                      <a:r>
                        <a:rPr lang="en-US" dirty="0"/>
                        <a:t>• Risk classification (High / Low) </a:t>
                      </a:r>
                      <a:br>
                        <a:rPr lang="en-US" dirty="0"/>
                      </a:br>
                      <a:r>
                        <a:rPr lang="en-US" dirty="0"/>
                        <a:t>• SHAP explainability generation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931140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Tools /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• </a:t>
                      </a:r>
                      <a:r>
                        <a:rPr lang="en-IN" dirty="0" err="1"/>
                        <a:t>XGBoost</a:t>
                      </a:r>
                      <a:r>
                        <a:rPr lang="en-IN" dirty="0"/>
                        <a:t> </a:t>
                      </a:r>
                      <a:br>
                        <a:rPr lang="en-IN" dirty="0"/>
                      </a:br>
                      <a:r>
                        <a:rPr lang="en-IN" dirty="0"/>
                        <a:t>• </a:t>
                      </a:r>
                      <a:r>
                        <a:rPr lang="en-IN" dirty="0" err="1"/>
                        <a:t>NGBoost</a:t>
                      </a:r>
                      <a:r>
                        <a:rPr lang="en-IN" dirty="0"/>
                        <a:t> </a:t>
                      </a:r>
                      <a:br>
                        <a:rPr lang="en-IN" dirty="0"/>
                      </a:br>
                      <a:r>
                        <a:rPr lang="en-IN" dirty="0"/>
                        <a:t>• SHAP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46613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Fraud score </a:t>
                      </a:r>
                      <a:br>
                        <a:rPr lang="en-US" dirty="0"/>
                      </a:br>
                      <a:r>
                        <a:rPr lang="en-US" dirty="0"/>
                        <a:t>• Risk label </a:t>
                      </a:r>
                      <a:br>
                        <a:rPr lang="en-US" dirty="0"/>
                      </a:br>
                      <a:r>
                        <a:rPr lang="en-US" dirty="0"/>
                        <a:t>• Explainability values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889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50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A62D-1F0A-9E31-4628-C8D9280A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353;p10">
            <a:extLst>
              <a:ext uri="{FF2B5EF4-FFF2-40B4-BE49-F238E27FC236}">
                <a16:creationId xmlns:a16="http://schemas.microsoft.com/office/drawing/2014/main" id="{0394DE7B-3255-2C31-2E35-D4C01D42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156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Modules description: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4C3239A-D02E-70E6-3406-78CBBB3D7DA6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4F36ED-E61D-C42F-24D1-785CC796E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939522"/>
              </p:ext>
            </p:extLst>
          </p:nvPr>
        </p:nvGraphicFramePr>
        <p:xfrm>
          <a:off x="215900" y="749301"/>
          <a:ext cx="7438962" cy="4363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218">
                  <a:extLst>
                    <a:ext uri="{9D8B030D-6E8A-4147-A177-3AD203B41FA5}">
                      <a16:colId xmlns:a16="http://schemas.microsoft.com/office/drawing/2014/main" val="3900833814"/>
                    </a:ext>
                  </a:extLst>
                </a:gridCol>
                <a:gridCol w="5571744">
                  <a:extLst>
                    <a:ext uri="{9D8B030D-6E8A-4147-A177-3AD203B41FA5}">
                      <a16:colId xmlns:a16="http://schemas.microsoft.com/office/drawing/2014/main" val="4138509665"/>
                    </a:ext>
                  </a:extLst>
                </a:gridCol>
              </a:tblGrid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8831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CGAN Dataset Balancing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945534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balancing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2954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• Raw transaction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655858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• Dataset imbalance analysis </a:t>
                      </a:r>
                      <a:br>
                        <a:rPr lang="en-IN" dirty="0"/>
                      </a:br>
                      <a:r>
                        <a:rPr lang="en-IN" dirty="0"/>
                        <a:t>• CGAN-based synthetic fraud sample generation </a:t>
                      </a:r>
                      <a:br>
                        <a:rPr lang="en-IN" dirty="0"/>
                      </a:br>
                      <a:r>
                        <a:rPr lang="en-IN" dirty="0"/>
                        <a:t>• Minority class augmentation </a:t>
                      </a:r>
                      <a:br>
                        <a:rPr lang="en-IN" dirty="0"/>
                      </a:br>
                      <a:r>
                        <a:rPr lang="en-IN" dirty="0"/>
                        <a:t>• Dataset merging &amp;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931140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Tools /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Conditional GAN (CGAN) </a:t>
                      </a:r>
                      <a:br>
                        <a:rPr lang="en-US" dirty="0"/>
                      </a:br>
                      <a:r>
                        <a:rPr lang="en-US" dirty="0"/>
                        <a:t>• TensorFlow / </a:t>
                      </a:r>
                      <a:r>
                        <a:rPr lang="en-US" dirty="0" err="1"/>
                        <a:t>PyTorch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en-US" dirty="0"/>
                        <a:t>• NumPy </a:t>
                      </a:r>
                      <a:br>
                        <a:rPr lang="en-US" dirty="0"/>
                      </a:br>
                      <a:r>
                        <a:rPr lang="en-US" dirty="0"/>
                        <a:t>• Pandas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46613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• Balanced fraud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889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325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EB57-AB19-B810-1C48-D72A43310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353;p10">
            <a:extLst>
              <a:ext uri="{FF2B5EF4-FFF2-40B4-BE49-F238E27FC236}">
                <a16:creationId xmlns:a16="http://schemas.microsoft.com/office/drawing/2014/main" id="{DE28CF8A-3BD9-A1BF-510D-92BCE17AE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156"/>
            <a:ext cx="914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Modules description:</a:t>
            </a:r>
            <a:endParaRPr lang="en-US" altLang="en-US" sz="7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F37D595-7F59-8864-BCAA-FF7D6E4F0780}"/>
              </a:ext>
            </a:extLst>
          </p:cNvPr>
          <p:cNvSpPr txBox="1">
            <a:spLocks/>
          </p:cNvSpPr>
          <p:nvPr/>
        </p:nvSpPr>
        <p:spPr>
          <a:xfrm>
            <a:off x="165100" y="914400"/>
            <a:ext cx="8763000" cy="3479800"/>
          </a:xfrm>
          <a:prstGeom prst="rect">
            <a:avLst/>
          </a:prstGeom>
        </p:spPr>
        <p:txBody>
          <a:bodyPr spcFirstLastPara="1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lang="en-US" kern="0" dirty="0">
              <a:solidFill>
                <a:srgbClr val="FF0000"/>
              </a:solidFill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609315-569F-B797-E758-AAB120FE1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862615"/>
              </p:ext>
            </p:extLst>
          </p:nvPr>
        </p:nvGraphicFramePr>
        <p:xfrm>
          <a:off x="215900" y="749301"/>
          <a:ext cx="7438962" cy="442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218">
                  <a:extLst>
                    <a:ext uri="{9D8B030D-6E8A-4147-A177-3AD203B41FA5}">
                      <a16:colId xmlns:a16="http://schemas.microsoft.com/office/drawing/2014/main" val="3900833814"/>
                    </a:ext>
                  </a:extLst>
                </a:gridCol>
                <a:gridCol w="5571744">
                  <a:extLst>
                    <a:ext uri="{9D8B030D-6E8A-4147-A177-3AD203B41FA5}">
                      <a16:colId xmlns:a16="http://schemas.microsoft.com/office/drawing/2014/main" val="4138509665"/>
                    </a:ext>
                  </a:extLst>
                </a:gridCol>
              </a:tblGrid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8831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 presentation &amp; response delivery layer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945534"/>
                  </a:ext>
                </a:extLst>
              </a:tr>
              <a:tr h="356200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balancing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2954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Fraud score </a:t>
                      </a:r>
                      <a:br>
                        <a:rPr lang="en-US" dirty="0"/>
                      </a:br>
                      <a:r>
                        <a:rPr lang="en-US" dirty="0"/>
                        <a:t>• Risk label (High / Low) </a:t>
                      </a:r>
                      <a:br>
                        <a:rPr lang="en-US" dirty="0"/>
                      </a:br>
                      <a:r>
                        <a:rPr lang="en-US" dirty="0"/>
                        <a:t>• SHAP explainability values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655858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Response formatting (JSON) </a:t>
                      </a:r>
                      <a:br>
                        <a:rPr lang="en-US" dirty="0"/>
                      </a:br>
                      <a:r>
                        <a:rPr lang="en-US" dirty="0"/>
                        <a:t>• Risk visualization generation </a:t>
                      </a:r>
                      <a:br>
                        <a:rPr lang="en-US" dirty="0"/>
                      </a:br>
                      <a:r>
                        <a:rPr lang="en-US" dirty="0"/>
                        <a:t>• Explanation mapping to features </a:t>
                      </a:r>
                      <a:br>
                        <a:rPr lang="en-US" dirty="0"/>
                      </a:br>
                      <a:r>
                        <a:rPr lang="en-US" dirty="0"/>
                        <a:t>• API response generation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931140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Tools /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Flask Response Handler </a:t>
                      </a:r>
                      <a:br>
                        <a:rPr lang="en-US" dirty="0"/>
                      </a:br>
                      <a:r>
                        <a:rPr lang="en-US" dirty="0"/>
                        <a:t>• React.js (UI display) </a:t>
                      </a:r>
                      <a:br>
                        <a:rPr lang="en-US" dirty="0"/>
                      </a:br>
                      <a:r>
                        <a:rPr lang="en-US" dirty="0"/>
                        <a:t>• Chart.js / Visualization libraries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466133"/>
                  </a:ext>
                </a:extLst>
              </a:tr>
              <a:tr h="702641">
                <a:tc>
                  <a:txBody>
                    <a:bodyPr/>
                    <a:lstStyle/>
                    <a:p>
                      <a:r>
                        <a:rPr lang="en-IN" dirty="0"/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• Final fraud detection result </a:t>
                      </a:r>
                      <a:br>
                        <a:rPr lang="en-US" dirty="0"/>
                      </a:br>
                      <a:r>
                        <a:rPr lang="en-US" dirty="0"/>
                        <a:t>• Risk classification display </a:t>
                      </a:r>
                      <a:br>
                        <a:rPr lang="en-US" dirty="0"/>
                      </a:br>
                      <a:r>
                        <a:rPr lang="en-US" dirty="0"/>
                        <a:t>• Explainability dashboard </a:t>
                      </a:r>
                      <a:br>
                        <a:rPr lang="en-US" dirty="0"/>
                      </a:br>
                      <a:r>
                        <a:rPr lang="en-US" dirty="0"/>
                        <a:t>• Structured API response to frontend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889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874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2E89C-85DE-2095-F9D4-1196935D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5918-D58C-D4B6-2F61-5AA2CB5DB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49288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IN" dirty="0"/>
              <a:t>Expected outcomes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DE8F6-54A0-2EFD-59F1-0BF05125E2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0500" y="550014"/>
            <a:ext cx="8763000" cy="4593486"/>
          </a:xfrm>
        </p:spPr>
        <p:txBody>
          <a:bodyPr/>
          <a:lstStyle/>
          <a:p>
            <a:pPr marL="228600" indent="0" algn="just">
              <a:lnSpc>
                <a:spcPct val="150000"/>
              </a:lnSpc>
            </a:pPr>
            <a:r>
              <a:rPr lang="en-US" sz="1400" b="1" dirty="0"/>
              <a:t>High Detection Accuracy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Achieve </a:t>
            </a:r>
            <a:r>
              <a:rPr lang="en-US" sz="1400" b="1" dirty="0"/>
              <a:t>≥85% classification accuracy</a:t>
            </a:r>
            <a:r>
              <a:rPr lang="en-US" sz="1400" dirty="0"/>
              <a:t> on the fraud transaction dataset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Effectively distinguish between fraudulent and legitimate transactions</a:t>
            </a:r>
          </a:p>
          <a:p>
            <a:pPr marL="228600" indent="0" algn="just">
              <a:lnSpc>
                <a:spcPct val="150000"/>
              </a:lnSpc>
            </a:pPr>
            <a:r>
              <a:rPr lang="en-US" sz="1400" b="1" dirty="0"/>
              <a:t>Robust Fraud Detection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Capable of handling </a:t>
            </a:r>
            <a:r>
              <a:rPr lang="en-US" sz="1400" b="1" dirty="0"/>
              <a:t>imbalanced datasets</a:t>
            </a:r>
            <a:r>
              <a:rPr lang="en-US" sz="1400" dirty="0"/>
              <a:t> with low fraud occurrence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Maintains stable performance across varying fraud ratios</a:t>
            </a:r>
          </a:p>
          <a:p>
            <a:pPr marL="228600" indent="0" algn="just">
              <a:lnSpc>
                <a:spcPct val="150000"/>
              </a:lnSpc>
            </a:pPr>
            <a:r>
              <a:rPr lang="en-US" sz="1400" b="1" dirty="0"/>
              <a:t>Interpretability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Supports clear understanding of model decisions using standard evaluation metrics</a:t>
            </a:r>
          </a:p>
          <a:p>
            <a:pPr marL="228600" indent="0" algn="just">
              <a:lnSpc>
                <a:spcPct val="150000"/>
              </a:lnSpc>
            </a:pPr>
            <a:r>
              <a:rPr lang="en-US" sz="1400" b="1" dirty="0"/>
              <a:t>Practical Applicability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Applicable to real-world financial systems</a:t>
            </a:r>
          </a:p>
          <a:p>
            <a:pPr marL="5143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Can be extended to real anonymized datasets without major modifications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2D63885F-B9BD-EBE2-340A-22F0FC4186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A2FB1D4-4E4D-4581-89B2-8F96AFD91271}" type="slidenum">
              <a:rPr lang="en-US" altLang="en-US" sz="1000" smtClean="0">
                <a:solidFill>
                  <a:srgbClr val="595959"/>
                </a:solidFill>
              </a:rPr>
              <a:pPr/>
              <a:t>36</a:t>
            </a:fld>
            <a:endParaRPr lang="en-US" altLang="en-US" sz="10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723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7A04FF15-7FBD-E39E-5752-EE62519D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DD0B272E-A254-5C4C-1E19-D8888CB2143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References: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5FF89DDA-8225-B3D0-C1F9-D490BBB1912F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279FA729-90EA-EB63-86E6-4B9A5DEBA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649287"/>
            <a:ext cx="9144000" cy="469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6600" dirty="0"/>
              <a:t>[1] M. Rezvani Nejad, A. Khosravi, and S. </a:t>
            </a:r>
            <a:r>
              <a:rPr lang="en-IN" sz="6600" dirty="0" err="1"/>
              <a:t>Nahavandi</a:t>
            </a:r>
            <a:r>
              <a:rPr lang="en-IN" sz="6600" dirty="0"/>
              <a:t>, “Improved VAE-GAN for credit card fraud detection,” </a:t>
            </a:r>
            <a:r>
              <a:rPr lang="en-IN" sz="6600" i="1" dirty="0"/>
              <a:t>IEEE Access</a:t>
            </a:r>
            <a:r>
              <a:rPr lang="en-IN" sz="6600" dirty="0"/>
              <a:t>, vol. 11, pp. 112345–112358, 2023.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[2] U. Fiore, F. Palmieri, A. Castiglione, and A. De Santis, “Using generative adversarial networks for improving classification effectiveness in credit card fraud detection,” </a:t>
            </a:r>
            <a:r>
              <a:rPr lang="en-IN" sz="6600" i="1" dirty="0"/>
              <a:t>IEEE Access</a:t>
            </a:r>
            <a:r>
              <a:rPr lang="en-IN" sz="6600" dirty="0"/>
              <a:t>, vol. 11, pp. 130232–130245, 2023.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[3] S. Li, S. B. </a:t>
            </a:r>
            <a:r>
              <a:rPr lang="en-IN" sz="6600" dirty="0" err="1"/>
              <a:t>Hulayyil</a:t>
            </a:r>
            <a:r>
              <a:rPr lang="en-IN" sz="6600" dirty="0"/>
              <a:t>, and N. Saxena, “Credit card fraud detection using conditional generative adversarial networks,” </a:t>
            </a:r>
            <a:r>
              <a:rPr lang="en-IN" sz="6600" i="1" dirty="0"/>
              <a:t>IEEE Access</a:t>
            </a:r>
            <a:r>
              <a:rPr lang="en-IN" sz="6600" dirty="0"/>
              <a:t>, vol. 11, pp. 98765–98778, 2023.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[4] D. </a:t>
            </a:r>
            <a:r>
              <a:rPr lang="en-IN" sz="6600" dirty="0" err="1"/>
              <a:t>Hirnschall</a:t>
            </a:r>
            <a:r>
              <a:rPr lang="en-IN" sz="6600" dirty="0"/>
              <a:t>, “Semi-supervised generative adversarial networks for credit card fraud detection,” </a:t>
            </a:r>
            <a:r>
              <a:rPr lang="en-IN" sz="6600" i="1" dirty="0"/>
              <a:t>IEEE Transactions on Artificial Intelligence</a:t>
            </a:r>
            <a:r>
              <a:rPr lang="en-IN" sz="6600" dirty="0"/>
              <a:t>, early access, 2025.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[5] J. Ge and Y. Chen, “Gated attention-based generative adversarial networks for financial fraud detection,” </a:t>
            </a:r>
            <a:r>
              <a:rPr lang="en-IN" sz="6600" i="1" dirty="0"/>
              <a:t>IEEE Access</a:t>
            </a:r>
            <a:r>
              <a:rPr lang="en-IN" sz="6600" dirty="0"/>
              <a:t>, vol. 12, pp. 84521–84534, 2024.</a:t>
            </a:r>
          </a:p>
          <a:p>
            <a:pPr algn="just">
              <a:lnSpc>
                <a:spcPct val="170000"/>
              </a:lnSpc>
            </a:pPr>
            <a:endParaRPr lang="en-IN" sz="6400" dirty="0"/>
          </a:p>
        </p:txBody>
      </p:sp>
    </p:spTree>
    <p:extLst>
      <p:ext uri="{BB962C8B-B14F-4D97-AF65-F5344CB8AC3E}">
        <p14:creationId xmlns:p14="http://schemas.microsoft.com/office/powerpoint/2010/main" val="937086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6ECA275E-693B-70CD-9A2B-D8DB0F25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93D47430-240A-E6F8-AFD1-2F9A0D17378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References: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2086CAF8-15BC-9C2C-D54C-C348C34E73C9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0DBF235E-FDDB-BF21-1824-AF35F949E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649287"/>
            <a:ext cx="9144000" cy="469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6400" dirty="0"/>
              <a:t>[6] T. Chen and C. </a:t>
            </a:r>
            <a:r>
              <a:rPr lang="en-IN" sz="6400" dirty="0" err="1"/>
              <a:t>Guestrin</a:t>
            </a:r>
            <a:r>
              <a:rPr lang="en-IN" sz="6400" dirty="0"/>
              <a:t>, “</a:t>
            </a:r>
            <a:r>
              <a:rPr lang="en-IN" sz="6400" dirty="0" err="1"/>
              <a:t>XGBoost</a:t>
            </a:r>
            <a:r>
              <a:rPr lang="en-IN" sz="6400" dirty="0"/>
              <a:t>: A scalable tree boosting system,” in </a:t>
            </a:r>
            <a:r>
              <a:rPr lang="en-IN" sz="6400" i="1" dirty="0"/>
              <a:t>Proc. 22nd ACM SIGKDD Int. Conf. Knowledge Discovery and Data Mining (KDD)</a:t>
            </a:r>
            <a:r>
              <a:rPr lang="en-IN" sz="6400" dirty="0"/>
              <a:t>, San Francisco, CA, USA, 2016, pp. 785–794.</a:t>
            </a:r>
          </a:p>
          <a:p>
            <a:pPr algn="just">
              <a:lnSpc>
                <a:spcPct val="170000"/>
              </a:lnSpc>
            </a:pPr>
            <a:r>
              <a:rPr lang="en-IN" sz="6400" dirty="0"/>
              <a:t>[7] F. </a:t>
            </a:r>
            <a:r>
              <a:rPr lang="en-IN" sz="6400" dirty="0" err="1"/>
              <a:t>Carcillo</a:t>
            </a:r>
            <a:r>
              <a:rPr lang="en-IN" sz="6400" dirty="0"/>
              <a:t>, Y.-A. Bontempi, and G. </a:t>
            </a:r>
            <a:r>
              <a:rPr lang="en-IN" sz="6400" dirty="0" err="1"/>
              <a:t>Snoeck</a:t>
            </a:r>
            <a:r>
              <a:rPr lang="en-IN" sz="6400" dirty="0"/>
              <a:t>, “Scarff: A scalable framework for fraud detection with imbalanced data,” in </a:t>
            </a:r>
            <a:r>
              <a:rPr lang="en-IN" sz="6400" i="1" dirty="0"/>
              <a:t>Proc. IEEE Int. Conf. Data Science and Advanced Analytics (DSAA)</a:t>
            </a:r>
            <a:r>
              <a:rPr lang="en-IN" sz="6400" dirty="0"/>
              <a:t>, 2023, pp. 1–10.</a:t>
            </a:r>
          </a:p>
          <a:p>
            <a:pPr algn="just">
              <a:lnSpc>
                <a:spcPct val="170000"/>
              </a:lnSpc>
            </a:pPr>
            <a:r>
              <a:rPr lang="en-IN" sz="6400" dirty="0"/>
              <a:t>[8] A. Dal </a:t>
            </a:r>
            <a:r>
              <a:rPr lang="en-IN" sz="6400" dirty="0" err="1"/>
              <a:t>Pozzolo</a:t>
            </a:r>
            <a:r>
              <a:rPr lang="en-IN" sz="6400" dirty="0"/>
              <a:t> and G. Bontempi, “Adversarial drift detection in credit card fraud,” </a:t>
            </a:r>
            <a:r>
              <a:rPr lang="en-IN" sz="6400" i="1" dirty="0"/>
              <a:t>IEEE Transactions on Neural Networks and Learning Systems</a:t>
            </a:r>
            <a:r>
              <a:rPr lang="en-IN" sz="6400" dirty="0"/>
              <a:t>, vol. 33, no. 6, pp. 2424–2436, 2022.</a:t>
            </a:r>
          </a:p>
          <a:p>
            <a:pPr algn="just">
              <a:lnSpc>
                <a:spcPct val="170000"/>
              </a:lnSpc>
            </a:pPr>
            <a:r>
              <a:rPr lang="en-IN" sz="6400" dirty="0"/>
              <a:t>[9] T. Duan, A. </a:t>
            </a:r>
            <a:r>
              <a:rPr lang="en-IN" sz="6400" dirty="0" err="1"/>
              <a:t>Gamarnik</a:t>
            </a:r>
            <a:r>
              <a:rPr lang="en-IN" sz="6400" dirty="0"/>
              <a:t>, V. Li, and A. V. </a:t>
            </a:r>
            <a:r>
              <a:rPr lang="en-IN" sz="6400" dirty="0" err="1"/>
              <a:t>Rakhlin</a:t>
            </a:r>
            <a:r>
              <a:rPr lang="en-IN" sz="6400" dirty="0"/>
              <a:t>, “</a:t>
            </a:r>
            <a:r>
              <a:rPr lang="en-IN" sz="6400" dirty="0" err="1"/>
              <a:t>NGBoost</a:t>
            </a:r>
            <a:r>
              <a:rPr lang="en-IN" sz="6400" dirty="0"/>
              <a:t>: Natural gradient boosting for probabilistic prediction,” in </a:t>
            </a:r>
            <a:r>
              <a:rPr lang="en-IN" sz="6400" i="1" dirty="0"/>
              <a:t>Proc. 37th Int. Conf. Machine Learning (ICML)</a:t>
            </a:r>
            <a:r>
              <a:rPr lang="en-IN" sz="6400" dirty="0"/>
              <a:t>, 2020, pp. 2690–2700.</a:t>
            </a:r>
          </a:p>
          <a:p>
            <a:pPr algn="just">
              <a:lnSpc>
                <a:spcPct val="170000"/>
              </a:lnSpc>
            </a:pPr>
            <a:r>
              <a:rPr lang="en-IN" sz="6400" dirty="0"/>
              <a:t>[10] Y. Zhao, J. Wang, and H. Liu, “Probabilistic fraud detection using </a:t>
            </a:r>
            <a:r>
              <a:rPr lang="en-IN" sz="6400" dirty="0" err="1"/>
              <a:t>NGBoost</a:t>
            </a:r>
            <a:r>
              <a:rPr lang="en-IN" sz="6400" dirty="0"/>
              <a:t>,” </a:t>
            </a:r>
            <a:r>
              <a:rPr lang="en-IN" sz="6400" i="1" dirty="0"/>
              <a:t>IEEE Access</a:t>
            </a:r>
            <a:r>
              <a:rPr lang="en-IN" sz="6400" dirty="0"/>
              <a:t>, vol. 11, pp. 45678–45690, 2023.</a:t>
            </a:r>
          </a:p>
          <a:p>
            <a:pPr>
              <a:lnSpc>
                <a:spcPct val="170000"/>
              </a:lnSpc>
            </a:pPr>
            <a:endParaRPr lang="en-IN" sz="6400" dirty="0"/>
          </a:p>
        </p:txBody>
      </p:sp>
    </p:spTree>
    <p:extLst>
      <p:ext uri="{BB962C8B-B14F-4D97-AF65-F5344CB8AC3E}">
        <p14:creationId xmlns:p14="http://schemas.microsoft.com/office/powerpoint/2010/main" val="1169275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>
          <a:extLst>
            <a:ext uri="{FF2B5EF4-FFF2-40B4-BE49-F238E27FC236}">
              <a16:creationId xmlns:a16="http://schemas.microsoft.com/office/drawing/2014/main" id="{62052012-78EA-408D-056D-CEB119CD1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B8E4C8D0-FCEA-1E15-0411-50ADD91B46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 dirty="0"/>
              <a:t>References:</a:t>
            </a:r>
            <a:endParaRPr dirty="0"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07166F64-FA02-B448-FD9F-7D0DC888AFA7}"/>
              </a:ext>
            </a:extLst>
          </p:cNvPr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0FD81F29-3356-57E5-62D1-E42C26041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649287"/>
            <a:ext cx="9144000" cy="469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6600" dirty="0"/>
              <a:t>[11] N. V. Chawla, K. W. Bowyer, L. O. Hall, and W. P. </a:t>
            </a:r>
            <a:r>
              <a:rPr lang="en-IN" sz="6600" dirty="0" err="1"/>
              <a:t>Kegelmeyer</a:t>
            </a:r>
            <a:r>
              <a:rPr lang="en-IN" sz="6600" dirty="0"/>
              <a:t>, “SMOTE: Synthetic minority over-sampling technique,” </a:t>
            </a:r>
            <a:r>
              <a:rPr lang="en-IN" sz="6600" i="1" dirty="0"/>
              <a:t>Journal of Artificial Intelligence Research</a:t>
            </a:r>
            <a:r>
              <a:rPr lang="en-IN" sz="6600" dirty="0"/>
              <a:t>, vol. 16, pp. 321–357, 2002.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[12] H. He and E. A. Garcia, “Learning from imbalanced data,” </a:t>
            </a:r>
            <a:r>
              <a:rPr lang="en-IN" sz="6600" i="1" dirty="0"/>
              <a:t>IEEE Transactions on Knowledge and Data Engineering</a:t>
            </a:r>
            <a:r>
              <a:rPr lang="en-IN" sz="6600" dirty="0"/>
              <a:t>, vol. 21, no. 9, pp. 1263–1284, 2009.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[13] S. Li, S. B. </a:t>
            </a:r>
            <a:r>
              <a:rPr lang="en-IN" sz="6600" dirty="0" err="1"/>
              <a:t>Hulayyil</a:t>
            </a:r>
            <a:r>
              <a:rPr lang="en-IN" sz="6600" dirty="0"/>
              <a:t>, and N. Saxena, “Explainable AI-based fraud and intrusion detection in IoT systems,” </a:t>
            </a:r>
            <a:r>
              <a:rPr lang="en-IN" sz="6600" i="1" dirty="0"/>
              <a:t>IEEE Internet of Things Journal</a:t>
            </a:r>
            <a:r>
              <a:rPr lang="en-IN" sz="6600" dirty="0"/>
              <a:t>, early access, 2025.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[14] D. Gaspar, P. Silva, and C. Silva, “Explainable AI for intrusion detection systems: SHAP applicability on multi-layer perceptron,” </a:t>
            </a:r>
            <a:r>
              <a:rPr lang="en-IN" sz="6600" i="1" dirty="0"/>
              <a:t>IEEE Access</a:t>
            </a:r>
            <a:r>
              <a:rPr lang="en-IN" sz="6600" dirty="0"/>
              <a:t>, vol. 12, pp. 30164–30175, 2024.</a:t>
            </a:r>
          </a:p>
          <a:p>
            <a:pPr algn="just">
              <a:lnSpc>
                <a:spcPct val="170000"/>
              </a:lnSpc>
            </a:pPr>
            <a:r>
              <a:rPr lang="en-IN" sz="6600" dirty="0"/>
              <a:t>[15] Y. Xie, J. Wang, and H. Liu, “Learning transactional </a:t>
            </a:r>
            <a:r>
              <a:rPr lang="en-IN" sz="6600" dirty="0" err="1"/>
              <a:t>behavioral</a:t>
            </a:r>
            <a:r>
              <a:rPr lang="en-IN" sz="6600" dirty="0"/>
              <a:t> representations for credit card fraud detection,” </a:t>
            </a:r>
            <a:r>
              <a:rPr lang="en-IN" sz="6600" i="1" dirty="0"/>
              <a:t>IEEE Transactions on Neural Networks and Learning Systems</a:t>
            </a:r>
            <a:r>
              <a:rPr lang="en-IN" sz="6600" dirty="0"/>
              <a:t>, vol. 35, no. 4, pp. 5123–5136, 2024</a:t>
            </a:r>
          </a:p>
          <a:p>
            <a:pPr>
              <a:lnSpc>
                <a:spcPct val="170000"/>
              </a:lnSpc>
            </a:pPr>
            <a:endParaRPr lang="en-IN" sz="6400" dirty="0"/>
          </a:p>
        </p:txBody>
      </p:sp>
    </p:spTree>
    <p:extLst>
      <p:ext uri="{BB962C8B-B14F-4D97-AF65-F5344CB8AC3E}">
        <p14:creationId xmlns:p14="http://schemas.microsoft.com/office/powerpoint/2010/main" val="3498471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0" y="2252662"/>
            <a:ext cx="9144000" cy="84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5805</TotalTime>
  <Words>3710</Words>
  <Application>Microsoft Office PowerPoint</Application>
  <PresentationFormat>On-screen Show (16:9)</PresentationFormat>
  <Paragraphs>517</Paragraphs>
  <Slides>40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Times New Roman</vt:lpstr>
      <vt:lpstr>Wingdings</vt:lpstr>
      <vt:lpstr>2_Simple Light</vt:lpstr>
      <vt:lpstr>1_Simple Light</vt:lpstr>
      <vt:lpstr>    Gokaraju Rangaraju Institute of Engineering and Technology  (Autonomous) Department of Data Science  Mini Project Work (CSE(DS))</vt:lpstr>
      <vt:lpstr> UPI Transaction based Fraud Detection System using Generative AI and Machine Learning Techniques</vt:lpstr>
      <vt:lpstr>Introduction :</vt:lpstr>
      <vt:lpstr>CGAN Architecture: (Cont..)</vt:lpstr>
      <vt:lpstr>Literature review:</vt:lpstr>
      <vt:lpstr>Literature review:</vt:lpstr>
      <vt:lpstr>Literature review:</vt:lpstr>
      <vt:lpstr>Literature review:</vt:lpstr>
      <vt:lpstr>Literature review:</vt:lpstr>
      <vt:lpstr>Literature review:</vt:lpstr>
      <vt:lpstr>Literature review:</vt:lpstr>
      <vt:lpstr>Literature review:</vt:lpstr>
      <vt:lpstr>Literature Review Summery</vt:lpstr>
      <vt:lpstr>Literature Review Summery</vt:lpstr>
      <vt:lpstr>Literature Review Summery</vt:lpstr>
      <vt:lpstr>Literature Review Summery</vt:lpstr>
      <vt:lpstr>Literature Review Summery</vt:lpstr>
      <vt:lpstr>Research Gaps</vt:lpstr>
      <vt:lpstr>Problem statement</vt:lpstr>
      <vt:lpstr>Objectives of the project </vt:lpstr>
      <vt:lpstr>Proposed Solution</vt:lpstr>
      <vt:lpstr>PowerPoint Presentation</vt:lpstr>
      <vt:lpstr>Methodology / Algorithms</vt:lpstr>
      <vt:lpstr>Software and Hardware </vt:lpstr>
      <vt:lpstr>Datasets Details</vt:lpstr>
      <vt:lpstr>Datasets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outcomes</vt:lpstr>
      <vt:lpstr>References:</vt:lpstr>
      <vt:lpstr>References: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</dc:creator>
  <cp:lastModifiedBy>Nadeem MD</cp:lastModifiedBy>
  <cp:revision>65</cp:revision>
  <dcterms:modified xsi:type="dcterms:W3CDTF">2026-02-17T12:54:27Z</dcterms:modified>
</cp:coreProperties>
</file>