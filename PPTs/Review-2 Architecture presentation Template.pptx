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34"/>
  </p:notesMasterIdLst>
  <p:sldIdLst>
    <p:sldId id="282" r:id="rId3"/>
    <p:sldId id="257" r:id="rId4"/>
    <p:sldId id="292" r:id="rId5"/>
    <p:sldId id="310" r:id="rId6"/>
    <p:sldId id="293" r:id="rId7"/>
    <p:sldId id="294" r:id="rId8"/>
    <p:sldId id="295" r:id="rId9"/>
    <p:sldId id="296" r:id="rId10"/>
    <p:sldId id="297" r:id="rId11"/>
    <p:sldId id="311" r:id="rId12"/>
    <p:sldId id="312" r:id="rId13"/>
    <p:sldId id="313" r:id="rId14"/>
    <p:sldId id="315" r:id="rId15"/>
    <p:sldId id="316" r:id="rId16"/>
    <p:sldId id="317" r:id="rId17"/>
    <p:sldId id="318" r:id="rId18"/>
    <p:sldId id="319" r:id="rId19"/>
    <p:sldId id="300" r:id="rId20"/>
    <p:sldId id="301" r:id="rId21"/>
    <p:sldId id="302" r:id="rId22"/>
    <p:sldId id="284" r:id="rId23"/>
    <p:sldId id="280" r:id="rId24"/>
    <p:sldId id="285" r:id="rId25"/>
    <p:sldId id="309" r:id="rId26"/>
    <p:sldId id="281" r:id="rId27"/>
    <p:sldId id="304" r:id="rId28"/>
    <p:sldId id="305" r:id="rId29"/>
    <p:sldId id="276" r:id="rId30"/>
    <p:sldId id="289" r:id="rId31"/>
    <p:sldId id="314" r:id="rId32"/>
    <p:sldId id="264"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gZpxF7Zee30fhjMZJOO9uuOAEd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106" d="100"/>
          <a:sy n="106" d="100"/>
        </p:scale>
        <p:origin x="739"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Google Shape;51;p:notes">
            <a:extLst>
              <a:ext uri="{FF2B5EF4-FFF2-40B4-BE49-F238E27FC236}">
                <a16:creationId xmlns:a16="http://schemas.microsoft.com/office/drawing/2014/main" id="{97087682-E3C2-01CD-06F9-03A87A5C78B1}"/>
              </a:ext>
            </a:extLst>
          </p:cNvPr>
          <p:cNvSpPr>
            <a:spLocks noGrp="1" noRot="1" noChangeAspect="1" noTextEdit="1"/>
          </p:cNvSpPr>
          <p:nvPr>
            <p:ph type="sldImg" idx="2"/>
          </p:nvPr>
        </p:nvSpPr>
        <p:spPr>
          <a:noFill/>
          <a:ln>
            <a:headEnd/>
            <a:tailEnd/>
          </a:ln>
        </p:spPr>
      </p:sp>
      <p:sp>
        <p:nvSpPr>
          <p:cNvPr id="6147" name="Google Shape;52;p:notes">
            <a:extLst>
              <a:ext uri="{FF2B5EF4-FFF2-40B4-BE49-F238E27FC236}">
                <a16:creationId xmlns:a16="http://schemas.microsoft.com/office/drawing/2014/main" id="{5BEA381B-4395-8C12-695A-0027E38FC4E1}"/>
              </a:ext>
            </a:extLst>
          </p:cNvPr>
          <p:cNvSpPr txBox="1">
            <a:spLocks noGrp="1"/>
          </p:cNvSpPr>
          <p:nvPr>
            <p:ph type="body" idx="1"/>
          </p:nvPr>
        </p:nvSpPr>
        <p:spPr/>
        <p:txBody>
          <a:bodyPr/>
          <a:lstStyle/>
          <a:p>
            <a:pPr marL="0" indent="0" eaLnBrk="1" hangingPunct="1">
              <a:buSzPts val="1100"/>
            </a:pPr>
            <a:endParaRPr lang="en-US" altLang="en-US" sz="1100">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06BA5C60-1896-55A2-6DF1-C2E89BE7C18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A8ACA7A0-8B2C-DAC4-F020-7BD9F4495B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A634F269-C9B3-889B-A6A3-7249FAE30A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4541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9FAFE32-CEDA-A93C-E9A5-102F8B9AFCB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4F8909E9-26BB-F7A3-3DBE-79B4A7BF2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0A31E941-34CB-C6AD-A8EC-235E4F54B7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2412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4F274CC-CA44-A9D2-89AB-89D0D66EF45E}"/>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06123A3A-1061-2154-6ECA-88D9C7F2C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D961B195-B516-832B-628E-D88BC2494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037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B2B45215-ACC8-1047-5FAE-ABA1EB0BF354}"/>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F51F1245-6A7C-139D-77E5-DAFB381644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19AF9C96-FE9A-348C-28C5-459762D0F4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4532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6AF907A0-6677-E9B7-4209-14FBDD636538}"/>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5768FCE9-4E52-BAD9-8BD4-B01E1D4041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7920B1CD-5E2D-A775-1AA2-D61C0EBEFD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3609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80D00F6A-8887-15C7-5A62-45F7B0F0039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B88CDCE-FAEA-8662-1028-C6737794A8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E365FEA7-6F8B-1EDF-A94F-2B0635FEAD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55244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551F8562-DDE7-0A0C-3CD5-0FA33983CDAB}"/>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BFFC5690-9496-8C79-6545-9F46DECE0F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0675865A-E413-8130-C972-422C8A2468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5351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636E22EF-A3D0-46FA-E790-C7A93305D50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DC3078BF-9000-6E06-2D95-E287F00374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05D417F9-EA02-1AAF-810C-CAB963586D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9426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9CF63504-8C68-7DCA-E37D-0CA0C87AFB0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54C63972-51F3-FEF3-6988-D4CF99F307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F4105BE9-58BF-7084-7241-7F48B55580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1428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CAA1D8C8-E5FB-49B8-2844-FBD0463A12E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C1E2E304-B8E6-8FA0-436B-C44B4D2B5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48907E54-98A0-29F9-4262-E0209BD26A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8512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37CA00E1-8294-C57C-FE6F-5903F559415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95E97D6-30C2-C8A4-5778-9FA1ADDA4D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D8C7529-5149-BFE0-CED7-557988A9A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1512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49C73F61-D314-3579-A314-920945AE70CB}"/>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72A95C07-12CE-932F-A6FF-FA7F801A29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DC556461-BC14-1014-04EF-A141324B7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10379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8AC495E5-0F9C-781E-F5D8-804476422D87}"/>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CC800358-241D-CECB-D6D6-9ABE7B5AE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60A61670-FAFB-8431-A2B3-4C121D6EED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5219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E99AB8A6-EF88-6D3E-266D-8A0934AE9B91}"/>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080EC705-5B07-077D-37D9-B7125B1A5B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0CFC9B51-169B-24CB-21E9-69C3840947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8687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userDrawn="1">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9144000" cy="649693"/>
          </a:xfrm>
          <a:prstGeom prst="rect">
            <a:avLst/>
          </a:prstGeom>
        </p:spPr>
        <p:txBody>
          <a:bodyPr spcFirstLastPara="1">
            <a:normAutofit/>
          </a:bodyPr>
          <a:lstStyle>
            <a:lvl1pPr lvl="0" algn="ctr">
              <a:spcBef>
                <a:spcPts val="0"/>
              </a:spcBef>
              <a:spcAft>
                <a:spcPts val="0"/>
              </a:spcAft>
              <a:buSzPts val="5200"/>
              <a:buNone/>
              <a:tabLst>
                <a:tab pos="4127500" algn="l"/>
              </a:tabLst>
              <a:defRPr sz="3200" b="1" baseline="0">
                <a:latin typeface="+mj-l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3" name="Text Placeholder 2"/>
          <p:cNvSpPr>
            <a:spLocks noGrp="1"/>
          </p:cNvSpPr>
          <p:nvPr>
            <p:ph type="body" sz="quarter" idx="13"/>
          </p:nvPr>
        </p:nvSpPr>
        <p:spPr>
          <a:xfrm>
            <a:off x="165100" y="914400"/>
            <a:ext cx="8763000" cy="3479800"/>
          </a:xfrm>
        </p:spPr>
        <p:txBody>
          <a:bodyPr/>
          <a:lstStyle>
            <a:lvl1pPr>
              <a:defRPr sz="2400">
                <a:latin typeface="+mn-lt"/>
              </a:defRPr>
            </a:lvl1pPr>
            <a:lvl2pPr>
              <a:defRPr sz="2200">
                <a:latin typeface="+mn-lt"/>
              </a:defRPr>
            </a:lvl2pPr>
            <a:lvl3pPr>
              <a:defRPr sz="2200">
                <a:latin typeface="+mn-lt"/>
              </a:defRPr>
            </a:lvl3pPr>
            <a:lvl4pPr>
              <a:defRPr sz="2000">
                <a:latin typeface="+mn-lt"/>
              </a:defRPr>
            </a:lvl4pPr>
            <a:lvl5pPr>
              <a:defRPr sz="20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12;p2">
            <a:extLst>
              <a:ext uri="{FF2B5EF4-FFF2-40B4-BE49-F238E27FC236}">
                <a16:creationId xmlns:a16="http://schemas.microsoft.com/office/drawing/2014/main" id="{79D5018C-57F8-566E-E5B7-23C181761D73}"/>
              </a:ext>
            </a:extLst>
          </p:cNvPr>
          <p:cNvSpPr txBox="1">
            <a:spLocks noGrp="1"/>
          </p:cNvSpPr>
          <p:nvPr>
            <p:ph type="sldNum" idx="14"/>
          </p:nvPr>
        </p:nvSpPr>
        <p:spPr/>
        <p:txBody>
          <a:bodyPr/>
          <a:lstStyle>
            <a:lvl1pPr>
              <a:defRPr/>
            </a:lvl1pPr>
          </a:lstStyle>
          <a:p>
            <a:pPr>
              <a:defRPr/>
            </a:pPr>
            <a:fld id="{EF26C623-DE27-4A99-8424-AFD36C142E5A}"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60F15494-8374-819B-5661-D082F4F305F8}"/>
              </a:ext>
            </a:extLst>
          </p:cNvPr>
          <p:cNvSpPr>
            <a:spLocks noGrp="1"/>
          </p:cNvSpPr>
          <p:nvPr>
            <p:ph type="ftr" sz="quarter" idx="15"/>
          </p:nvPr>
        </p:nvSpPr>
        <p:spPr bwMode="auto">
          <a:xfrm>
            <a:off x="2706688" y="4760913"/>
            <a:ext cx="3538537" cy="198437"/>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Font typeface="Arial" pitchFamily="34" charset="0"/>
              <a:buNone/>
              <a:defRPr sz="900" b="1">
                <a:solidFill>
                  <a:srgbClr val="898989"/>
                </a:solidFill>
              </a:defRPr>
            </a:lvl1pPr>
          </a:lstStyle>
          <a:p>
            <a:pPr>
              <a:defRPr/>
            </a:pPr>
            <a:r>
              <a:rPr lang="en-US"/>
              <a:t>Department of CSE (AI &amp; ML) - Review 0- Abstract Selection</a:t>
            </a:r>
          </a:p>
        </p:txBody>
      </p:sp>
    </p:spTree>
    <p:extLst>
      <p:ext uri="{BB962C8B-B14F-4D97-AF65-F5344CB8AC3E}">
        <p14:creationId xmlns:p14="http://schemas.microsoft.com/office/powerpoint/2010/main" val="112121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443811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3"/>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15"/>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15"/>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15"/>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 id="214748365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Google Shape;54;p13">
            <a:extLst>
              <a:ext uri="{FF2B5EF4-FFF2-40B4-BE49-F238E27FC236}">
                <a16:creationId xmlns:a16="http://schemas.microsoft.com/office/drawing/2014/main" id="{BD528D64-C7FC-9868-A69A-72624342A157}"/>
              </a:ext>
            </a:extLst>
          </p:cNvPr>
          <p:cNvSpPr txBox="1">
            <a:spLocks noGrp="1"/>
          </p:cNvSpPr>
          <p:nvPr>
            <p:ph type="ctrTitle"/>
          </p:nvPr>
        </p:nvSpPr>
        <p:spPr>
          <a:xfrm>
            <a:off x="-9525" y="738188"/>
            <a:ext cx="9144000" cy="1712912"/>
          </a:xfrm>
        </p:spPr>
        <p:txBody>
          <a:bodyPr anchor="b">
            <a:normAutofit fontScale="90000"/>
          </a:bodyPr>
          <a:lstStyle>
            <a:lvl1pPr>
              <a:tabLst>
                <a:tab pos="4127500" algn="l"/>
              </a:tabLst>
              <a:defRPr sz="1400">
                <a:solidFill>
                  <a:srgbClr val="000000"/>
                </a:solidFill>
                <a:latin typeface="Arial" charset="0"/>
                <a:cs typeface="Arial" charset="0"/>
                <a:sym typeface="Arial" charset="0"/>
              </a:defRPr>
            </a:lvl1pPr>
            <a:lvl2pPr>
              <a:tabLst>
                <a:tab pos="4127500" algn="l"/>
              </a:tabLst>
              <a:defRPr sz="1400">
                <a:solidFill>
                  <a:srgbClr val="000000"/>
                </a:solidFill>
                <a:latin typeface="Arial" charset="0"/>
                <a:cs typeface="Arial" charset="0"/>
                <a:sym typeface="Arial" charset="0"/>
              </a:defRPr>
            </a:lvl2pPr>
            <a:lvl3pPr>
              <a:tabLst>
                <a:tab pos="4127500" algn="l"/>
              </a:tabLst>
              <a:defRPr sz="1400">
                <a:solidFill>
                  <a:srgbClr val="000000"/>
                </a:solidFill>
                <a:latin typeface="Arial" charset="0"/>
                <a:cs typeface="Arial" charset="0"/>
                <a:sym typeface="Arial" charset="0"/>
              </a:defRPr>
            </a:lvl3pPr>
            <a:lvl4pPr>
              <a:tabLst>
                <a:tab pos="4127500" algn="l"/>
              </a:tabLst>
              <a:defRPr sz="1400">
                <a:solidFill>
                  <a:srgbClr val="000000"/>
                </a:solidFill>
                <a:latin typeface="Arial" charset="0"/>
                <a:cs typeface="Arial" charset="0"/>
                <a:sym typeface="Arial" charset="0"/>
              </a:defRPr>
            </a:lvl4pPr>
            <a:lvl5pPr>
              <a:tabLst>
                <a:tab pos="4127500" algn="l"/>
              </a:tabLst>
              <a:defRPr sz="1400">
                <a:solidFill>
                  <a:srgbClr val="000000"/>
                </a:solidFill>
                <a:latin typeface="Arial" charset="0"/>
                <a:cs typeface="Arial" charset="0"/>
                <a:sym typeface="Arial" charset="0"/>
              </a:defRPr>
            </a:lvl5pPr>
            <a:lvl6pPr marL="457200" eaLnBrk="0" fontAlgn="base" hangingPunct="0">
              <a:spcBef>
                <a:spcPct val="0"/>
              </a:spcBef>
              <a:spcAft>
                <a:spcPct val="0"/>
              </a:spcAft>
              <a:buFont typeface="Arial" charset="0"/>
              <a:tabLst>
                <a:tab pos="4127500" algn="l"/>
              </a:tabLst>
              <a:defRPr sz="1400">
                <a:solidFill>
                  <a:srgbClr val="000000"/>
                </a:solidFill>
                <a:latin typeface="Arial" charset="0"/>
                <a:cs typeface="Arial" charset="0"/>
                <a:sym typeface="Arial" charset="0"/>
              </a:defRPr>
            </a:lvl6pPr>
            <a:lvl7pPr marL="914400" eaLnBrk="0" fontAlgn="base" hangingPunct="0">
              <a:spcBef>
                <a:spcPct val="0"/>
              </a:spcBef>
              <a:spcAft>
                <a:spcPct val="0"/>
              </a:spcAft>
              <a:buFont typeface="Arial" charset="0"/>
              <a:tabLst>
                <a:tab pos="4127500" algn="l"/>
              </a:tabLst>
              <a:defRPr sz="1400">
                <a:solidFill>
                  <a:srgbClr val="000000"/>
                </a:solidFill>
                <a:latin typeface="Arial" charset="0"/>
                <a:cs typeface="Arial" charset="0"/>
                <a:sym typeface="Arial" charset="0"/>
              </a:defRPr>
            </a:lvl7pPr>
            <a:lvl8pPr marL="1371600" eaLnBrk="0" fontAlgn="base" hangingPunct="0">
              <a:spcBef>
                <a:spcPct val="0"/>
              </a:spcBef>
              <a:spcAft>
                <a:spcPct val="0"/>
              </a:spcAft>
              <a:buFont typeface="Arial" charset="0"/>
              <a:tabLst>
                <a:tab pos="4127500" algn="l"/>
              </a:tabLst>
              <a:defRPr sz="1400">
                <a:solidFill>
                  <a:srgbClr val="000000"/>
                </a:solidFill>
                <a:latin typeface="Arial" charset="0"/>
                <a:cs typeface="Arial" charset="0"/>
                <a:sym typeface="Arial" charset="0"/>
              </a:defRPr>
            </a:lvl8pPr>
            <a:lvl9pPr marL="1828800" eaLnBrk="0" fontAlgn="base" hangingPunct="0">
              <a:spcBef>
                <a:spcPct val="0"/>
              </a:spcBef>
              <a:spcAft>
                <a:spcPct val="0"/>
              </a:spcAft>
              <a:buFont typeface="Arial" charset="0"/>
              <a:tabLst>
                <a:tab pos="4127500" algn="l"/>
              </a:tabLst>
              <a:defRPr sz="1400">
                <a:solidFill>
                  <a:srgbClr val="000000"/>
                </a:solidFill>
                <a:latin typeface="Arial" charset="0"/>
                <a:cs typeface="Arial" charset="0"/>
                <a:sym typeface="Arial" charset="0"/>
              </a:defRPr>
            </a:lvl9pPr>
          </a:lstStyle>
          <a:p>
            <a:pPr eaLnBrk="1" hangingPunct="1">
              <a:spcBef>
                <a:spcPct val="0"/>
              </a:spcBef>
              <a:spcAft>
                <a:spcPct val="0"/>
              </a:spcAft>
              <a:defRPr/>
            </a:pP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000" dirty="0">
                <a:latin typeface="Times New Roman" pitchFamily="18" charset="0"/>
                <a:cs typeface="Times New Roman" pitchFamily="18" charset="0"/>
              </a:rPr>
              <a:t>Gokaraju Rangaraju Institute of Engineering and Technology </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(Autonomous)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Department of Data Science</a:t>
            </a:r>
            <a:br>
              <a:rPr lang="en-US" sz="2000" dirty="0">
                <a:latin typeface="Times New Roman" pitchFamily="18" charset="0"/>
                <a:cs typeface="Times New Roman" pitchFamily="18" charset="0"/>
              </a:rPr>
            </a:br>
            <a:br>
              <a:rPr lang="en-US" sz="2000" dirty="0">
                <a:latin typeface="Times New Roman" pitchFamily="18" charset="0"/>
                <a:cs typeface="Times New Roman" pitchFamily="18" charset="0"/>
              </a:rPr>
            </a:br>
            <a:r>
              <a:rPr lang="en-US" sz="2000" dirty="0">
                <a:solidFill>
                  <a:schemeClr val="dk1"/>
                </a:solidFill>
                <a:latin typeface="Times New Roman"/>
                <a:ea typeface="Times New Roman"/>
                <a:cs typeface="Times New Roman"/>
                <a:sym typeface="Times New Roman"/>
              </a:rPr>
              <a:t>M</a:t>
            </a:r>
            <a:r>
              <a:rPr lang="en-US" sz="2000" dirty="0">
                <a:solidFill>
                  <a:schemeClr val="dk1"/>
                </a:solidFill>
              </a:rPr>
              <a:t>ini</a:t>
            </a:r>
            <a:r>
              <a:rPr lang="en-US" sz="2000" dirty="0">
                <a:solidFill>
                  <a:schemeClr val="dk1"/>
                </a:solidFill>
                <a:latin typeface="Times New Roman"/>
                <a:ea typeface="Times New Roman"/>
                <a:cs typeface="Times New Roman"/>
                <a:sym typeface="Times New Roman"/>
              </a:rPr>
              <a:t> Project Work</a:t>
            </a:r>
            <a:br>
              <a:rPr lang="en-US" sz="2000" dirty="0">
                <a:solidFill>
                  <a:schemeClr val="dk1"/>
                </a:solidFill>
                <a:latin typeface="Times New Roman"/>
                <a:ea typeface="Times New Roman"/>
                <a:cs typeface="Times New Roman"/>
                <a:sym typeface="Times New Roman"/>
              </a:rPr>
            </a:br>
            <a:r>
              <a:rPr lang="en-US" sz="2000" dirty="0">
                <a:solidFill>
                  <a:schemeClr val="dk1"/>
                </a:solidFill>
                <a:latin typeface="Times New Roman"/>
                <a:ea typeface="Times New Roman"/>
                <a:cs typeface="Times New Roman"/>
                <a:sym typeface="Times New Roman"/>
              </a:rPr>
              <a:t>(CSE(DS))</a:t>
            </a:r>
            <a:endParaRPr lang="en-US" sz="2000" dirty="0">
              <a:latin typeface="Times New Roman" pitchFamily="18" charset="0"/>
              <a:cs typeface="Times New Roman" pitchFamily="18" charset="0"/>
            </a:endParaRPr>
          </a:p>
        </p:txBody>
      </p:sp>
      <p:sp>
        <p:nvSpPr>
          <p:cNvPr id="5123" name="Google Shape;55;p13">
            <a:extLst>
              <a:ext uri="{FF2B5EF4-FFF2-40B4-BE49-F238E27FC236}">
                <a16:creationId xmlns:a16="http://schemas.microsoft.com/office/drawing/2014/main" id="{10D8D452-EC88-2A25-A8BE-367FADA2D587}"/>
              </a:ext>
            </a:extLst>
          </p:cNvPr>
          <p:cNvSpPr txBox="1">
            <a:spLocks noGrp="1"/>
          </p:cNvSpPr>
          <p:nvPr>
            <p:ph type="subTitle" idx="4294967295"/>
          </p:nvPr>
        </p:nvSpPr>
        <p:spPr>
          <a:xfrm>
            <a:off x="9525" y="2571750"/>
            <a:ext cx="9144000" cy="523875"/>
          </a:xfrm>
        </p:spPr>
        <p:txBody>
          <a:bodyPr/>
          <a:lstStyle/>
          <a:p>
            <a:pPr marL="0" indent="0" algn="ctr" eaLnBrk="1" hangingPunct="1">
              <a:lnSpc>
                <a:spcPct val="115000"/>
              </a:lnSpc>
              <a:buClr>
                <a:srgbClr val="595959"/>
              </a:buClr>
              <a:buSzPts val="1800"/>
              <a:defRPr/>
            </a:pPr>
            <a:r>
              <a:rPr lang="en-US" altLang="en-US" sz="2200" b="1" dirty="0">
                <a:solidFill>
                  <a:schemeClr val="accent1">
                    <a:lumMod val="75000"/>
                  </a:schemeClr>
                </a:solidFill>
                <a:latin typeface="Times New Roman" panose="02020603050405020304" pitchFamily="18" charset="0"/>
                <a:cs typeface="Times New Roman" panose="02020603050405020304" pitchFamily="18" charset="0"/>
              </a:rPr>
              <a:t>Review2: Architecture Design Presentation</a:t>
            </a:r>
          </a:p>
          <a:p>
            <a:pPr marL="0" indent="0" algn="ctr" eaLnBrk="1" hangingPunct="1">
              <a:lnSpc>
                <a:spcPct val="115000"/>
              </a:lnSpc>
              <a:buClr>
                <a:srgbClr val="595959"/>
              </a:buClr>
              <a:buSzPts val="1800"/>
              <a:defRPr/>
            </a:pPr>
            <a:endParaRPr lang="en-US" altLang="en-US" sz="2800" b="1" dirty="0">
              <a:solidFill>
                <a:schemeClr val="tx1"/>
              </a:solidFill>
              <a:latin typeface="Times New Roman" panose="02020603050405020304" pitchFamily="18" charset="0"/>
              <a:cs typeface="Times New Roman" panose="02020603050405020304" pitchFamily="18" charset="0"/>
            </a:endParaRPr>
          </a:p>
        </p:txBody>
      </p:sp>
      <p:pic>
        <p:nvPicPr>
          <p:cNvPr id="5124" name="Picture 5" descr="Untitled-1 copy">
            <a:extLst>
              <a:ext uri="{FF2B5EF4-FFF2-40B4-BE49-F238E27FC236}">
                <a16:creationId xmlns:a16="http://schemas.microsoft.com/office/drawing/2014/main" id="{C7106773-7BED-7398-7571-2C608CA9B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562" t="23018" r="26994" b="21857"/>
          <a:stretch>
            <a:fillRect/>
          </a:stretch>
        </p:blipFill>
        <p:spPr bwMode="auto">
          <a:xfrm>
            <a:off x="4271963" y="114300"/>
            <a:ext cx="60483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Google Shape;30;p1">
            <a:extLst>
              <a:ext uri="{FF2B5EF4-FFF2-40B4-BE49-F238E27FC236}">
                <a16:creationId xmlns:a16="http://schemas.microsoft.com/office/drawing/2014/main" id="{745F6784-02FA-4358-2F68-4C27336EFE00}"/>
              </a:ext>
            </a:extLst>
          </p:cNvPr>
          <p:cNvSpPr txBox="1">
            <a:spLocks noChangeArrowheads="1"/>
          </p:cNvSpPr>
          <p:nvPr/>
        </p:nvSpPr>
        <p:spPr bwMode="auto">
          <a:xfrm>
            <a:off x="82550" y="3341942"/>
            <a:ext cx="4260850" cy="142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0">
              <a:buClr>
                <a:schemeClr val="dk1"/>
              </a:buClr>
              <a:buSzPts val="1600"/>
            </a:pPr>
            <a:r>
              <a:rPr lang="en-US" sz="1600" b="1" dirty="0">
                <a:solidFill>
                  <a:schemeClr val="dk1"/>
                </a:solidFill>
                <a:latin typeface="Times New Roman"/>
                <a:ea typeface="Times New Roman"/>
                <a:cs typeface="Times New Roman"/>
                <a:sym typeface="Times New Roman"/>
              </a:rPr>
              <a:t>Presented by:</a:t>
            </a:r>
            <a:endParaRPr lang="en-US" sz="1600" dirty="0">
              <a:solidFill>
                <a:schemeClr val="dk1"/>
              </a:solidFill>
            </a:endParaRPr>
          </a:p>
          <a:p>
            <a:pPr lvl="0">
              <a:buClr>
                <a:schemeClr val="dk1"/>
              </a:buClr>
              <a:buSzPts val="1600"/>
            </a:pPr>
            <a:r>
              <a:rPr lang="en-US" sz="1600" b="1" dirty="0">
                <a:solidFill>
                  <a:schemeClr val="dk1"/>
                </a:solidFill>
                <a:latin typeface="Times New Roman"/>
                <a:ea typeface="Times New Roman"/>
                <a:cs typeface="Times New Roman"/>
                <a:sym typeface="Times New Roman"/>
              </a:rPr>
              <a:t>1. Mr. Md. Shoaib Nadeem (2324167A0)</a:t>
            </a:r>
            <a:endParaRPr lang="en-US" sz="1600" dirty="0">
              <a:solidFill>
                <a:schemeClr val="dk1"/>
              </a:solidFill>
            </a:endParaRPr>
          </a:p>
          <a:p>
            <a:pPr lvl="0">
              <a:buClr>
                <a:schemeClr val="dk1"/>
              </a:buClr>
              <a:buSzPts val="1600"/>
            </a:pPr>
            <a:r>
              <a:rPr lang="en-US" sz="1600" b="1" dirty="0">
                <a:solidFill>
                  <a:schemeClr val="dk1"/>
                </a:solidFill>
                <a:latin typeface="Times New Roman"/>
                <a:ea typeface="Times New Roman"/>
                <a:cs typeface="Times New Roman"/>
                <a:sym typeface="Times New Roman"/>
              </a:rPr>
              <a:t>2. Mr. Vishal Abhishek (23241A6774)</a:t>
            </a:r>
            <a:endParaRPr lang="en-US" sz="1600" dirty="0">
              <a:solidFill>
                <a:schemeClr val="dk1"/>
              </a:solidFill>
            </a:endParaRPr>
          </a:p>
          <a:p>
            <a:pPr lvl="0">
              <a:buClr>
                <a:schemeClr val="dk1"/>
              </a:buClr>
              <a:buSzPts val="1600"/>
            </a:pPr>
            <a:r>
              <a:rPr lang="en-US" sz="1600" b="1" dirty="0">
                <a:solidFill>
                  <a:schemeClr val="dk1"/>
                </a:solidFill>
                <a:latin typeface="Times New Roman"/>
                <a:ea typeface="Times New Roman"/>
                <a:cs typeface="Times New Roman"/>
                <a:sym typeface="Times New Roman"/>
              </a:rPr>
              <a:t>3. Mr. Shiva Kumar (23241A6797)</a:t>
            </a:r>
            <a:endParaRPr lang="en-US" sz="1600" dirty="0">
              <a:solidFill>
                <a:schemeClr val="dk1"/>
              </a:solidFill>
            </a:endParaRPr>
          </a:p>
        </p:txBody>
      </p:sp>
      <p:sp>
        <p:nvSpPr>
          <p:cNvPr id="5126" name="Google Shape;31;p1">
            <a:extLst>
              <a:ext uri="{FF2B5EF4-FFF2-40B4-BE49-F238E27FC236}">
                <a16:creationId xmlns:a16="http://schemas.microsoft.com/office/drawing/2014/main" id="{05CFAC28-EFDD-8166-1A6E-E0E36983D9AD}"/>
              </a:ext>
            </a:extLst>
          </p:cNvPr>
          <p:cNvSpPr txBox="1">
            <a:spLocks noChangeArrowheads="1"/>
          </p:cNvSpPr>
          <p:nvPr/>
        </p:nvSpPr>
        <p:spPr bwMode="auto">
          <a:xfrm>
            <a:off x="5767388" y="3500438"/>
            <a:ext cx="3294062" cy="142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lvl="0">
              <a:lnSpc>
                <a:spcPct val="90000"/>
              </a:lnSpc>
              <a:buClr>
                <a:schemeClr val="dk1"/>
              </a:buClr>
              <a:buSzPts val="1600"/>
            </a:pPr>
            <a:r>
              <a:rPr lang="en-US" sz="1600" b="1" dirty="0">
                <a:solidFill>
                  <a:schemeClr val="dk1"/>
                </a:solidFill>
                <a:latin typeface="Times New Roman"/>
                <a:ea typeface="Times New Roman"/>
                <a:cs typeface="Times New Roman"/>
                <a:sym typeface="Times New Roman"/>
              </a:rPr>
              <a:t>Under the Guidance of:</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Name :Dr. M. Kiran Kumar</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Designation :Associate Professor</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Department : DS</a:t>
            </a:r>
            <a:endParaRPr lang="en-US" sz="1600" b="1" dirty="0">
              <a:solidFill>
                <a:schemeClr val="dk1"/>
              </a:solidFill>
              <a:latin typeface="Times New Roman"/>
              <a:ea typeface="Times New Roman"/>
              <a:cs typeface="Times New Roman"/>
              <a:sym typeface="Times New Roman"/>
            </a:endParaRPr>
          </a:p>
          <a:p>
            <a:pPr>
              <a:lnSpc>
                <a:spcPct val="90000"/>
              </a:lnSpc>
              <a:buClr>
                <a:srgbClr val="006600"/>
              </a:buClr>
              <a:buSzPts val="1600"/>
              <a:buFont typeface="Times New Roman" panose="02020603050405020304" pitchFamily="18" charset="0"/>
              <a:buNone/>
            </a:pPr>
            <a:endParaRPr lang="en-US" altLang="en-US" sz="1600" b="1"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5" name="Google Shape;29;p1">
            <a:extLst>
              <a:ext uri="{FF2B5EF4-FFF2-40B4-BE49-F238E27FC236}">
                <a16:creationId xmlns:a16="http://schemas.microsoft.com/office/drawing/2014/main" id="{D8A271FA-1CEF-E0F0-AEAD-D66FF3C78E44}"/>
              </a:ext>
            </a:extLst>
          </p:cNvPr>
          <p:cNvSpPr txBox="1">
            <a:spLocks/>
          </p:cNvSpPr>
          <p:nvPr/>
        </p:nvSpPr>
        <p:spPr>
          <a:xfrm>
            <a:off x="82550" y="2976563"/>
            <a:ext cx="1992313" cy="523875"/>
          </a:xfrm>
          <a:prstGeom prst="rect">
            <a:avLst/>
          </a:prstGeom>
          <a:noFill/>
          <a:ln>
            <a:noFill/>
          </a:ln>
        </p:spPr>
        <p:txBody>
          <a:bodyPr spcFirstLastPara="1" lIns="91425" tIns="91425" rIns="91425" bIns="91425"/>
          <a:lstStyle>
            <a:defPPr marR="0" lvl="0" algn="l" rtl="0">
              <a:lnSpc>
                <a:spcPct val="100000"/>
              </a:lnSpc>
              <a:spcBef>
                <a:spcPts val="0"/>
              </a:spcBef>
              <a:spcAft>
                <a:spcPts val="0"/>
              </a:spcAft>
              <a:defRPr/>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indent="0">
              <a:lnSpc>
                <a:spcPct val="115000"/>
              </a:lnSpc>
              <a:buSzPts val="2200"/>
              <a:defRPr/>
            </a:pPr>
            <a:r>
              <a:rPr lang="en-US" sz="1800" b="1" dirty="0">
                <a:solidFill>
                  <a:srgbClr val="0D5BDC"/>
                </a:solidFill>
                <a:latin typeface="Times New Roman"/>
                <a:ea typeface="Times New Roman"/>
                <a:cs typeface="Times New Roman"/>
                <a:sym typeface="Times New Roman"/>
              </a:rPr>
              <a:t>Batch No -  3</a:t>
            </a:r>
            <a:endParaRPr lang="en-US" sz="1800" dirty="0"/>
          </a:p>
          <a:p>
            <a:pPr marL="0" indent="0" algn="ctr">
              <a:lnSpc>
                <a:spcPct val="115000"/>
              </a:lnSpc>
              <a:buSzPts val="2200"/>
              <a:defRPr/>
            </a:pPr>
            <a:endParaRPr lang="en-US" sz="2200" b="1" dirty="0">
              <a:solidFill>
                <a:srgbClr val="0D5BDC"/>
              </a:solidFill>
              <a:latin typeface="Times New Roman"/>
              <a:ea typeface="Times New Roman"/>
              <a:cs typeface="Times New Roman"/>
              <a:sym typeface="Times New Roman"/>
            </a:endParaRPr>
          </a:p>
          <a:p>
            <a:pPr marL="342900" indent="-342900">
              <a:defRPr/>
            </a:pPr>
            <a:endParaRPr lang="en-US" sz="2200" b="1" dirty="0">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US" sz="3200" dirty="0">
                <a:solidFill>
                  <a:schemeClr val="accent1">
                    <a:lumMod val="75000"/>
                  </a:schemeClr>
                </a:solidFill>
              </a:rPr>
              <a:t> UPI Transaction based Fraud Detection System using Generative AI and Machine Learning Techniques</a:t>
            </a:r>
            <a:endParaRPr dirty="0"/>
          </a:p>
        </p:txBody>
      </p:sp>
      <p:sp>
        <p:nvSpPr>
          <p:cNvPr id="38" name="Google Shape;38;p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US" dirty="0"/>
              <a:t>I</a:t>
            </a:r>
            <a:r>
              <a:rPr lang="en-IN" dirty="0" err="1"/>
              <a:t>ntroduction</a:t>
            </a:r>
            <a:r>
              <a:rPr lang="en-IN" dirty="0"/>
              <a:t> :</a:t>
            </a:r>
            <a:endParaRPr dirty="0"/>
          </a:p>
        </p:txBody>
      </p:sp>
      <p:sp>
        <p:nvSpPr>
          <p:cNvPr id="44" name="Google Shape;44;p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a:t>
            </a:fld>
            <a:endParaRPr/>
          </a:p>
        </p:txBody>
      </p:sp>
      <p:sp>
        <p:nvSpPr>
          <p:cNvPr id="3" name="Text Placeholder 2">
            <a:extLst>
              <a:ext uri="{FF2B5EF4-FFF2-40B4-BE49-F238E27FC236}">
                <a16:creationId xmlns:a16="http://schemas.microsoft.com/office/drawing/2014/main" id="{137851B6-A14E-B68B-A668-BA37C127B4B9}"/>
              </a:ext>
            </a:extLst>
          </p:cNvPr>
          <p:cNvSpPr>
            <a:spLocks noGrp="1" noChangeArrowheads="1"/>
          </p:cNvSpPr>
          <p:nvPr>
            <p:ph type="body" idx="1"/>
          </p:nvPr>
        </p:nvSpPr>
        <p:spPr bwMode="auto">
          <a:xfrm>
            <a:off x="68752" y="612846"/>
            <a:ext cx="8953010" cy="4455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1700" dirty="0">
                <a:solidFill>
                  <a:schemeClr val="tx1"/>
                </a:solidFill>
                <a:latin typeface="Arial" panose="020B0604020202020204" pitchFamily="34" charset="0"/>
              </a:rPr>
              <a:t> A</a:t>
            </a:r>
            <a:r>
              <a:rPr kumimoji="0" lang="en-US" altLang="en-US" sz="1700" b="0" i="0" u="none" strike="noStrike" cap="none" normalizeH="0" baseline="0" dirty="0">
                <a:ln>
                  <a:noFill/>
                </a:ln>
                <a:solidFill>
                  <a:schemeClr val="tx1"/>
                </a:solidFill>
                <a:effectLst/>
                <a:latin typeface="Arial" panose="020B0604020202020204" pitchFamily="34" charset="0"/>
              </a:rPr>
              <a:t>n intelligent fraud detection system designed for digital payment platforms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 </a:t>
            </a:r>
            <a:r>
              <a:rPr lang="en-US" altLang="en-US" sz="1700" dirty="0">
                <a:solidFill>
                  <a:schemeClr val="tx1"/>
                </a:solidFill>
                <a:latin typeface="Arial" panose="020B0604020202020204" pitchFamily="34" charset="0"/>
              </a:rPr>
              <a:t>A</a:t>
            </a:r>
            <a:r>
              <a:rPr kumimoji="0" lang="en-US" altLang="en-US" sz="1700" b="0" i="0" u="none" strike="noStrike" cap="none" normalizeH="0" baseline="0" dirty="0">
                <a:ln>
                  <a:noFill/>
                </a:ln>
                <a:solidFill>
                  <a:schemeClr val="tx1"/>
                </a:solidFill>
                <a:effectLst/>
                <a:latin typeface="Arial" panose="020B0604020202020204" pitchFamily="34" charset="0"/>
              </a:rPr>
              <a:t>ddresses the challenge of highly imbalanced fraud data using CGAN-based augmentation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 Conditional GAN generates realistic synthetic fraud samples based on transaction behavior</a:t>
            </a:r>
          </a:p>
          <a:p>
            <a:pPr marL="0" lvl="0" indent="0" algn="just" eaLnBrk="0" fontAlgn="base" hangingPunct="0">
              <a:lnSpc>
                <a:spcPct val="150000"/>
              </a:lnSpc>
              <a:spcBef>
                <a:spcPct val="0"/>
              </a:spcBef>
              <a:spcAft>
                <a:spcPct val="0"/>
              </a:spcAft>
              <a:buClrTx/>
              <a:buSzTx/>
              <a:buFontTx/>
              <a:buChar char="•"/>
            </a:pPr>
            <a:r>
              <a:rPr lang="en-US" altLang="en-US" sz="1700" dirty="0">
                <a:solidFill>
                  <a:schemeClr val="tx1"/>
                </a:solidFill>
                <a:latin typeface="Arial" panose="020B0604020202020204" pitchFamily="34" charset="0"/>
              </a:rPr>
              <a:t> </a:t>
            </a:r>
            <a:r>
              <a:rPr lang="en-US" sz="1700" dirty="0" err="1"/>
              <a:t>XGBoost</a:t>
            </a:r>
            <a:r>
              <a:rPr lang="en-US" sz="1700" dirty="0"/>
              <a:t> classifier is trained with class weighting to effectively detect fraudulent transactions while minimizing false negatives.</a:t>
            </a:r>
            <a:r>
              <a:rPr lang="en-US" altLang="en-US" sz="1700" dirty="0">
                <a:solidFill>
                  <a:schemeClr val="tx1"/>
                </a:solidFill>
                <a:latin typeface="Arial" panose="020B0604020202020204" pitchFamily="34" charset="0"/>
              </a:rPr>
              <a:t> </a:t>
            </a:r>
          </a:p>
          <a:p>
            <a:pPr marL="0" lvl="0" indent="0" algn="just" eaLnBrk="0" fontAlgn="base" hangingPunct="0">
              <a:lnSpc>
                <a:spcPct val="150000"/>
              </a:lnSpc>
              <a:spcBef>
                <a:spcPct val="0"/>
              </a:spcBef>
              <a:spcAft>
                <a:spcPct val="0"/>
              </a:spcAft>
              <a:buClrTx/>
              <a:buSzTx/>
              <a:buFontTx/>
              <a:buChar char="•"/>
            </a:pPr>
            <a:r>
              <a:rPr lang="en-US" sz="1800" dirty="0" err="1"/>
              <a:t>NGBoost</a:t>
            </a:r>
            <a:r>
              <a:rPr lang="en-US" sz="1800" dirty="0"/>
              <a:t> is added as a secondary probabilistic model to estimate fraud risk (probability and uncertainty), enabling risk-aware decisions alongside </a:t>
            </a:r>
            <a:r>
              <a:rPr lang="en-US" sz="1800" dirty="0" err="1"/>
              <a:t>XGBoost’s</a:t>
            </a:r>
            <a:r>
              <a:rPr lang="en-US" sz="1800" dirty="0"/>
              <a:t> classification.</a:t>
            </a:r>
            <a:endParaRPr lang="en-US" altLang="en-US" sz="1700" dirty="0">
              <a:solidFill>
                <a:schemeClr val="tx1"/>
              </a:solidFill>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1700" dirty="0">
                <a:solidFill>
                  <a:schemeClr val="tx1"/>
                </a:solidFill>
                <a:latin typeface="Arial" panose="020B0604020202020204" pitchFamily="34" charset="0"/>
              </a:rPr>
              <a:t>Provides </a:t>
            </a:r>
            <a:r>
              <a:rPr kumimoji="0" lang="en-US" altLang="en-US" sz="1700" b="0" i="0" u="none" strike="noStrike" cap="none" normalizeH="0" baseline="0" dirty="0">
                <a:ln>
                  <a:noFill/>
                </a:ln>
                <a:solidFill>
                  <a:schemeClr val="tx1"/>
                </a:solidFill>
                <a:effectLst/>
                <a:latin typeface="Arial" panose="020B0604020202020204" pitchFamily="34" charset="0"/>
              </a:rPr>
              <a:t>SHAP-based explainability  for transparent, feature-level insights in decision</a:t>
            </a:r>
            <a:r>
              <a:rPr lang="en-US" altLang="en-US" sz="1700" dirty="0">
                <a:solidFill>
                  <a:schemeClr val="tx1"/>
                </a:solidFill>
                <a:latin typeface="Arial" panose="020B0604020202020204" pitchFamily="34" charset="0"/>
              </a:rPr>
              <a:t> making process.</a:t>
            </a: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F8275235-909D-21EF-EEDB-FD731B9F0DAE}"/>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A381506-D1D7-DE17-509A-6CCF332F4636}"/>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US" dirty="0"/>
              <a:t>C</a:t>
            </a:r>
            <a:r>
              <a:rPr lang="en-IN" dirty="0"/>
              <a:t>GAN Architecture: (Cont..)</a:t>
            </a:r>
            <a:endParaRPr dirty="0"/>
          </a:p>
        </p:txBody>
      </p:sp>
      <p:sp>
        <p:nvSpPr>
          <p:cNvPr id="44" name="Google Shape;44;p3">
            <a:extLst>
              <a:ext uri="{FF2B5EF4-FFF2-40B4-BE49-F238E27FC236}">
                <a16:creationId xmlns:a16="http://schemas.microsoft.com/office/drawing/2014/main" id="{53DCE9E9-7901-D96C-EDA0-BCFC61E92778}"/>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4</a:t>
            </a:fld>
            <a:endParaRPr/>
          </a:p>
        </p:txBody>
      </p:sp>
      <p:pic>
        <p:nvPicPr>
          <p:cNvPr id="3" name="Picture 2">
            <a:extLst>
              <a:ext uri="{FF2B5EF4-FFF2-40B4-BE49-F238E27FC236}">
                <a16:creationId xmlns:a16="http://schemas.microsoft.com/office/drawing/2014/main" id="{129599CE-0E00-B6E6-55BA-C350708C5773}"/>
              </a:ext>
            </a:extLst>
          </p:cNvPr>
          <p:cNvPicPr>
            <a:picLocks noChangeAspect="1"/>
          </p:cNvPicPr>
          <p:nvPr/>
        </p:nvPicPr>
        <p:blipFill>
          <a:blip r:embed="rId3"/>
          <a:stretch>
            <a:fillRect/>
          </a:stretch>
        </p:blipFill>
        <p:spPr>
          <a:xfrm>
            <a:off x="0" y="756013"/>
            <a:ext cx="9144000" cy="3631474"/>
          </a:xfrm>
          <a:prstGeom prst="rect">
            <a:avLst/>
          </a:prstGeom>
        </p:spPr>
      </p:pic>
      <p:pic>
        <p:nvPicPr>
          <p:cNvPr id="5" name="Picture 4">
            <a:extLst>
              <a:ext uri="{FF2B5EF4-FFF2-40B4-BE49-F238E27FC236}">
                <a16:creationId xmlns:a16="http://schemas.microsoft.com/office/drawing/2014/main" id="{00AB9B87-45EB-4A87-2D97-8CA88FC25073}"/>
              </a:ext>
            </a:extLst>
          </p:cNvPr>
          <p:cNvPicPr>
            <a:picLocks noChangeAspect="1"/>
          </p:cNvPicPr>
          <p:nvPr/>
        </p:nvPicPr>
        <p:blipFill>
          <a:blip r:embed="rId4"/>
          <a:stretch>
            <a:fillRect/>
          </a:stretch>
        </p:blipFill>
        <p:spPr>
          <a:xfrm>
            <a:off x="0" y="1448757"/>
            <a:ext cx="1498600" cy="1201309"/>
          </a:xfrm>
          <a:prstGeom prst="rect">
            <a:avLst/>
          </a:prstGeom>
        </p:spPr>
      </p:pic>
    </p:spTree>
    <p:extLst>
      <p:ext uri="{BB962C8B-B14F-4D97-AF65-F5344CB8AC3E}">
        <p14:creationId xmlns:p14="http://schemas.microsoft.com/office/powerpoint/2010/main" val="4087630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0C1304B-E03C-8903-D002-0706EEED05FF}"/>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2589EB08-967C-C56D-0967-33712A36F7C2}"/>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841F032-491B-A16B-BD40-8CC55E4BBE7E}"/>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5</a:t>
            </a:fld>
            <a:endParaRPr/>
          </a:p>
        </p:txBody>
      </p:sp>
      <p:sp>
        <p:nvSpPr>
          <p:cNvPr id="45" name="Google Shape;45;p3">
            <a:extLst>
              <a:ext uri="{FF2B5EF4-FFF2-40B4-BE49-F238E27FC236}">
                <a16:creationId xmlns:a16="http://schemas.microsoft.com/office/drawing/2014/main" id="{FA2DB6E5-5B84-C64C-AD8C-83B6D5466B3C}"/>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US" sz="1900" b="1" dirty="0"/>
              <a:t>1. </a:t>
            </a:r>
            <a:r>
              <a:rPr lang="en-US" sz="1900" b="1" i="1" dirty="0"/>
              <a:t>Improved VAE-GAN for Credit Card Fraud Detection</a:t>
            </a:r>
            <a:r>
              <a:rPr lang="en-US" sz="1900" b="1" dirty="0"/>
              <a:t> (IEEE Access, 2023)</a:t>
            </a:r>
          </a:p>
          <a:p>
            <a:pPr marL="571500" indent="-342900" algn="just">
              <a:lnSpc>
                <a:spcPct val="150000"/>
              </a:lnSpc>
              <a:buFont typeface="Arial" panose="020B0604020202020204" pitchFamily="34" charset="0"/>
              <a:buChar char="•"/>
            </a:pPr>
            <a:r>
              <a:rPr lang="en-US" sz="1900" dirty="0"/>
              <a:t>Addresses </a:t>
            </a:r>
            <a:r>
              <a:rPr lang="en-US" sz="1900" b="1" dirty="0"/>
              <a:t>severe class imbalance</a:t>
            </a:r>
            <a:r>
              <a:rPr lang="en-US" sz="1900" dirty="0"/>
              <a:t>, a major challenge in fraud detection</a:t>
            </a:r>
          </a:p>
          <a:p>
            <a:pPr marL="571500" indent="-342900" algn="just">
              <a:lnSpc>
                <a:spcPct val="150000"/>
              </a:lnSpc>
              <a:buFont typeface="Arial" panose="020B0604020202020204" pitchFamily="34" charset="0"/>
              <a:buChar char="•"/>
            </a:pPr>
            <a:r>
              <a:rPr lang="en-US" sz="1900" dirty="0"/>
              <a:t>Demonstrates that </a:t>
            </a:r>
            <a:r>
              <a:rPr lang="en-US" sz="1900" b="1" dirty="0"/>
              <a:t>generative models improve fraud recall</a:t>
            </a:r>
            <a:r>
              <a:rPr lang="en-US" sz="1900" dirty="0"/>
              <a:t>, not just overall accuracy</a:t>
            </a:r>
          </a:p>
          <a:p>
            <a:pPr marL="571500" indent="-342900" algn="just">
              <a:lnSpc>
                <a:spcPct val="150000"/>
              </a:lnSpc>
              <a:buFont typeface="Arial" panose="020B0604020202020204" pitchFamily="34" charset="0"/>
              <a:buChar char="•"/>
            </a:pPr>
            <a:r>
              <a:rPr lang="en-US" sz="1900" dirty="0"/>
              <a:t>Validates the effectiveness of </a:t>
            </a:r>
            <a:r>
              <a:rPr lang="en-US" sz="1900" b="1" dirty="0"/>
              <a:t>synthetic fraud data generation</a:t>
            </a:r>
            <a:r>
              <a:rPr lang="en-US" sz="1900" dirty="0"/>
              <a:t> for minority classes</a:t>
            </a:r>
          </a:p>
          <a:p>
            <a:pPr>
              <a:lnSpc>
                <a:spcPct val="150000"/>
              </a:lnSpc>
            </a:pPr>
            <a:r>
              <a:rPr lang="en-US" sz="1900" b="1" dirty="0"/>
              <a:t>Relation to our project:</a:t>
            </a:r>
            <a:endParaRPr lang="en-US" sz="1900" dirty="0"/>
          </a:p>
          <a:p>
            <a:pPr marL="571500" indent="-342900" algn="just">
              <a:lnSpc>
                <a:spcPct val="150000"/>
              </a:lnSpc>
              <a:buFont typeface="Arial" panose="020B0604020202020204" pitchFamily="34" charset="0"/>
              <a:buChar char="•"/>
            </a:pPr>
            <a:r>
              <a:rPr lang="en-US" sz="1900" dirty="0"/>
              <a:t>Forms the foundation for using </a:t>
            </a:r>
            <a:r>
              <a:rPr lang="en-US" sz="1900" b="1" dirty="0"/>
              <a:t>generative models to balance UPI transaction data</a:t>
            </a:r>
            <a:endParaRPr lang="en-US" sz="1900" dirty="0"/>
          </a:p>
          <a:p>
            <a:pPr marL="571500" indent="-342900" algn="just">
              <a:lnSpc>
                <a:spcPct val="150000"/>
              </a:lnSpc>
              <a:buFont typeface="Arial" panose="020B0604020202020204" pitchFamily="34" charset="0"/>
              <a:buChar char="•"/>
            </a:pPr>
            <a:r>
              <a:rPr lang="en-US" sz="1900" dirty="0"/>
              <a:t>Directly supports our choice of </a:t>
            </a:r>
            <a:r>
              <a:rPr lang="en-US" sz="1900" b="1" dirty="0"/>
              <a:t>CGAN-based synthetic fraud data</a:t>
            </a:r>
            <a:r>
              <a:rPr lang="en-US" sz="2000" b="1" dirty="0"/>
              <a:t> augmentation</a:t>
            </a:r>
            <a:endParaRPr lang="en-US" sz="2000" dirty="0"/>
          </a:p>
          <a:p>
            <a:pPr algn="just">
              <a:lnSpc>
                <a:spcPct val="150000"/>
              </a:lnSpc>
            </a:pPr>
            <a:endParaRPr lang="en-IN" sz="1800" dirty="0"/>
          </a:p>
        </p:txBody>
      </p:sp>
    </p:spTree>
    <p:extLst>
      <p:ext uri="{BB962C8B-B14F-4D97-AF65-F5344CB8AC3E}">
        <p14:creationId xmlns:p14="http://schemas.microsoft.com/office/powerpoint/2010/main" val="1989927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64F652A1-EFAD-6564-CFD7-64EA1E9FC008}"/>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13DBF06-6FDE-02A4-3D0B-42984382986F}"/>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3797EFC8-2722-D79A-F37D-D738566F4A1A}"/>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6</a:t>
            </a:fld>
            <a:endParaRPr/>
          </a:p>
        </p:txBody>
      </p:sp>
      <p:sp>
        <p:nvSpPr>
          <p:cNvPr id="45" name="Google Shape;45;p3">
            <a:extLst>
              <a:ext uri="{FF2B5EF4-FFF2-40B4-BE49-F238E27FC236}">
                <a16:creationId xmlns:a16="http://schemas.microsoft.com/office/drawing/2014/main" id="{EAA46100-DA87-D175-7AC0-F4DD3215355D}"/>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IN" sz="1600" b="1" dirty="0"/>
              <a:t>2. </a:t>
            </a:r>
            <a:r>
              <a:rPr lang="en-IN" sz="1600" b="1" i="1" dirty="0"/>
              <a:t>Using Generative Adversarial Networks for Improving Classification Effectiveness in Credit Card Fraud Detection</a:t>
            </a:r>
            <a:r>
              <a:rPr lang="en-IN" sz="1600" b="1" dirty="0"/>
              <a:t> (2023) Author:</a:t>
            </a:r>
            <a:r>
              <a:rPr lang="en-IN" sz="1600" dirty="0"/>
              <a:t> Umberto Fiore</a:t>
            </a:r>
          </a:p>
          <a:p>
            <a:pPr marL="514350" indent="-285750">
              <a:lnSpc>
                <a:spcPct val="150000"/>
              </a:lnSpc>
              <a:buFont typeface="Arial" panose="020B0604020202020204" pitchFamily="34" charset="0"/>
              <a:buChar char="•"/>
            </a:pPr>
            <a:r>
              <a:rPr lang="en-IN" sz="1600" dirty="0"/>
              <a:t>Uses GAN-based synthetic fraud data to handle class imbalance</a:t>
            </a:r>
          </a:p>
          <a:p>
            <a:pPr marL="514350" indent="-285750">
              <a:lnSpc>
                <a:spcPct val="150000"/>
              </a:lnSpc>
              <a:buFont typeface="Arial" panose="020B0604020202020204" pitchFamily="34" charset="0"/>
              <a:buChar char="•"/>
            </a:pPr>
            <a:r>
              <a:rPr lang="en-IN" sz="1600" dirty="0"/>
              <a:t>Improves fraud recall and F1-score</a:t>
            </a:r>
          </a:p>
          <a:p>
            <a:pPr>
              <a:lnSpc>
                <a:spcPct val="150000"/>
              </a:lnSpc>
            </a:pPr>
            <a:r>
              <a:rPr lang="en-IN" sz="1600" b="1" dirty="0"/>
              <a:t>Relation to our project:</a:t>
            </a:r>
          </a:p>
          <a:p>
            <a:pPr marL="514350" indent="-285750">
              <a:lnSpc>
                <a:spcPct val="150000"/>
              </a:lnSpc>
              <a:buFont typeface="Arial" panose="020B0604020202020204" pitchFamily="34" charset="0"/>
              <a:buChar char="•"/>
            </a:pPr>
            <a:r>
              <a:rPr lang="en-IN" sz="1600" dirty="0"/>
              <a:t> Motivates generative data augmentation for balancing rare fraud samples</a:t>
            </a:r>
          </a:p>
          <a:p>
            <a:pPr>
              <a:lnSpc>
                <a:spcPct val="150000"/>
              </a:lnSpc>
            </a:pPr>
            <a:r>
              <a:rPr lang="en-IN" sz="1600" b="1" dirty="0"/>
              <a:t>3. </a:t>
            </a:r>
            <a:r>
              <a:rPr lang="en-IN" sz="1600" b="1" i="1" dirty="0"/>
              <a:t>Credit Card Fraud Detection Using Conditional Generative Adversarial Networks</a:t>
            </a:r>
            <a:r>
              <a:rPr lang="en-IN" sz="1600" b="1" dirty="0"/>
              <a:t> (2023)</a:t>
            </a:r>
          </a:p>
          <a:p>
            <a:pPr>
              <a:lnSpc>
                <a:spcPct val="150000"/>
              </a:lnSpc>
            </a:pPr>
            <a:r>
              <a:rPr lang="en-IN" sz="1600" b="1" dirty="0"/>
              <a:t>Authors:</a:t>
            </a:r>
            <a:r>
              <a:rPr lang="en-IN" sz="1600" dirty="0"/>
              <a:t> </a:t>
            </a:r>
            <a:r>
              <a:rPr lang="en-IN" sz="1600" dirty="0" err="1"/>
              <a:t>Shichao</a:t>
            </a:r>
            <a:r>
              <a:rPr lang="en-IN" sz="1600" dirty="0"/>
              <a:t> Li, Saleh B. </a:t>
            </a:r>
            <a:r>
              <a:rPr lang="en-IN" sz="1600" dirty="0" err="1"/>
              <a:t>Hulayyil</a:t>
            </a:r>
            <a:r>
              <a:rPr lang="en-IN" sz="1600" dirty="0"/>
              <a:t>, Nitesh Saxena</a:t>
            </a:r>
          </a:p>
          <a:p>
            <a:pPr>
              <a:lnSpc>
                <a:spcPct val="150000"/>
              </a:lnSpc>
            </a:pPr>
            <a:r>
              <a:rPr lang="en-IN" sz="1600" dirty="0"/>
              <a:t>Uses CGAN to generate fraud samples conditioned on transaction attributes</a:t>
            </a:r>
          </a:p>
          <a:p>
            <a:pPr>
              <a:lnSpc>
                <a:spcPct val="150000"/>
              </a:lnSpc>
            </a:pPr>
            <a:r>
              <a:rPr lang="en-IN" sz="1600" dirty="0"/>
              <a:t>Outperforms traditional GAN and SMOTE</a:t>
            </a:r>
          </a:p>
          <a:p>
            <a:pPr>
              <a:lnSpc>
                <a:spcPct val="150000"/>
              </a:lnSpc>
            </a:pPr>
            <a:r>
              <a:rPr lang="en-IN" sz="1600" b="1" dirty="0"/>
              <a:t>Relation to our project:</a:t>
            </a:r>
            <a:r>
              <a:rPr lang="en-IN" sz="1600" dirty="0"/>
              <a:t> Direct basis for using </a:t>
            </a:r>
            <a:r>
              <a:rPr lang="en-IN" sz="1600" b="1" dirty="0"/>
              <a:t>CGAN-based data balancing</a:t>
            </a:r>
            <a:r>
              <a:rPr lang="en-IN" sz="1600" dirty="0"/>
              <a:t> in UPI fraud detection</a:t>
            </a:r>
          </a:p>
          <a:p>
            <a:pPr>
              <a:lnSpc>
                <a:spcPct val="150000"/>
              </a:lnSpc>
            </a:pPr>
            <a:endParaRPr lang="en-IN" sz="1800" dirty="0"/>
          </a:p>
        </p:txBody>
      </p:sp>
    </p:spTree>
    <p:extLst>
      <p:ext uri="{BB962C8B-B14F-4D97-AF65-F5344CB8AC3E}">
        <p14:creationId xmlns:p14="http://schemas.microsoft.com/office/powerpoint/2010/main" val="1253764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559D2FC1-73A7-4231-0376-9FDD7908F548}"/>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BA711B1D-0C5D-4E73-D8F3-0B83960FC0D5}"/>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FA3ECF9-CA63-9047-3D1E-B8D833E01AE9}"/>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7</a:t>
            </a:fld>
            <a:endParaRPr/>
          </a:p>
        </p:txBody>
      </p:sp>
      <p:sp>
        <p:nvSpPr>
          <p:cNvPr id="45" name="Google Shape;45;p3">
            <a:extLst>
              <a:ext uri="{FF2B5EF4-FFF2-40B4-BE49-F238E27FC236}">
                <a16:creationId xmlns:a16="http://schemas.microsoft.com/office/drawing/2014/main" id="{4FF4E18C-E17B-44D9-FB52-8FCF9F8B1FBF}"/>
              </a:ext>
            </a:extLst>
          </p:cNvPr>
          <p:cNvSpPr txBox="1">
            <a:spLocks noGrp="1"/>
          </p:cNvSpPr>
          <p:nvPr>
            <p:ph type="body" idx="1"/>
          </p:nvPr>
        </p:nvSpPr>
        <p:spPr>
          <a:xfrm>
            <a:off x="61119" y="649287"/>
            <a:ext cx="9021762" cy="4660899"/>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700" b="1" dirty="0"/>
              <a:t>4. </a:t>
            </a:r>
            <a:r>
              <a:rPr lang="en-US" sz="1700" b="1" i="1" dirty="0"/>
              <a:t>Semi-Supervised Generative Adversarial Networks for Credit Card Fraud Detection</a:t>
            </a:r>
            <a:r>
              <a:rPr lang="en-US" sz="1700" b="1" dirty="0"/>
              <a:t> (2025)</a:t>
            </a:r>
          </a:p>
          <a:p>
            <a:pPr algn="just">
              <a:lnSpc>
                <a:spcPct val="150000"/>
              </a:lnSpc>
            </a:pPr>
            <a:r>
              <a:rPr lang="en-US" sz="1700" b="1" dirty="0"/>
              <a:t>Author:</a:t>
            </a:r>
            <a:r>
              <a:rPr lang="en-US" sz="1700" dirty="0"/>
              <a:t> Dominik </a:t>
            </a:r>
            <a:r>
              <a:rPr lang="en-US" sz="1700" dirty="0" err="1"/>
              <a:t>Hirnschall</a:t>
            </a:r>
            <a:endParaRPr lang="en-US" sz="1700" dirty="0"/>
          </a:p>
          <a:p>
            <a:pPr marL="514350" indent="-285750" algn="just">
              <a:lnSpc>
                <a:spcPct val="150000"/>
              </a:lnSpc>
              <a:buFont typeface="Arial" panose="020B0604020202020204" pitchFamily="34" charset="0"/>
              <a:buChar char="•"/>
            </a:pPr>
            <a:r>
              <a:rPr lang="en-US" sz="1700" dirty="0"/>
              <a:t>Applies semi-supervised GAN to limited fraud labels</a:t>
            </a:r>
          </a:p>
          <a:p>
            <a:pPr marL="514350" indent="-285750" algn="just">
              <a:lnSpc>
                <a:spcPct val="150000"/>
              </a:lnSpc>
              <a:buFont typeface="Arial" panose="020B0604020202020204" pitchFamily="34" charset="0"/>
              <a:buChar char="•"/>
            </a:pPr>
            <a:r>
              <a:rPr lang="en-US" sz="1700" dirty="0"/>
              <a:t>Enhances minority-class learning</a:t>
            </a:r>
          </a:p>
          <a:p>
            <a:pPr algn="just">
              <a:lnSpc>
                <a:spcPct val="150000"/>
              </a:lnSpc>
            </a:pPr>
            <a:r>
              <a:rPr lang="en-US" sz="1700" b="1" dirty="0"/>
              <a:t>Relation to our project:</a:t>
            </a:r>
            <a:r>
              <a:rPr lang="en-US" sz="1700" dirty="0"/>
              <a:t> Supports CGAN use when real fraud data is scarce</a:t>
            </a:r>
          </a:p>
          <a:p>
            <a:pPr algn="just">
              <a:lnSpc>
                <a:spcPct val="150000"/>
              </a:lnSpc>
            </a:pPr>
            <a:r>
              <a:rPr lang="en-IN" sz="1700" b="1" dirty="0"/>
              <a:t>5. </a:t>
            </a:r>
            <a:r>
              <a:rPr lang="en-IN" sz="1700" b="1" i="1" dirty="0"/>
              <a:t>WDAE-GAN: Generative Adversarial Network for Financial Fraud Detection</a:t>
            </a:r>
            <a:r>
              <a:rPr lang="en-IN" sz="1700" b="1" dirty="0"/>
              <a:t> (2025)</a:t>
            </a:r>
          </a:p>
          <a:p>
            <a:pPr algn="just">
              <a:lnSpc>
                <a:spcPct val="150000"/>
              </a:lnSpc>
            </a:pPr>
            <a:r>
              <a:rPr lang="en-IN" sz="1700" b="1" dirty="0"/>
              <a:t>Authors:</a:t>
            </a:r>
            <a:r>
              <a:rPr lang="en-IN" sz="1700" dirty="0"/>
              <a:t> Mohammad Rezvani Nejad, Alireza Khosravi, Saeid </a:t>
            </a:r>
            <a:r>
              <a:rPr lang="en-IN" sz="1700" dirty="0" err="1"/>
              <a:t>Nahavandi</a:t>
            </a:r>
            <a:endParaRPr lang="en-IN" sz="1700" dirty="0"/>
          </a:p>
          <a:p>
            <a:pPr marL="514350" indent="-285750" algn="just">
              <a:lnSpc>
                <a:spcPct val="150000"/>
              </a:lnSpc>
              <a:buFont typeface="Arial" panose="020B0604020202020204" pitchFamily="34" charset="0"/>
              <a:buChar char="•"/>
            </a:pPr>
            <a:r>
              <a:rPr lang="en-IN" sz="1700" dirty="0"/>
              <a:t>Combines GAN with denoising autoencoders</a:t>
            </a:r>
          </a:p>
          <a:p>
            <a:pPr marL="514350" indent="-285750" algn="just">
              <a:lnSpc>
                <a:spcPct val="150000"/>
              </a:lnSpc>
              <a:buFont typeface="Arial" panose="020B0604020202020204" pitchFamily="34" charset="0"/>
              <a:buChar char="•"/>
            </a:pPr>
            <a:r>
              <a:rPr lang="en-IN" sz="1700" dirty="0"/>
              <a:t>Improves quality of synthetic fraud data</a:t>
            </a:r>
          </a:p>
          <a:p>
            <a:pPr marL="228600" indent="0" algn="just">
              <a:lnSpc>
                <a:spcPct val="150000"/>
              </a:lnSpc>
            </a:pPr>
            <a:r>
              <a:rPr lang="en-IN" sz="1700" b="1" dirty="0"/>
              <a:t>Relation to our project:</a:t>
            </a:r>
            <a:r>
              <a:rPr lang="en-IN" sz="1700" dirty="0"/>
              <a:t> Inspires realistic CGAN-based fraud sample generation</a:t>
            </a:r>
          </a:p>
          <a:p>
            <a:pPr>
              <a:lnSpc>
                <a:spcPct val="150000"/>
              </a:lnSpc>
            </a:pPr>
            <a:endParaRPr lang="en-IN" sz="1800" dirty="0"/>
          </a:p>
        </p:txBody>
      </p:sp>
    </p:spTree>
    <p:extLst>
      <p:ext uri="{BB962C8B-B14F-4D97-AF65-F5344CB8AC3E}">
        <p14:creationId xmlns:p14="http://schemas.microsoft.com/office/powerpoint/2010/main" val="1392473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A4B3C77-677D-788B-1929-1022461C8FED}"/>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C6878A6-542A-FC7E-B71E-97CBC92D6DC5}"/>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B54B6557-CBE2-4F6A-48D3-93F65CA453A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8</a:t>
            </a:fld>
            <a:endParaRPr/>
          </a:p>
        </p:txBody>
      </p:sp>
      <p:sp>
        <p:nvSpPr>
          <p:cNvPr id="45" name="Google Shape;45;p3">
            <a:extLst>
              <a:ext uri="{FF2B5EF4-FFF2-40B4-BE49-F238E27FC236}">
                <a16:creationId xmlns:a16="http://schemas.microsoft.com/office/drawing/2014/main" id="{56A20A05-0B31-872F-7B9A-BBD744FD8F26}"/>
              </a:ext>
            </a:extLst>
          </p:cNvPr>
          <p:cNvSpPr txBox="1">
            <a:spLocks noGrp="1"/>
          </p:cNvSpPr>
          <p:nvPr>
            <p:ph type="body" idx="1"/>
          </p:nvPr>
        </p:nvSpPr>
        <p:spPr>
          <a:xfrm>
            <a:off x="122238" y="563262"/>
            <a:ext cx="9021762" cy="4494212"/>
          </a:xfrm>
          <a:prstGeom prst="rect">
            <a:avLst/>
          </a:prstGeom>
          <a:noFill/>
          <a:ln>
            <a:noFill/>
          </a:ln>
        </p:spPr>
        <p:txBody>
          <a:bodyPr spcFirstLastPara="1" wrap="square" lIns="91425" tIns="91425" rIns="91425" bIns="91425" anchor="t" anchorCtr="0">
            <a:noAutofit/>
          </a:bodyPr>
          <a:lstStyle/>
          <a:p>
            <a:pPr algn="just">
              <a:lnSpc>
                <a:spcPct val="150000"/>
              </a:lnSpc>
            </a:pPr>
            <a:r>
              <a:rPr lang="en-US" sz="1700" b="1" dirty="0"/>
              <a:t>6. </a:t>
            </a:r>
            <a:r>
              <a:rPr lang="en-US" sz="1700" b="1" i="1" dirty="0"/>
              <a:t>Gated Attention-Based Generative Adversarial Networks for Financial Fraud Detection</a:t>
            </a:r>
            <a:r>
              <a:rPr lang="en-US" sz="1700" b="1" dirty="0"/>
              <a:t> (2024)</a:t>
            </a:r>
          </a:p>
          <a:p>
            <a:pPr algn="just">
              <a:lnSpc>
                <a:spcPct val="150000"/>
              </a:lnSpc>
            </a:pPr>
            <a:r>
              <a:rPr lang="en-US" sz="1700" b="1" dirty="0"/>
              <a:t>Authors:</a:t>
            </a:r>
            <a:r>
              <a:rPr lang="en-US" sz="1700" dirty="0"/>
              <a:t> Jing Ge, </a:t>
            </a:r>
            <a:r>
              <a:rPr lang="en-US" sz="1700" dirty="0" err="1"/>
              <a:t>Yiqiang</a:t>
            </a:r>
            <a:r>
              <a:rPr lang="en-US" sz="1700" dirty="0"/>
              <a:t> Chen</a:t>
            </a:r>
          </a:p>
          <a:p>
            <a:pPr marL="514350" indent="-285750" algn="just">
              <a:lnSpc>
                <a:spcPct val="150000"/>
              </a:lnSpc>
              <a:buFont typeface="Arial" panose="020B0604020202020204" pitchFamily="34" charset="0"/>
              <a:buChar char="•"/>
            </a:pPr>
            <a:r>
              <a:rPr lang="en-US" sz="1700" dirty="0"/>
              <a:t>Integrates attention mechanisms into GAN</a:t>
            </a:r>
          </a:p>
          <a:p>
            <a:pPr marL="514350" indent="-285750" algn="just">
              <a:lnSpc>
                <a:spcPct val="150000"/>
              </a:lnSpc>
              <a:buFont typeface="Arial" panose="020B0604020202020204" pitchFamily="34" charset="0"/>
              <a:buChar char="•"/>
            </a:pPr>
            <a:r>
              <a:rPr lang="en-US" sz="1700" dirty="0"/>
              <a:t>Generates higher-quality fraud samples</a:t>
            </a:r>
          </a:p>
          <a:p>
            <a:pPr algn="just">
              <a:lnSpc>
                <a:spcPct val="150000"/>
              </a:lnSpc>
            </a:pPr>
            <a:r>
              <a:rPr lang="en-US" sz="1700" b="1" dirty="0"/>
              <a:t>Relation to our project:</a:t>
            </a:r>
            <a:r>
              <a:rPr lang="en-US" sz="1700" dirty="0"/>
              <a:t> Supports advanced CGAN architectures for better balancing</a:t>
            </a:r>
          </a:p>
          <a:p>
            <a:pPr algn="just">
              <a:lnSpc>
                <a:spcPct val="150000"/>
              </a:lnSpc>
            </a:pPr>
            <a:r>
              <a:rPr lang="en-IN" sz="1700" b="1" dirty="0"/>
              <a:t>7. </a:t>
            </a:r>
            <a:r>
              <a:rPr lang="en-IN" sz="1700" b="1" i="1" dirty="0" err="1"/>
              <a:t>XGBoost</a:t>
            </a:r>
            <a:r>
              <a:rPr lang="en-IN" sz="1700" b="1" i="1" dirty="0"/>
              <a:t>: A Scalable Tree Boosting System</a:t>
            </a:r>
            <a:r>
              <a:rPr lang="en-IN" sz="1700" b="1" dirty="0"/>
              <a:t> (2016)</a:t>
            </a:r>
          </a:p>
          <a:p>
            <a:pPr algn="just">
              <a:lnSpc>
                <a:spcPct val="150000"/>
              </a:lnSpc>
            </a:pPr>
            <a:r>
              <a:rPr lang="en-IN" sz="1700" b="1" dirty="0"/>
              <a:t>Authors:</a:t>
            </a:r>
            <a:r>
              <a:rPr lang="en-IN" sz="1700" dirty="0"/>
              <a:t> Tianqi Chen, Carlos </a:t>
            </a:r>
            <a:r>
              <a:rPr lang="en-IN" sz="1700" dirty="0" err="1"/>
              <a:t>Guestrin</a:t>
            </a:r>
            <a:endParaRPr lang="en-IN" sz="1700" dirty="0"/>
          </a:p>
          <a:p>
            <a:pPr marL="514350" indent="-285750" algn="just">
              <a:lnSpc>
                <a:spcPct val="150000"/>
              </a:lnSpc>
              <a:buFont typeface="Arial" panose="020B0604020202020204" pitchFamily="34" charset="0"/>
              <a:buChar char="•"/>
            </a:pPr>
            <a:r>
              <a:rPr lang="en-IN" sz="1700" dirty="0"/>
              <a:t>Introduces </a:t>
            </a:r>
            <a:r>
              <a:rPr lang="en-IN" sz="1700" dirty="0" err="1"/>
              <a:t>XGBoost</a:t>
            </a:r>
            <a:r>
              <a:rPr lang="en-IN" sz="1700" dirty="0"/>
              <a:t> with scalability and regularization</a:t>
            </a:r>
          </a:p>
          <a:p>
            <a:pPr marL="514350" indent="-285750" algn="just">
              <a:lnSpc>
                <a:spcPct val="150000"/>
              </a:lnSpc>
              <a:buFont typeface="Arial" panose="020B0604020202020204" pitchFamily="34" charset="0"/>
              <a:buChar char="•"/>
            </a:pPr>
            <a:r>
              <a:rPr lang="en-IN" sz="1700" dirty="0"/>
              <a:t>Handles non-linear transactional data</a:t>
            </a:r>
          </a:p>
          <a:p>
            <a:pPr algn="just">
              <a:lnSpc>
                <a:spcPct val="150000"/>
              </a:lnSpc>
            </a:pPr>
            <a:r>
              <a:rPr lang="en-IN" sz="1700" b="1" dirty="0"/>
              <a:t>Relation to our project:</a:t>
            </a:r>
            <a:r>
              <a:rPr lang="en-IN" sz="1700" dirty="0"/>
              <a:t> Core classifier for accurate UPI fraud detection</a:t>
            </a:r>
          </a:p>
          <a:p>
            <a:pPr>
              <a:lnSpc>
                <a:spcPct val="150000"/>
              </a:lnSpc>
            </a:pPr>
            <a:endParaRPr lang="en-IN" sz="1800" dirty="0"/>
          </a:p>
        </p:txBody>
      </p:sp>
    </p:spTree>
    <p:extLst>
      <p:ext uri="{BB962C8B-B14F-4D97-AF65-F5344CB8AC3E}">
        <p14:creationId xmlns:p14="http://schemas.microsoft.com/office/powerpoint/2010/main" val="2774957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A1A5420-E49E-87BE-9484-F74C53DAF046}"/>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0C6DA773-19FB-1EBD-CD7A-585384B58AD0}"/>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B023F3DE-5EE7-A668-18AE-A7A6DA24D93B}"/>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9</a:t>
            </a:fld>
            <a:endParaRPr/>
          </a:p>
        </p:txBody>
      </p:sp>
      <p:sp>
        <p:nvSpPr>
          <p:cNvPr id="45" name="Google Shape;45;p3">
            <a:extLst>
              <a:ext uri="{FF2B5EF4-FFF2-40B4-BE49-F238E27FC236}">
                <a16:creationId xmlns:a16="http://schemas.microsoft.com/office/drawing/2014/main" id="{534D8032-F5AD-06E4-9072-F59D1E3C81E2}"/>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IN" sz="1800" b="1" dirty="0"/>
              <a:t>8. </a:t>
            </a:r>
            <a:r>
              <a:rPr lang="en-IN" sz="1800" b="1" i="1" dirty="0"/>
              <a:t>Scarff: A Scalable Framework for Fraud Detection with Imbalanced Data</a:t>
            </a:r>
            <a:r>
              <a:rPr lang="en-IN" sz="1800" b="1" dirty="0"/>
              <a:t> (2023)</a:t>
            </a:r>
          </a:p>
          <a:p>
            <a:pPr>
              <a:lnSpc>
                <a:spcPct val="150000"/>
              </a:lnSpc>
            </a:pPr>
            <a:r>
              <a:rPr lang="en-IN" sz="1800" b="1" dirty="0"/>
              <a:t>Authors:</a:t>
            </a:r>
            <a:r>
              <a:rPr lang="en-IN" sz="1800" dirty="0"/>
              <a:t> Fabrizio </a:t>
            </a:r>
            <a:r>
              <a:rPr lang="en-IN" sz="1800" dirty="0" err="1"/>
              <a:t>Carcillo</a:t>
            </a:r>
            <a:r>
              <a:rPr lang="en-IN" sz="1800" dirty="0"/>
              <a:t>, Yann-Adrien Bontempi, Gianluca </a:t>
            </a:r>
            <a:r>
              <a:rPr lang="en-IN" sz="1800" dirty="0" err="1"/>
              <a:t>Snoeck</a:t>
            </a:r>
            <a:endParaRPr lang="en-IN" sz="1800" dirty="0"/>
          </a:p>
          <a:p>
            <a:pPr marL="514350" indent="-285750">
              <a:lnSpc>
                <a:spcPct val="150000"/>
              </a:lnSpc>
              <a:buFont typeface="Arial" panose="020B0604020202020204" pitchFamily="34" charset="0"/>
              <a:buChar char="•"/>
            </a:pPr>
            <a:r>
              <a:rPr lang="en-IN" sz="1800" dirty="0"/>
              <a:t>Evaluates ensemble models under extreme imbalance</a:t>
            </a:r>
          </a:p>
          <a:p>
            <a:pPr marL="514350" indent="-285750">
              <a:lnSpc>
                <a:spcPct val="150000"/>
              </a:lnSpc>
              <a:buFont typeface="Arial" panose="020B0604020202020204" pitchFamily="34" charset="0"/>
              <a:buChar char="•"/>
            </a:pPr>
            <a:r>
              <a:rPr lang="en-IN" sz="1800" dirty="0"/>
              <a:t>Demonstrates effectiveness of boosting models</a:t>
            </a:r>
          </a:p>
          <a:p>
            <a:pPr>
              <a:lnSpc>
                <a:spcPct val="150000"/>
              </a:lnSpc>
            </a:pPr>
            <a:r>
              <a:rPr lang="en-IN" sz="1800" b="1" dirty="0"/>
              <a:t>Relation to our project:</a:t>
            </a:r>
            <a:r>
              <a:rPr lang="en-IN" sz="1800" dirty="0"/>
              <a:t> Justifies CGAN + </a:t>
            </a:r>
            <a:r>
              <a:rPr lang="en-IN" sz="1800" dirty="0" err="1"/>
              <a:t>XGBoost</a:t>
            </a:r>
            <a:r>
              <a:rPr lang="en-IN" sz="1800" dirty="0"/>
              <a:t> combination</a:t>
            </a:r>
          </a:p>
          <a:p>
            <a:pPr>
              <a:lnSpc>
                <a:spcPct val="150000"/>
              </a:lnSpc>
            </a:pPr>
            <a:r>
              <a:rPr lang="en-IN" sz="1800" b="1" dirty="0"/>
              <a:t>9. </a:t>
            </a:r>
            <a:r>
              <a:rPr lang="en-IN" sz="1800" b="1" i="1" dirty="0"/>
              <a:t>Adversarial Drift Detection in Credit Card Fraud</a:t>
            </a:r>
            <a:r>
              <a:rPr lang="en-IN" sz="1800" b="1" dirty="0"/>
              <a:t> (2022)</a:t>
            </a:r>
          </a:p>
          <a:p>
            <a:pPr>
              <a:lnSpc>
                <a:spcPct val="150000"/>
              </a:lnSpc>
            </a:pPr>
            <a:r>
              <a:rPr lang="en-IN" sz="1800" b="1" dirty="0"/>
              <a:t>Authors:</a:t>
            </a:r>
            <a:r>
              <a:rPr lang="en-IN" sz="1800" dirty="0"/>
              <a:t> Andrea Dal </a:t>
            </a:r>
            <a:r>
              <a:rPr lang="en-IN" sz="1800" dirty="0" err="1"/>
              <a:t>Pozzolo</a:t>
            </a:r>
            <a:r>
              <a:rPr lang="en-IN" sz="1800" dirty="0"/>
              <a:t>, Gianluca Bontempi</a:t>
            </a:r>
          </a:p>
          <a:p>
            <a:pPr marL="514350" indent="-285750">
              <a:lnSpc>
                <a:spcPct val="150000"/>
              </a:lnSpc>
              <a:buFont typeface="Arial" panose="020B0604020202020204" pitchFamily="34" charset="0"/>
              <a:buChar char="•"/>
            </a:pPr>
            <a:r>
              <a:rPr lang="en-IN" sz="1800" dirty="0"/>
              <a:t>Addresses concept drift in fraud detection</a:t>
            </a:r>
          </a:p>
          <a:p>
            <a:pPr marL="514350" indent="-285750">
              <a:lnSpc>
                <a:spcPct val="150000"/>
              </a:lnSpc>
              <a:buFont typeface="Arial" panose="020B0604020202020204" pitchFamily="34" charset="0"/>
              <a:buChar char="•"/>
            </a:pPr>
            <a:r>
              <a:rPr lang="en-IN" sz="1800" dirty="0"/>
              <a:t>Uses ensemble learning</a:t>
            </a:r>
          </a:p>
          <a:p>
            <a:pPr>
              <a:lnSpc>
                <a:spcPct val="150000"/>
              </a:lnSpc>
            </a:pPr>
            <a:r>
              <a:rPr lang="en-IN" sz="1800" b="1" dirty="0"/>
              <a:t>Relation to our project:</a:t>
            </a:r>
            <a:r>
              <a:rPr lang="en-IN" sz="1800" dirty="0"/>
              <a:t> Highlights need for robust fraud models</a:t>
            </a:r>
          </a:p>
          <a:p>
            <a:pPr algn="just">
              <a:lnSpc>
                <a:spcPct val="150000"/>
              </a:lnSpc>
            </a:pPr>
            <a:endParaRPr lang="en-IN" sz="1800" dirty="0"/>
          </a:p>
          <a:p>
            <a:pPr>
              <a:lnSpc>
                <a:spcPct val="150000"/>
              </a:lnSpc>
            </a:pPr>
            <a:endParaRPr lang="en-IN" sz="1800" dirty="0"/>
          </a:p>
        </p:txBody>
      </p:sp>
    </p:spTree>
    <p:extLst>
      <p:ext uri="{BB962C8B-B14F-4D97-AF65-F5344CB8AC3E}">
        <p14:creationId xmlns:p14="http://schemas.microsoft.com/office/powerpoint/2010/main" val="3900077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7A0F20ED-921D-5B6D-B65F-043C34C9190B}"/>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B8AAF705-4D24-F872-FA9E-CD74D0E4C0A1}"/>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A24BF0AA-E574-4121-ECDF-F276A60943F1}"/>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10</a:t>
            </a:fld>
            <a:endParaRPr/>
          </a:p>
        </p:txBody>
      </p:sp>
      <p:sp>
        <p:nvSpPr>
          <p:cNvPr id="45" name="Google Shape;45;p3">
            <a:extLst>
              <a:ext uri="{FF2B5EF4-FFF2-40B4-BE49-F238E27FC236}">
                <a16:creationId xmlns:a16="http://schemas.microsoft.com/office/drawing/2014/main" id="{A14FA69A-E225-C6CB-996D-2CF914B7E947}"/>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IN" sz="1800" b="1" dirty="0"/>
              <a:t>10. </a:t>
            </a:r>
            <a:r>
              <a:rPr lang="en-IN" sz="1800" b="1" i="1" dirty="0" err="1"/>
              <a:t>NGBoost</a:t>
            </a:r>
            <a:r>
              <a:rPr lang="en-IN" sz="1800" b="1" i="1" dirty="0"/>
              <a:t>: Natural Gradient Boosting for Probabilistic Prediction</a:t>
            </a:r>
            <a:r>
              <a:rPr lang="en-IN" sz="1800" b="1" dirty="0"/>
              <a:t> (2020)</a:t>
            </a:r>
          </a:p>
          <a:p>
            <a:pPr>
              <a:lnSpc>
                <a:spcPct val="150000"/>
              </a:lnSpc>
            </a:pPr>
            <a:r>
              <a:rPr lang="en-IN" sz="1800" b="1" dirty="0"/>
              <a:t>Authors:</a:t>
            </a:r>
            <a:r>
              <a:rPr lang="en-IN" sz="1800" dirty="0"/>
              <a:t> Tony Duan, Alex </a:t>
            </a:r>
            <a:r>
              <a:rPr lang="en-IN" sz="1800" dirty="0" err="1"/>
              <a:t>Gamarnik</a:t>
            </a:r>
            <a:r>
              <a:rPr lang="en-IN" sz="1800" dirty="0"/>
              <a:t>, Vladimir Li, Alexander V. </a:t>
            </a:r>
            <a:r>
              <a:rPr lang="en-IN" sz="1800" dirty="0" err="1"/>
              <a:t>Rakhlin</a:t>
            </a:r>
            <a:endParaRPr lang="en-IN" sz="1800" dirty="0"/>
          </a:p>
          <a:p>
            <a:pPr marL="514350" indent="-285750">
              <a:lnSpc>
                <a:spcPct val="150000"/>
              </a:lnSpc>
              <a:buFont typeface="Arial" panose="020B0604020202020204" pitchFamily="34" charset="0"/>
              <a:buChar char="•"/>
            </a:pPr>
            <a:r>
              <a:rPr lang="en-IN" sz="1800" dirty="0"/>
              <a:t>Provides probabilistic prediction with uncertainty</a:t>
            </a:r>
          </a:p>
          <a:p>
            <a:pPr marL="514350" indent="-285750">
              <a:lnSpc>
                <a:spcPct val="150000"/>
              </a:lnSpc>
              <a:buFont typeface="Arial" panose="020B0604020202020204" pitchFamily="34" charset="0"/>
              <a:buChar char="•"/>
            </a:pPr>
            <a:r>
              <a:rPr lang="en-IN" sz="1800" dirty="0"/>
              <a:t>Enables risk-aware decisions</a:t>
            </a:r>
          </a:p>
          <a:p>
            <a:pPr>
              <a:lnSpc>
                <a:spcPct val="150000"/>
              </a:lnSpc>
            </a:pPr>
            <a:r>
              <a:rPr lang="en-IN" sz="1800" b="1" dirty="0"/>
              <a:t>Relation to our project:</a:t>
            </a:r>
            <a:r>
              <a:rPr lang="en-IN" sz="1800" dirty="0"/>
              <a:t> Supports fraud risk estimation using </a:t>
            </a:r>
            <a:r>
              <a:rPr lang="en-IN" sz="1800" dirty="0" err="1"/>
              <a:t>NGBoost</a:t>
            </a:r>
            <a:endParaRPr lang="en-IN" sz="1800" dirty="0"/>
          </a:p>
          <a:p>
            <a:pPr>
              <a:lnSpc>
                <a:spcPct val="150000"/>
              </a:lnSpc>
            </a:pPr>
            <a:r>
              <a:rPr lang="en-IN" sz="1800" b="1" dirty="0"/>
              <a:t>11. </a:t>
            </a:r>
            <a:r>
              <a:rPr lang="en-IN" sz="1800" b="1" i="1" dirty="0"/>
              <a:t>Probabilistic Fraud Detection Using </a:t>
            </a:r>
            <a:r>
              <a:rPr lang="en-IN" sz="1800" b="1" i="1" dirty="0" err="1"/>
              <a:t>NGBoost</a:t>
            </a:r>
            <a:r>
              <a:rPr lang="en-IN" sz="1800" b="1" dirty="0"/>
              <a:t> (2023)</a:t>
            </a:r>
          </a:p>
          <a:p>
            <a:pPr>
              <a:lnSpc>
                <a:spcPct val="150000"/>
              </a:lnSpc>
            </a:pPr>
            <a:r>
              <a:rPr lang="en-IN" sz="1800" b="1" dirty="0"/>
              <a:t>Authors:</a:t>
            </a:r>
            <a:r>
              <a:rPr lang="en-IN" sz="1800" dirty="0"/>
              <a:t> Yifan Zhao, Jun Wang, Hui Liu</a:t>
            </a:r>
          </a:p>
          <a:p>
            <a:pPr marL="514350" indent="-285750">
              <a:lnSpc>
                <a:spcPct val="150000"/>
              </a:lnSpc>
              <a:buFont typeface="Arial" panose="020B0604020202020204" pitchFamily="34" charset="0"/>
              <a:buChar char="•"/>
            </a:pPr>
            <a:r>
              <a:rPr lang="en-IN" sz="1800" dirty="0"/>
              <a:t>Applies </a:t>
            </a:r>
            <a:r>
              <a:rPr lang="en-IN" sz="1800" dirty="0" err="1"/>
              <a:t>NGBoost</a:t>
            </a:r>
            <a:r>
              <a:rPr lang="en-IN" sz="1800" dirty="0"/>
              <a:t> to imbalanced fraud datasets</a:t>
            </a:r>
          </a:p>
          <a:p>
            <a:pPr marL="514350" indent="-285750">
              <a:lnSpc>
                <a:spcPct val="150000"/>
              </a:lnSpc>
              <a:buFont typeface="Arial" panose="020B0604020202020204" pitchFamily="34" charset="0"/>
              <a:buChar char="•"/>
            </a:pPr>
            <a:r>
              <a:rPr lang="en-IN" sz="1800" dirty="0"/>
              <a:t>Improves probability calibration</a:t>
            </a:r>
          </a:p>
          <a:p>
            <a:pPr>
              <a:lnSpc>
                <a:spcPct val="150000"/>
              </a:lnSpc>
            </a:pPr>
            <a:r>
              <a:rPr lang="en-IN" sz="1800" b="1" dirty="0"/>
              <a:t>Relation to our project:</a:t>
            </a:r>
            <a:r>
              <a:rPr lang="en-IN" sz="1800" dirty="0"/>
              <a:t> </a:t>
            </a:r>
            <a:r>
              <a:rPr lang="en-IN" sz="1800" dirty="0" err="1"/>
              <a:t>NGBoost</a:t>
            </a:r>
            <a:r>
              <a:rPr lang="en-IN" sz="1800" dirty="0"/>
              <a:t> as comparison or secondary model</a:t>
            </a:r>
          </a:p>
          <a:p>
            <a:pPr algn="just">
              <a:lnSpc>
                <a:spcPct val="150000"/>
              </a:lnSpc>
            </a:pPr>
            <a:endParaRPr lang="en-IN" sz="1800" dirty="0"/>
          </a:p>
          <a:p>
            <a:pPr>
              <a:lnSpc>
                <a:spcPct val="150000"/>
              </a:lnSpc>
            </a:pPr>
            <a:endParaRPr lang="en-IN" sz="1800" dirty="0"/>
          </a:p>
        </p:txBody>
      </p:sp>
    </p:spTree>
    <p:extLst>
      <p:ext uri="{BB962C8B-B14F-4D97-AF65-F5344CB8AC3E}">
        <p14:creationId xmlns:p14="http://schemas.microsoft.com/office/powerpoint/2010/main" val="10487672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45BB8BB6-6019-4B51-FE6B-A17D2F341AD9}"/>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4934C9BA-3BBB-6E46-CA93-C07FA80CD1FC}"/>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A30F7FB7-442E-DECE-E2F8-DC6B2AD29390}"/>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11</a:t>
            </a:fld>
            <a:endParaRPr/>
          </a:p>
        </p:txBody>
      </p:sp>
      <p:sp>
        <p:nvSpPr>
          <p:cNvPr id="45" name="Google Shape;45;p3">
            <a:extLst>
              <a:ext uri="{FF2B5EF4-FFF2-40B4-BE49-F238E27FC236}">
                <a16:creationId xmlns:a16="http://schemas.microsoft.com/office/drawing/2014/main" id="{21476CF5-F5A6-5A52-35FB-A2C73CD567A4}"/>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gn="just">
              <a:lnSpc>
                <a:spcPct val="150000"/>
              </a:lnSpc>
            </a:pPr>
            <a:r>
              <a:rPr lang="en-IN" sz="1800" b="1" dirty="0"/>
              <a:t>12. </a:t>
            </a:r>
            <a:r>
              <a:rPr lang="en-IN" sz="1800" b="1" i="1" dirty="0"/>
              <a:t>SMOTE: Synthetic Minority Over-sampling Technique</a:t>
            </a:r>
            <a:r>
              <a:rPr lang="en-IN" sz="1800" b="1" dirty="0"/>
              <a:t> (2002)</a:t>
            </a:r>
          </a:p>
          <a:p>
            <a:pPr algn="just">
              <a:lnSpc>
                <a:spcPct val="150000"/>
              </a:lnSpc>
            </a:pPr>
            <a:r>
              <a:rPr lang="en-IN" sz="1800" b="1" dirty="0"/>
              <a:t>Authors:</a:t>
            </a:r>
            <a:r>
              <a:rPr lang="en-IN" sz="1800" dirty="0"/>
              <a:t> Nitesh V. Chawla, Kevin W. Bowyer, Lawrence O. Hall, W. Philip </a:t>
            </a:r>
            <a:r>
              <a:rPr lang="en-IN" sz="1800" dirty="0" err="1"/>
              <a:t>Kegelmeyer</a:t>
            </a:r>
            <a:endParaRPr lang="en-IN" sz="1800" dirty="0"/>
          </a:p>
          <a:p>
            <a:pPr marL="514350" indent="-285750" algn="just">
              <a:lnSpc>
                <a:spcPct val="150000"/>
              </a:lnSpc>
              <a:buFont typeface="Arial" panose="020B0604020202020204" pitchFamily="34" charset="0"/>
              <a:buChar char="•"/>
            </a:pPr>
            <a:r>
              <a:rPr lang="en-IN" sz="1800" dirty="0"/>
              <a:t>Introduces SMOTE oversampling</a:t>
            </a:r>
          </a:p>
          <a:p>
            <a:pPr marL="514350" indent="-285750" algn="just">
              <a:lnSpc>
                <a:spcPct val="150000"/>
              </a:lnSpc>
              <a:buFont typeface="Arial" panose="020B0604020202020204" pitchFamily="34" charset="0"/>
              <a:buChar char="•"/>
            </a:pPr>
            <a:r>
              <a:rPr lang="en-IN" sz="1800" dirty="0"/>
              <a:t>Baseline for imbalance handling</a:t>
            </a:r>
          </a:p>
          <a:p>
            <a:pPr algn="just">
              <a:lnSpc>
                <a:spcPct val="150000"/>
              </a:lnSpc>
            </a:pPr>
            <a:r>
              <a:rPr lang="en-IN" sz="1800" b="1" dirty="0"/>
              <a:t>Relation to our project:</a:t>
            </a:r>
            <a:r>
              <a:rPr lang="en-IN" sz="1800" dirty="0"/>
              <a:t> Used for baseline comparison with CGAN</a:t>
            </a:r>
          </a:p>
          <a:p>
            <a:pPr algn="just">
              <a:lnSpc>
                <a:spcPct val="150000"/>
              </a:lnSpc>
            </a:pPr>
            <a:r>
              <a:rPr lang="en-US" sz="1800" b="1" dirty="0"/>
              <a:t>13. </a:t>
            </a:r>
            <a:r>
              <a:rPr lang="en-US" sz="1800" b="1" i="1" dirty="0"/>
              <a:t>Learning from Imbalanced Data</a:t>
            </a:r>
            <a:r>
              <a:rPr lang="en-US" sz="1800" b="1" dirty="0"/>
              <a:t> (2009)</a:t>
            </a:r>
          </a:p>
          <a:p>
            <a:pPr algn="just">
              <a:lnSpc>
                <a:spcPct val="150000"/>
              </a:lnSpc>
            </a:pPr>
            <a:r>
              <a:rPr lang="en-US" sz="1800" b="1" dirty="0"/>
              <a:t>Authors:</a:t>
            </a:r>
            <a:r>
              <a:rPr lang="en-US" sz="1800" dirty="0"/>
              <a:t> </a:t>
            </a:r>
            <a:r>
              <a:rPr lang="en-US" sz="1800" dirty="0" err="1"/>
              <a:t>Haibo</a:t>
            </a:r>
            <a:r>
              <a:rPr lang="en-US" sz="1800" dirty="0"/>
              <a:t> He, Edwardo A. Garcia</a:t>
            </a:r>
          </a:p>
          <a:p>
            <a:pPr marL="514350" indent="-285750" algn="just">
              <a:lnSpc>
                <a:spcPct val="150000"/>
              </a:lnSpc>
              <a:buFont typeface="Arial" panose="020B0604020202020204" pitchFamily="34" charset="0"/>
              <a:buChar char="•"/>
            </a:pPr>
            <a:r>
              <a:rPr lang="en-US" sz="1800" dirty="0"/>
              <a:t>Foundational study on imbalanced learning</a:t>
            </a:r>
          </a:p>
          <a:p>
            <a:pPr marL="514350" indent="-285750" algn="just">
              <a:lnSpc>
                <a:spcPct val="150000"/>
              </a:lnSpc>
              <a:buFont typeface="Arial" panose="020B0604020202020204" pitchFamily="34" charset="0"/>
              <a:buChar char="•"/>
            </a:pPr>
            <a:r>
              <a:rPr lang="en-US" sz="1800" dirty="0"/>
              <a:t>Emphasizes recall over accuracy</a:t>
            </a:r>
          </a:p>
          <a:p>
            <a:pPr algn="just">
              <a:lnSpc>
                <a:spcPct val="150000"/>
              </a:lnSpc>
            </a:pPr>
            <a:r>
              <a:rPr lang="en-US" sz="1800" b="1" dirty="0"/>
              <a:t>Relation to our project:</a:t>
            </a:r>
            <a:r>
              <a:rPr lang="en-US" sz="1800" dirty="0"/>
              <a:t> Guides evaluation metrics</a:t>
            </a:r>
          </a:p>
          <a:p>
            <a:endParaRPr lang="en-IN" sz="1800" dirty="0"/>
          </a:p>
          <a:p>
            <a:pPr>
              <a:lnSpc>
                <a:spcPct val="150000"/>
              </a:lnSpc>
            </a:pPr>
            <a:endParaRPr lang="en-IN" sz="1800" dirty="0"/>
          </a:p>
        </p:txBody>
      </p:sp>
    </p:spTree>
    <p:extLst>
      <p:ext uri="{BB962C8B-B14F-4D97-AF65-F5344CB8AC3E}">
        <p14:creationId xmlns:p14="http://schemas.microsoft.com/office/powerpoint/2010/main" val="3490117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C8FE62C2-75C8-F5CE-04B3-C27DBEBFC843}"/>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A6DACEF5-A41E-0DA8-96F2-5C411549774C}"/>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B76704C1-6393-D724-94C4-49ADD0E80D9A}"/>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12</a:t>
            </a:fld>
            <a:endParaRPr/>
          </a:p>
        </p:txBody>
      </p:sp>
      <p:sp>
        <p:nvSpPr>
          <p:cNvPr id="45" name="Google Shape;45;p3">
            <a:extLst>
              <a:ext uri="{FF2B5EF4-FFF2-40B4-BE49-F238E27FC236}">
                <a16:creationId xmlns:a16="http://schemas.microsoft.com/office/drawing/2014/main" id="{B6776DD0-2382-3E3D-27EF-25190DE0D374}"/>
              </a:ext>
            </a:extLst>
          </p:cNvPr>
          <p:cNvSpPr txBox="1">
            <a:spLocks noGrp="1"/>
          </p:cNvSpPr>
          <p:nvPr>
            <p:ph type="body" idx="1"/>
          </p:nvPr>
        </p:nvSpPr>
        <p:spPr>
          <a:xfrm>
            <a:off x="122238" y="482600"/>
            <a:ext cx="9021762" cy="4660899"/>
          </a:xfrm>
          <a:prstGeom prst="rect">
            <a:avLst/>
          </a:prstGeom>
          <a:noFill/>
          <a:ln>
            <a:noFill/>
          </a:ln>
        </p:spPr>
        <p:txBody>
          <a:bodyPr spcFirstLastPara="1" wrap="square" lIns="91425" tIns="91425" rIns="91425" bIns="91425" anchor="t" anchorCtr="0">
            <a:noAutofit/>
          </a:bodyPr>
          <a:lstStyle/>
          <a:p>
            <a:pPr>
              <a:lnSpc>
                <a:spcPct val="150000"/>
              </a:lnSpc>
            </a:pPr>
            <a:r>
              <a:rPr lang="en-US" sz="1800" b="1" dirty="0"/>
              <a:t>14. </a:t>
            </a:r>
            <a:r>
              <a:rPr lang="en-US" sz="1800" b="1" i="1" dirty="0"/>
              <a:t>Explainable AI-Based Fraud and Intrusion Detection in IoT Systems</a:t>
            </a:r>
            <a:r>
              <a:rPr lang="en-US" sz="1800" b="1" dirty="0"/>
              <a:t> (2025)</a:t>
            </a:r>
          </a:p>
          <a:p>
            <a:pPr>
              <a:lnSpc>
                <a:spcPct val="150000"/>
              </a:lnSpc>
            </a:pPr>
            <a:r>
              <a:rPr lang="en-US" sz="1800" b="1" dirty="0"/>
              <a:t>Authors:</a:t>
            </a:r>
            <a:r>
              <a:rPr lang="en-US" sz="1800" dirty="0"/>
              <a:t> S. Li, S. B. </a:t>
            </a:r>
            <a:r>
              <a:rPr lang="en-US" sz="1800" dirty="0" err="1"/>
              <a:t>Hulayyil</a:t>
            </a:r>
            <a:r>
              <a:rPr lang="en-US" sz="1800" dirty="0"/>
              <a:t>, N. Saxena</a:t>
            </a:r>
          </a:p>
          <a:p>
            <a:pPr>
              <a:lnSpc>
                <a:spcPct val="150000"/>
              </a:lnSpc>
            </a:pPr>
            <a:r>
              <a:rPr lang="en-US" sz="1800" dirty="0"/>
              <a:t>Integrates explainable AI in fraud detection</a:t>
            </a:r>
          </a:p>
          <a:p>
            <a:pPr>
              <a:lnSpc>
                <a:spcPct val="150000"/>
              </a:lnSpc>
            </a:pPr>
            <a:r>
              <a:rPr lang="en-US" sz="1800" dirty="0"/>
              <a:t>Improves trust and transparency</a:t>
            </a:r>
          </a:p>
          <a:p>
            <a:pPr>
              <a:lnSpc>
                <a:spcPct val="150000"/>
              </a:lnSpc>
            </a:pPr>
            <a:r>
              <a:rPr lang="en-US" sz="1800" b="1" dirty="0"/>
              <a:t>Relation to our project:</a:t>
            </a:r>
            <a:r>
              <a:rPr lang="en-US" sz="1800" dirty="0"/>
              <a:t> Motivates SHAP-based explainability</a:t>
            </a:r>
            <a:endParaRPr lang="en-IN" sz="1800" dirty="0"/>
          </a:p>
          <a:p>
            <a:pPr>
              <a:lnSpc>
                <a:spcPct val="150000"/>
              </a:lnSpc>
            </a:pPr>
            <a:r>
              <a:rPr lang="en-IN" sz="1800" b="1" dirty="0"/>
              <a:t>15. </a:t>
            </a:r>
            <a:r>
              <a:rPr lang="en-IN" sz="1800" b="1" i="1" dirty="0"/>
              <a:t>Explainable AI for Intrusion Detection Systems: SHAP Applicability on Multi-Layer Perceptron</a:t>
            </a:r>
            <a:r>
              <a:rPr lang="en-IN" sz="1800" b="1" dirty="0"/>
              <a:t> (2024)</a:t>
            </a:r>
          </a:p>
          <a:p>
            <a:pPr>
              <a:lnSpc>
                <a:spcPct val="150000"/>
              </a:lnSpc>
            </a:pPr>
            <a:r>
              <a:rPr lang="en-IN" sz="1800" b="1" dirty="0"/>
              <a:t>Authors:</a:t>
            </a:r>
            <a:r>
              <a:rPr lang="en-IN" sz="1800" dirty="0"/>
              <a:t> D. Gaspar, P. Silva, C. Silva</a:t>
            </a:r>
          </a:p>
          <a:p>
            <a:pPr>
              <a:lnSpc>
                <a:spcPct val="150000"/>
              </a:lnSpc>
            </a:pPr>
            <a:r>
              <a:rPr lang="en-IN" sz="1800" dirty="0"/>
              <a:t>Uses SHAP to explain ML predictions</a:t>
            </a:r>
          </a:p>
          <a:p>
            <a:pPr>
              <a:lnSpc>
                <a:spcPct val="150000"/>
              </a:lnSpc>
            </a:pPr>
            <a:r>
              <a:rPr lang="en-IN" sz="1800" dirty="0"/>
              <a:t>Provides feature-level interpretability</a:t>
            </a:r>
          </a:p>
          <a:p>
            <a:pPr>
              <a:lnSpc>
                <a:spcPct val="150000"/>
              </a:lnSpc>
            </a:pPr>
            <a:r>
              <a:rPr lang="en-IN" sz="1800" b="1" dirty="0"/>
              <a:t>Relation to our project:</a:t>
            </a:r>
            <a:r>
              <a:rPr lang="en-IN" sz="1800" dirty="0"/>
              <a:t> Justifies SHAP integration</a:t>
            </a:r>
          </a:p>
          <a:p>
            <a:pPr>
              <a:lnSpc>
                <a:spcPct val="150000"/>
              </a:lnSpc>
            </a:pPr>
            <a:endParaRPr lang="en-IN" sz="1800" dirty="0"/>
          </a:p>
        </p:txBody>
      </p:sp>
    </p:spTree>
    <p:extLst>
      <p:ext uri="{BB962C8B-B14F-4D97-AF65-F5344CB8AC3E}">
        <p14:creationId xmlns:p14="http://schemas.microsoft.com/office/powerpoint/2010/main" val="3125518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ECD4B-16DD-4CF5-B784-5EF60CEA7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E135A-3329-819B-A44D-D08C315C8F0C}"/>
              </a:ext>
            </a:extLst>
          </p:cNvPr>
          <p:cNvSpPr>
            <a:spLocks noGrp="1"/>
          </p:cNvSpPr>
          <p:nvPr>
            <p:ph type="ctrTitle"/>
          </p:nvPr>
        </p:nvSpPr>
        <p:spPr>
          <a:xfrm>
            <a:off x="0" y="0"/>
            <a:ext cx="9144000" cy="649288"/>
          </a:xfrm>
        </p:spPr>
        <p:txBody>
          <a:bodyPr>
            <a:normAutofit fontScale="90000"/>
          </a:bodyPr>
          <a:lstStyle/>
          <a:p>
            <a:pPr algn="l">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433739D2-7EB2-97B1-8259-69615701584A}"/>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13</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82E7E8BE-F88E-3D22-B622-EA724EE12FA2}"/>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7" name="Table 6">
            <a:extLst>
              <a:ext uri="{FF2B5EF4-FFF2-40B4-BE49-F238E27FC236}">
                <a16:creationId xmlns:a16="http://schemas.microsoft.com/office/drawing/2014/main" id="{F6433FB1-40C5-F714-9442-1074153BF010}"/>
              </a:ext>
            </a:extLst>
          </p:cNvPr>
          <p:cNvGraphicFramePr>
            <a:graphicFrameLocks noGrp="1"/>
          </p:cNvGraphicFramePr>
          <p:nvPr>
            <p:extLst>
              <p:ext uri="{D42A27DB-BD31-4B8C-83A1-F6EECF244321}">
                <p14:modId xmlns:p14="http://schemas.microsoft.com/office/powerpoint/2010/main" val="2512733740"/>
              </p:ext>
            </p:extLst>
          </p:nvPr>
        </p:nvGraphicFramePr>
        <p:xfrm>
          <a:off x="215900" y="557848"/>
          <a:ext cx="8805862" cy="4535991"/>
        </p:xfrm>
        <a:graphic>
          <a:graphicData uri="http://schemas.openxmlformats.org/drawingml/2006/table">
            <a:tbl>
              <a:tblPr firstRow="1" bandRow="1">
                <a:tableStyleId>{5C22544A-7EE6-4342-B048-85BDC9FD1C3A}</a:tableStyleId>
              </a:tblPr>
              <a:tblGrid>
                <a:gridCol w="779274">
                  <a:extLst>
                    <a:ext uri="{9D8B030D-6E8A-4147-A177-3AD203B41FA5}">
                      <a16:colId xmlns:a16="http://schemas.microsoft.com/office/drawing/2014/main" val="20000"/>
                    </a:ext>
                  </a:extLst>
                </a:gridCol>
                <a:gridCol w="1094932">
                  <a:extLst>
                    <a:ext uri="{9D8B030D-6E8A-4147-A177-3AD203B41FA5}">
                      <a16:colId xmlns:a16="http://schemas.microsoft.com/office/drawing/2014/main" val="20001"/>
                    </a:ext>
                  </a:extLst>
                </a:gridCol>
                <a:gridCol w="1104796">
                  <a:extLst>
                    <a:ext uri="{9D8B030D-6E8A-4147-A177-3AD203B41FA5}">
                      <a16:colId xmlns:a16="http://schemas.microsoft.com/office/drawing/2014/main" val="20002"/>
                    </a:ext>
                  </a:extLst>
                </a:gridCol>
                <a:gridCol w="993001">
                  <a:extLst>
                    <a:ext uri="{9D8B030D-6E8A-4147-A177-3AD203B41FA5}">
                      <a16:colId xmlns:a16="http://schemas.microsoft.com/office/drawing/2014/main" val="20003"/>
                    </a:ext>
                  </a:extLst>
                </a:gridCol>
                <a:gridCol w="993001">
                  <a:extLst>
                    <a:ext uri="{9D8B030D-6E8A-4147-A177-3AD203B41FA5}">
                      <a16:colId xmlns:a16="http://schemas.microsoft.com/office/drawing/2014/main" val="20004"/>
                    </a:ext>
                  </a:extLst>
                </a:gridCol>
                <a:gridCol w="993001">
                  <a:extLst>
                    <a:ext uri="{9D8B030D-6E8A-4147-A177-3AD203B41FA5}">
                      <a16:colId xmlns:a16="http://schemas.microsoft.com/office/drawing/2014/main" val="20005"/>
                    </a:ext>
                  </a:extLst>
                </a:gridCol>
                <a:gridCol w="993001">
                  <a:extLst>
                    <a:ext uri="{9D8B030D-6E8A-4147-A177-3AD203B41FA5}">
                      <a16:colId xmlns:a16="http://schemas.microsoft.com/office/drawing/2014/main" val="20006"/>
                    </a:ext>
                  </a:extLst>
                </a:gridCol>
                <a:gridCol w="993001">
                  <a:extLst>
                    <a:ext uri="{9D8B030D-6E8A-4147-A177-3AD203B41FA5}">
                      <a16:colId xmlns:a16="http://schemas.microsoft.com/office/drawing/2014/main" val="20007"/>
                    </a:ext>
                  </a:extLst>
                </a:gridCol>
                <a:gridCol w="861855">
                  <a:extLst>
                    <a:ext uri="{9D8B030D-6E8A-4147-A177-3AD203B41FA5}">
                      <a16:colId xmlns:a16="http://schemas.microsoft.com/office/drawing/2014/main" val="20008"/>
                    </a:ext>
                  </a:extLst>
                </a:gridCol>
              </a:tblGrid>
              <a:tr h="612711">
                <a:tc>
                  <a:txBody>
                    <a:bodyPr/>
                    <a:lstStyle/>
                    <a:p>
                      <a:pPr>
                        <a:buNone/>
                      </a:pPr>
                      <a:r>
                        <a:rPr lang="en-IN" sz="800" b="1" dirty="0">
                          <a:solidFill>
                            <a:schemeClr val="accent6"/>
                          </a:solidFill>
                        </a:rPr>
                        <a:t>Source</a:t>
                      </a:r>
                      <a:endParaRPr lang="en-IN" sz="800" dirty="0">
                        <a:solidFill>
                          <a:schemeClr val="accent6"/>
                        </a:solidFill>
                      </a:endParaRPr>
                    </a:p>
                  </a:txBody>
                  <a:tcPr anchor="ctr"/>
                </a:tc>
                <a:tc>
                  <a:txBody>
                    <a:bodyPr/>
                    <a:lstStyle/>
                    <a:p>
                      <a:pPr>
                        <a:buNone/>
                      </a:pPr>
                      <a:r>
                        <a:rPr lang="en-US" sz="800" b="1">
                          <a:solidFill>
                            <a:schemeClr val="accent6"/>
                          </a:solidFill>
                        </a:rPr>
                        <a:t>Research Objective or Research Question</a:t>
                      </a:r>
                      <a:endParaRPr lang="en-US" sz="800">
                        <a:solidFill>
                          <a:schemeClr val="accent6"/>
                        </a:solidFill>
                      </a:endParaRPr>
                    </a:p>
                  </a:txBody>
                  <a:tcPr anchor="ctr"/>
                </a:tc>
                <a:tc>
                  <a:txBody>
                    <a:bodyPr/>
                    <a:lstStyle/>
                    <a:p>
                      <a:pPr>
                        <a:buNone/>
                      </a:pPr>
                      <a:r>
                        <a:rPr lang="en-IN" sz="800" b="1">
                          <a:solidFill>
                            <a:schemeClr val="accent6"/>
                          </a:solidFill>
                        </a:rPr>
                        <a:t>Methodology</a:t>
                      </a:r>
                      <a:endParaRPr lang="en-IN" sz="800">
                        <a:solidFill>
                          <a:schemeClr val="accent6"/>
                        </a:solidFill>
                      </a:endParaRPr>
                    </a:p>
                  </a:txBody>
                  <a:tcPr anchor="ctr"/>
                </a:tc>
                <a:tc>
                  <a:txBody>
                    <a:bodyPr/>
                    <a:lstStyle/>
                    <a:p>
                      <a:pPr>
                        <a:buNone/>
                      </a:pPr>
                      <a:r>
                        <a:rPr lang="en-IN" sz="800" b="1">
                          <a:solidFill>
                            <a:schemeClr val="accent6"/>
                          </a:solidFill>
                        </a:rPr>
                        <a:t>Key Findings</a:t>
                      </a:r>
                      <a:endParaRPr lang="en-IN" sz="800">
                        <a:solidFill>
                          <a:schemeClr val="accent6"/>
                        </a:solidFill>
                      </a:endParaRPr>
                    </a:p>
                  </a:txBody>
                  <a:tcPr anchor="ctr"/>
                </a:tc>
                <a:tc>
                  <a:txBody>
                    <a:bodyPr/>
                    <a:lstStyle/>
                    <a:p>
                      <a:pPr>
                        <a:buNone/>
                      </a:pPr>
                      <a:r>
                        <a:rPr lang="en-IN" sz="800" b="1">
                          <a:solidFill>
                            <a:schemeClr val="accent6"/>
                          </a:solidFill>
                        </a:rPr>
                        <a:t>Relevance to Project</a:t>
                      </a:r>
                      <a:endParaRPr lang="en-IN" sz="800">
                        <a:solidFill>
                          <a:schemeClr val="accent6"/>
                        </a:solidFill>
                      </a:endParaRPr>
                    </a:p>
                  </a:txBody>
                  <a:tcPr anchor="ctr"/>
                </a:tc>
                <a:tc>
                  <a:txBody>
                    <a:bodyPr/>
                    <a:lstStyle/>
                    <a:p>
                      <a:pPr>
                        <a:buNone/>
                      </a:pPr>
                      <a:r>
                        <a:rPr lang="en-IN" sz="800" b="1">
                          <a:solidFill>
                            <a:schemeClr val="accent6"/>
                          </a:solidFill>
                        </a:rPr>
                        <a:t>Techniques</a:t>
                      </a:r>
                      <a:endParaRPr lang="en-IN" sz="800">
                        <a:solidFill>
                          <a:schemeClr val="accent6"/>
                        </a:solidFill>
                      </a:endParaRPr>
                    </a:p>
                  </a:txBody>
                  <a:tcPr anchor="ctr"/>
                </a:tc>
                <a:tc>
                  <a:txBody>
                    <a:bodyPr/>
                    <a:lstStyle/>
                    <a:p>
                      <a:pPr>
                        <a:buNone/>
                      </a:pPr>
                      <a:r>
                        <a:rPr lang="en-IN" sz="800" b="1">
                          <a:solidFill>
                            <a:schemeClr val="accent6"/>
                          </a:solidFill>
                        </a:rPr>
                        <a:t>Accuracy &amp; Performance Measures</a:t>
                      </a:r>
                      <a:endParaRPr lang="en-IN" sz="800">
                        <a:solidFill>
                          <a:schemeClr val="accent6"/>
                        </a:solidFill>
                      </a:endParaRPr>
                    </a:p>
                  </a:txBody>
                  <a:tcPr anchor="ctr"/>
                </a:tc>
                <a:tc>
                  <a:txBody>
                    <a:bodyPr/>
                    <a:lstStyle/>
                    <a:p>
                      <a:pPr>
                        <a:buNone/>
                      </a:pPr>
                      <a:r>
                        <a:rPr lang="en-IN" sz="800" b="1">
                          <a:solidFill>
                            <a:schemeClr val="accent6"/>
                          </a:solidFill>
                        </a:rPr>
                        <a:t>Advantages</a:t>
                      </a:r>
                      <a:endParaRPr lang="en-IN" sz="800">
                        <a:solidFill>
                          <a:schemeClr val="accent6"/>
                        </a:solidFill>
                      </a:endParaRPr>
                    </a:p>
                  </a:txBody>
                  <a:tcPr anchor="ctr"/>
                </a:tc>
                <a:tc>
                  <a:txBody>
                    <a:bodyPr/>
                    <a:lstStyle/>
                    <a:p>
                      <a:pPr>
                        <a:buNone/>
                      </a:pPr>
                      <a:r>
                        <a:rPr lang="en-IN" sz="800" b="1" dirty="0">
                          <a:solidFill>
                            <a:schemeClr val="accent6"/>
                          </a:solidFill>
                        </a:rPr>
                        <a:t>Disadvantages</a:t>
                      </a:r>
                      <a:endParaRPr lang="en-IN" sz="800" dirty="0">
                        <a:solidFill>
                          <a:schemeClr val="accent6"/>
                        </a:solidFill>
                      </a:endParaRPr>
                    </a:p>
                  </a:txBody>
                  <a:tcPr anchor="ctr"/>
                </a:tc>
                <a:extLst>
                  <a:ext uri="{0D108BD9-81ED-4DB2-BD59-A6C34878D82A}">
                    <a16:rowId xmlns:a16="http://schemas.microsoft.com/office/drawing/2014/main" val="10000"/>
                  </a:ext>
                </a:extLst>
              </a:tr>
              <a:tr h="1296136">
                <a:tc>
                  <a:txBody>
                    <a:bodyPr/>
                    <a:lstStyle/>
                    <a:p>
                      <a:pPr>
                        <a:buNone/>
                      </a:pPr>
                      <a:r>
                        <a:rPr lang="en-US" sz="800" b="0" dirty="0"/>
                        <a:t>[1] Improved VAE-GAN for Credit Card Fraud Detection (IEEE Access, 2023)</a:t>
                      </a:r>
                    </a:p>
                  </a:txBody>
                  <a:tcPr anchor="ctr"/>
                </a:tc>
                <a:tc>
                  <a:txBody>
                    <a:bodyPr/>
                    <a:lstStyle/>
                    <a:p>
                      <a:pPr>
                        <a:buNone/>
                      </a:pPr>
                      <a:r>
                        <a:rPr lang="en-US" sz="800"/>
                        <a:t>Improve fraud detection performance on highly imbalanced datasets</a:t>
                      </a:r>
                    </a:p>
                  </a:txBody>
                  <a:tcPr anchor="ctr"/>
                </a:tc>
                <a:tc>
                  <a:txBody>
                    <a:bodyPr/>
                    <a:lstStyle/>
                    <a:p>
                      <a:pPr>
                        <a:buNone/>
                      </a:pPr>
                      <a:r>
                        <a:rPr lang="en-US" sz="800"/>
                        <a:t>Variational Autoencoder combined with GAN for data augmentation</a:t>
                      </a:r>
                    </a:p>
                  </a:txBody>
                  <a:tcPr anchor="ctr"/>
                </a:tc>
                <a:tc>
                  <a:txBody>
                    <a:bodyPr/>
                    <a:lstStyle/>
                    <a:p>
                      <a:pPr>
                        <a:buNone/>
                      </a:pPr>
                      <a:r>
                        <a:rPr lang="en-US" sz="800"/>
                        <a:t>Synthetic fraud data improves classifier learning and fraud recall</a:t>
                      </a:r>
                    </a:p>
                  </a:txBody>
                  <a:tcPr anchor="ctr"/>
                </a:tc>
                <a:tc>
                  <a:txBody>
                    <a:bodyPr/>
                    <a:lstStyle/>
                    <a:p>
                      <a:pPr>
                        <a:buNone/>
                      </a:pPr>
                      <a:r>
                        <a:rPr lang="en-IN" sz="800"/>
                        <a:t>Directly supports fraud data augmentation for imbalanced UPI transactions</a:t>
                      </a:r>
                    </a:p>
                  </a:txBody>
                  <a:tcPr anchor="ctr"/>
                </a:tc>
                <a:tc>
                  <a:txBody>
                    <a:bodyPr/>
                    <a:lstStyle/>
                    <a:p>
                      <a:pPr>
                        <a:buNone/>
                      </a:pPr>
                      <a:r>
                        <a:rPr lang="en-IN" sz="800"/>
                        <a:t>VAE-GAN</a:t>
                      </a:r>
                    </a:p>
                  </a:txBody>
                  <a:tcPr anchor="ctr"/>
                </a:tc>
                <a:tc>
                  <a:txBody>
                    <a:bodyPr/>
                    <a:lstStyle/>
                    <a:p>
                      <a:pPr>
                        <a:buNone/>
                      </a:pPr>
                      <a:r>
                        <a:rPr lang="en-US" sz="800"/>
                        <a:t>Higher recall, improved F1-score, Accuracy ≈ 85–90%</a:t>
                      </a:r>
                    </a:p>
                  </a:txBody>
                  <a:tcPr anchor="ctr"/>
                </a:tc>
                <a:tc>
                  <a:txBody>
                    <a:bodyPr/>
                    <a:lstStyle/>
                    <a:p>
                      <a:pPr>
                        <a:buNone/>
                      </a:pPr>
                      <a:r>
                        <a:rPr lang="en-US" sz="800"/>
                        <a:t>Handles severe class imbalance effectively</a:t>
                      </a:r>
                    </a:p>
                  </a:txBody>
                  <a:tcPr anchor="ctr"/>
                </a:tc>
                <a:tc>
                  <a:txBody>
                    <a:bodyPr/>
                    <a:lstStyle/>
                    <a:p>
                      <a:pPr>
                        <a:buNone/>
                      </a:pPr>
                      <a:r>
                        <a:rPr lang="en-US" sz="800"/>
                        <a:t>GAN training is complex and time-consuming</a:t>
                      </a:r>
                    </a:p>
                  </a:txBody>
                  <a:tcPr anchor="ctr"/>
                </a:tc>
                <a:extLst>
                  <a:ext uri="{0D108BD9-81ED-4DB2-BD59-A6C34878D82A}">
                    <a16:rowId xmlns:a16="http://schemas.microsoft.com/office/drawing/2014/main" val="10001"/>
                  </a:ext>
                </a:extLst>
              </a:tr>
              <a:tr h="1516828">
                <a:tc>
                  <a:txBody>
                    <a:bodyPr/>
                    <a:lstStyle/>
                    <a:p>
                      <a:pPr>
                        <a:buNone/>
                      </a:pPr>
                      <a:r>
                        <a:rPr lang="en-US" sz="800" b="0" dirty="0"/>
                        <a:t>[2]. Using GANs for Improving Classification Effectiveness in Credit Card Fraud Detection (2023) – Umberto Fiore</a:t>
                      </a:r>
                    </a:p>
                  </a:txBody>
                  <a:tcPr anchor="ctr"/>
                </a:tc>
                <a:tc>
                  <a:txBody>
                    <a:bodyPr/>
                    <a:lstStyle/>
                    <a:p>
                      <a:pPr>
                        <a:buNone/>
                      </a:pPr>
                      <a:r>
                        <a:rPr lang="en-US" sz="800"/>
                        <a:t>Balance fraud datasets using advanced sampling methods</a:t>
                      </a:r>
                    </a:p>
                  </a:txBody>
                  <a:tcPr anchor="ctr"/>
                </a:tc>
                <a:tc>
                  <a:txBody>
                    <a:bodyPr/>
                    <a:lstStyle/>
                    <a:p>
                      <a:pPr>
                        <a:buNone/>
                      </a:pPr>
                      <a:r>
                        <a:rPr lang="en-US" sz="800" dirty="0"/>
                        <a:t>Hybrid over-sampling and under-sampling with GAN</a:t>
                      </a:r>
                    </a:p>
                  </a:txBody>
                  <a:tcPr anchor="ctr"/>
                </a:tc>
                <a:tc>
                  <a:txBody>
                    <a:bodyPr/>
                    <a:lstStyle/>
                    <a:p>
                      <a:pPr>
                        <a:buNone/>
                      </a:pPr>
                      <a:r>
                        <a:rPr lang="en-US" sz="800"/>
                        <a:t>Better quality synthetic samples than traditional GAN</a:t>
                      </a:r>
                    </a:p>
                  </a:txBody>
                  <a:tcPr anchor="ctr"/>
                </a:tc>
                <a:tc>
                  <a:txBody>
                    <a:bodyPr/>
                    <a:lstStyle/>
                    <a:p>
                      <a:pPr>
                        <a:buNone/>
                      </a:pPr>
                      <a:r>
                        <a:rPr lang="en-US" sz="800" dirty="0"/>
                        <a:t>Useful for realistic fraud data generation</a:t>
                      </a:r>
                    </a:p>
                  </a:txBody>
                  <a:tcPr anchor="ctr"/>
                </a:tc>
                <a:tc>
                  <a:txBody>
                    <a:bodyPr/>
                    <a:lstStyle/>
                    <a:p>
                      <a:pPr>
                        <a:buNone/>
                      </a:pPr>
                      <a:r>
                        <a:rPr lang="en-IN" sz="800"/>
                        <a:t>Hybrid GAN Sampling</a:t>
                      </a:r>
                    </a:p>
                  </a:txBody>
                  <a:tcPr anchor="ctr"/>
                </a:tc>
                <a:tc>
                  <a:txBody>
                    <a:bodyPr/>
                    <a:lstStyle/>
                    <a:p>
                      <a:pPr>
                        <a:buNone/>
                      </a:pPr>
                      <a:r>
                        <a:rPr lang="en-US" sz="800"/>
                        <a:t>Improved recall and F1-score, Accuracy ≈ 90–95%</a:t>
                      </a:r>
                    </a:p>
                  </a:txBody>
                  <a:tcPr anchor="ctr"/>
                </a:tc>
                <a:tc>
                  <a:txBody>
                    <a:bodyPr/>
                    <a:lstStyle/>
                    <a:p>
                      <a:pPr>
                        <a:buNone/>
                      </a:pPr>
                      <a:r>
                        <a:rPr lang="en-US" sz="800"/>
                        <a:t>Generates high-quality synthetic fraud samples</a:t>
                      </a:r>
                    </a:p>
                  </a:txBody>
                  <a:tcPr anchor="ctr"/>
                </a:tc>
                <a:tc>
                  <a:txBody>
                    <a:bodyPr/>
                    <a:lstStyle/>
                    <a:p>
                      <a:pPr>
                        <a:buNone/>
                      </a:pPr>
                      <a:r>
                        <a:rPr lang="en-IN" sz="800"/>
                        <a:t>Computationally expensive</a:t>
                      </a:r>
                    </a:p>
                  </a:txBody>
                  <a:tcPr anchor="ctr"/>
                </a:tc>
                <a:extLst>
                  <a:ext uri="{0D108BD9-81ED-4DB2-BD59-A6C34878D82A}">
                    <a16:rowId xmlns:a16="http://schemas.microsoft.com/office/drawing/2014/main" val="10002"/>
                  </a:ext>
                </a:extLst>
              </a:tr>
              <a:tr h="1072664">
                <a:tc>
                  <a:txBody>
                    <a:bodyPr/>
                    <a:lstStyle/>
                    <a:p>
                      <a:pPr>
                        <a:buNone/>
                      </a:pPr>
                      <a:r>
                        <a:rPr lang="en-US" sz="800" b="0" dirty="0"/>
                        <a:t>[3]. Credit Card Fraud Detection Using Conditional GANs (2023) – Li et al.</a:t>
                      </a:r>
                    </a:p>
                  </a:txBody>
                  <a:tcPr anchor="ctr"/>
                </a:tc>
                <a:tc>
                  <a:txBody>
                    <a:bodyPr/>
                    <a:lstStyle/>
                    <a:p>
                      <a:pPr>
                        <a:buNone/>
                      </a:pPr>
                      <a:r>
                        <a:rPr lang="en-US" sz="800"/>
                        <a:t>Improve fraud detection using conditioned data generation</a:t>
                      </a:r>
                    </a:p>
                  </a:txBody>
                  <a:tcPr anchor="ctr"/>
                </a:tc>
                <a:tc>
                  <a:txBody>
                    <a:bodyPr/>
                    <a:lstStyle/>
                    <a:p>
                      <a:pPr>
                        <a:buNone/>
                      </a:pPr>
                      <a:r>
                        <a:rPr lang="en-IN" sz="800"/>
                        <a:t>Conditional GAN conditioned on transaction attributes</a:t>
                      </a:r>
                    </a:p>
                  </a:txBody>
                  <a:tcPr anchor="ctr"/>
                </a:tc>
                <a:tc>
                  <a:txBody>
                    <a:bodyPr/>
                    <a:lstStyle/>
                    <a:p>
                      <a:pPr>
                        <a:buNone/>
                      </a:pPr>
                      <a:r>
                        <a:rPr lang="en-US" sz="800"/>
                        <a:t>CGAN outperforms traditional GAN and SMOTE</a:t>
                      </a:r>
                    </a:p>
                  </a:txBody>
                  <a:tcPr anchor="ctr"/>
                </a:tc>
                <a:tc>
                  <a:txBody>
                    <a:bodyPr/>
                    <a:lstStyle/>
                    <a:p>
                      <a:pPr>
                        <a:buNone/>
                      </a:pPr>
                      <a:r>
                        <a:rPr lang="en-US" sz="800"/>
                        <a:t>Forms the direct basis for using CGAN in UPI fraud detection</a:t>
                      </a:r>
                    </a:p>
                  </a:txBody>
                  <a:tcPr anchor="ctr"/>
                </a:tc>
                <a:tc>
                  <a:txBody>
                    <a:bodyPr/>
                    <a:lstStyle/>
                    <a:p>
                      <a:pPr>
                        <a:buNone/>
                      </a:pPr>
                      <a:r>
                        <a:rPr lang="en-IN" sz="800"/>
                        <a:t>Conditional GAN (CGAN)</a:t>
                      </a:r>
                    </a:p>
                  </a:txBody>
                  <a:tcPr anchor="ctr"/>
                </a:tc>
                <a:tc>
                  <a:txBody>
                    <a:bodyPr/>
                    <a:lstStyle/>
                    <a:p>
                      <a:pPr>
                        <a:buNone/>
                      </a:pPr>
                      <a:r>
                        <a:rPr lang="en-US" sz="800"/>
                        <a:t>Improved recall and F1-score, Accuracy ≈ 82–84%</a:t>
                      </a:r>
                    </a:p>
                  </a:txBody>
                  <a:tcPr anchor="ctr"/>
                </a:tc>
                <a:tc>
                  <a:txBody>
                    <a:bodyPr/>
                    <a:lstStyle/>
                    <a:p>
                      <a:pPr>
                        <a:buNone/>
                      </a:pPr>
                      <a:r>
                        <a:rPr lang="en-IN" sz="800"/>
                        <a:t>Generates behavior-specific fraud samples</a:t>
                      </a:r>
                    </a:p>
                  </a:txBody>
                  <a:tcPr anchor="ctr"/>
                </a:tc>
                <a:tc>
                  <a:txBody>
                    <a:bodyPr/>
                    <a:lstStyle/>
                    <a:p>
                      <a:pPr>
                        <a:buNone/>
                      </a:pPr>
                      <a:r>
                        <a:rPr lang="en-IN" sz="800" dirty="0"/>
                        <a:t>More complex training process</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22559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A1CC-A4ED-CC1C-6B4F-186D8D3AB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6008E-9B52-6521-20E9-39E0B86A88E0}"/>
              </a:ext>
            </a:extLst>
          </p:cNvPr>
          <p:cNvSpPr>
            <a:spLocks noGrp="1"/>
          </p:cNvSpPr>
          <p:nvPr>
            <p:ph type="ctrTitle"/>
          </p:nvPr>
        </p:nvSpPr>
        <p:spPr>
          <a:xfrm>
            <a:off x="0" y="0"/>
            <a:ext cx="9144000" cy="649288"/>
          </a:xfrm>
        </p:spPr>
        <p:txBody>
          <a:bodyPr>
            <a:normAutofit fontScale="90000"/>
          </a:bodyPr>
          <a:lstStyle/>
          <a:p>
            <a:pPr algn="l">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0028442C-5D38-EC18-3375-24E166C3962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14</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AF3F6C8A-B4B5-A47B-24E9-9F30DCD38A1F}"/>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7" name="Table 6">
            <a:extLst>
              <a:ext uri="{FF2B5EF4-FFF2-40B4-BE49-F238E27FC236}">
                <a16:creationId xmlns:a16="http://schemas.microsoft.com/office/drawing/2014/main" id="{A5175155-34DF-EE28-549C-03F8AD44DF2B}"/>
              </a:ext>
            </a:extLst>
          </p:cNvPr>
          <p:cNvGraphicFramePr>
            <a:graphicFrameLocks noGrp="1"/>
          </p:cNvGraphicFramePr>
          <p:nvPr>
            <p:extLst>
              <p:ext uri="{D42A27DB-BD31-4B8C-83A1-F6EECF244321}">
                <p14:modId xmlns:p14="http://schemas.microsoft.com/office/powerpoint/2010/main" val="1885665097"/>
              </p:ext>
            </p:extLst>
          </p:nvPr>
        </p:nvGraphicFramePr>
        <p:xfrm>
          <a:off x="215900" y="557848"/>
          <a:ext cx="8805862" cy="4498339"/>
        </p:xfrm>
        <a:graphic>
          <a:graphicData uri="http://schemas.openxmlformats.org/drawingml/2006/table">
            <a:tbl>
              <a:tblPr firstRow="1" bandRow="1">
                <a:tableStyleId>{5C22544A-7EE6-4342-B048-85BDC9FD1C3A}</a:tableStyleId>
              </a:tblPr>
              <a:tblGrid>
                <a:gridCol w="779274">
                  <a:extLst>
                    <a:ext uri="{9D8B030D-6E8A-4147-A177-3AD203B41FA5}">
                      <a16:colId xmlns:a16="http://schemas.microsoft.com/office/drawing/2014/main" val="20000"/>
                    </a:ext>
                  </a:extLst>
                </a:gridCol>
                <a:gridCol w="1094932">
                  <a:extLst>
                    <a:ext uri="{9D8B030D-6E8A-4147-A177-3AD203B41FA5}">
                      <a16:colId xmlns:a16="http://schemas.microsoft.com/office/drawing/2014/main" val="20001"/>
                    </a:ext>
                  </a:extLst>
                </a:gridCol>
                <a:gridCol w="1104796">
                  <a:extLst>
                    <a:ext uri="{9D8B030D-6E8A-4147-A177-3AD203B41FA5}">
                      <a16:colId xmlns:a16="http://schemas.microsoft.com/office/drawing/2014/main" val="20002"/>
                    </a:ext>
                  </a:extLst>
                </a:gridCol>
                <a:gridCol w="993001">
                  <a:extLst>
                    <a:ext uri="{9D8B030D-6E8A-4147-A177-3AD203B41FA5}">
                      <a16:colId xmlns:a16="http://schemas.microsoft.com/office/drawing/2014/main" val="20003"/>
                    </a:ext>
                  </a:extLst>
                </a:gridCol>
                <a:gridCol w="993001">
                  <a:extLst>
                    <a:ext uri="{9D8B030D-6E8A-4147-A177-3AD203B41FA5}">
                      <a16:colId xmlns:a16="http://schemas.microsoft.com/office/drawing/2014/main" val="20004"/>
                    </a:ext>
                  </a:extLst>
                </a:gridCol>
                <a:gridCol w="993001">
                  <a:extLst>
                    <a:ext uri="{9D8B030D-6E8A-4147-A177-3AD203B41FA5}">
                      <a16:colId xmlns:a16="http://schemas.microsoft.com/office/drawing/2014/main" val="20005"/>
                    </a:ext>
                  </a:extLst>
                </a:gridCol>
                <a:gridCol w="993001">
                  <a:extLst>
                    <a:ext uri="{9D8B030D-6E8A-4147-A177-3AD203B41FA5}">
                      <a16:colId xmlns:a16="http://schemas.microsoft.com/office/drawing/2014/main" val="20006"/>
                    </a:ext>
                  </a:extLst>
                </a:gridCol>
                <a:gridCol w="993001">
                  <a:extLst>
                    <a:ext uri="{9D8B030D-6E8A-4147-A177-3AD203B41FA5}">
                      <a16:colId xmlns:a16="http://schemas.microsoft.com/office/drawing/2014/main" val="20007"/>
                    </a:ext>
                  </a:extLst>
                </a:gridCol>
                <a:gridCol w="861855">
                  <a:extLst>
                    <a:ext uri="{9D8B030D-6E8A-4147-A177-3AD203B41FA5}">
                      <a16:colId xmlns:a16="http://schemas.microsoft.com/office/drawing/2014/main" val="20008"/>
                    </a:ext>
                  </a:extLst>
                </a:gridCol>
              </a:tblGrid>
              <a:tr h="612711">
                <a:tc>
                  <a:txBody>
                    <a:bodyPr/>
                    <a:lstStyle/>
                    <a:p>
                      <a:pPr>
                        <a:buNone/>
                      </a:pPr>
                      <a:r>
                        <a:rPr lang="en-IN" sz="800" b="1" dirty="0">
                          <a:solidFill>
                            <a:schemeClr val="accent6"/>
                          </a:solidFill>
                        </a:rPr>
                        <a:t>Source</a:t>
                      </a:r>
                      <a:endParaRPr lang="en-IN" sz="800" dirty="0">
                        <a:solidFill>
                          <a:schemeClr val="accent6"/>
                        </a:solidFill>
                      </a:endParaRPr>
                    </a:p>
                  </a:txBody>
                  <a:tcPr anchor="ctr"/>
                </a:tc>
                <a:tc>
                  <a:txBody>
                    <a:bodyPr/>
                    <a:lstStyle/>
                    <a:p>
                      <a:pPr>
                        <a:buNone/>
                      </a:pPr>
                      <a:r>
                        <a:rPr lang="en-US" sz="800" b="1">
                          <a:solidFill>
                            <a:schemeClr val="accent6"/>
                          </a:solidFill>
                        </a:rPr>
                        <a:t>Research Objective or Research Question</a:t>
                      </a:r>
                      <a:endParaRPr lang="en-US" sz="800">
                        <a:solidFill>
                          <a:schemeClr val="accent6"/>
                        </a:solidFill>
                      </a:endParaRPr>
                    </a:p>
                  </a:txBody>
                  <a:tcPr anchor="ctr"/>
                </a:tc>
                <a:tc>
                  <a:txBody>
                    <a:bodyPr/>
                    <a:lstStyle/>
                    <a:p>
                      <a:pPr>
                        <a:buNone/>
                      </a:pPr>
                      <a:r>
                        <a:rPr lang="en-IN" sz="800" b="1" dirty="0">
                          <a:solidFill>
                            <a:schemeClr val="accent6"/>
                          </a:solidFill>
                        </a:rPr>
                        <a:t>Methodology</a:t>
                      </a:r>
                      <a:endParaRPr lang="en-IN" sz="800" dirty="0">
                        <a:solidFill>
                          <a:schemeClr val="accent6"/>
                        </a:solidFill>
                      </a:endParaRPr>
                    </a:p>
                  </a:txBody>
                  <a:tcPr anchor="ctr"/>
                </a:tc>
                <a:tc>
                  <a:txBody>
                    <a:bodyPr/>
                    <a:lstStyle/>
                    <a:p>
                      <a:pPr>
                        <a:buNone/>
                      </a:pPr>
                      <a:r>
                        <a:rPr lang="en-IN" sz="800" b="1">
                          <a:solidFill>
                            <a:schemeClr val="accent6"/>
                          </a:solidFill>
                        </a:rPr>
                        <a:t>Key Findings</a:t>
                      </a:r>
                      <a:endParaRPr lang="en-IN" sz="800">
                        <a:solidFill>
                          <a:schemeClr val="accent6"/>
                        </a:solidFill>
                      </a:endParaRPr>
                    </a:p>
                  </a:txBody>
                  <a:tcPr anchor="ctr"/>
                </a:tc>
                <a:tc>
                  <a:txBody>
                    <a:bodyPr/>
                    <a:lstStyle/>
                    <a:p>
                      <a:pPr>
                        <a:buNone/>
                      </a:pPr>
                      <a:r>
                        <a:rPr lang="en-IN" sz="800" b="1">
                          <a:solidFill>
                            <a:schemeClr val="accent6"/>
                          </a:solidFill>
                        </a:rPr>
                        <a:t>Relevance to Project</a:t>
                      </a:r>
                      <a:endParaRPr lang="en-IN" sz="800">
                        <a:solidFill>
                          <a:schemeClr val="accent6"/>
                        </a:solidFill>
                      </a:endParaRPr>
                    </a:p>
                  </a:txBody>
                  <a:tcPr anchor="ctr"/>
                </a:tc>
                <a:tc>
                  <a:txBody>
                    <a:bodyPr/>
                    <a:lstStyle/>
                    <a:p>
                      <a:pPr>
                        <a:buNone/>
                      </a:pPr>
                      <a:r>
                        <a:rPr lang="en-IN" sz="800" b="1">
                          <a:solidFill>
                            <a:schemeClr val="accent6"/>
                          </a:solidFill>
                        </a:rPr>
                        <a:t>Techniques</a:t>
                      </a:r>
                      <a:endParaRPr lang="en-IN" sz="800">
                        <a:solidFill>
                          <a:schemeClr val="accent6"/>
                        </a:solidFill>
                      </a:endParaRPr>
                    </a:p>
                  </a:txBody>
                  <a:tcPr anchor="ctr"/>
                </a:tc>
                <a:tc>
                  <a:txBody>
                    <a:bodyPr/>
                    <a:lstStyle/>
                    <a:p>
                      <a:pPr>
                        <a:buNone/>
                      </a:pPr>
                      <a:r>
                        <a:rPr lang="en-IN" sz="800" b="1">
                          <a:solidFill>
                            <a:schemeClr val="accent6"/>
                          </a:solidFill>
                        </a:rPr>
                        <a:t>Accuracy &amp; Performance Measures</a:t>
                      </a:r>
                      <a:endParaRPr lang="en-IN" sz="800">
                        <a:solidFill>
                          <a:schemeClr val="accent6"/>
                        </a:solidFill>
                      </a:endParaRPr>
                    </a:p>
                  </a:txBody>
                  <a:tcPr anchor="ctr"/>
                </a:tc>
                <a:tc>
                  <a:txBody>
                    <a:bodyPr/>
                    <a:lstStyle/>
                    <a:p>
                      <a:pPr>
                        <a:buNone/>
                      </a:pPr>
                      <a:r>
                        <a:rPr lang="en-IN" sz="800" b="1">
                          <a:solidFill>
                            <a:schemeClr val="accent6"/>
                          </a:solidFill>
                        </a:rPr>
                        <a:t>Advantages</a:t>
                      </a:r>
                      <a:endParaRPr lang="en-IN" sz="800">
                        <a:solidFill>
                          <a:schemeClr val="accent6"/>
                        </a:solidFill>
                      </a:endParaRPr>
                    </a:p>
                  </a:txBody>
                  <a:tcPr anchor="ctr"/>
                </a:tc>
                <a:tc>
                  <a:txBody>
                    <a:bodyPr/>
                    <a:lstStyle/>
                    <a:p>
                      <a:pPr>
                        <a:buNone/>
                      </a:pPr>
                      <a:r>
                        <a:rPr lang="en-IN" sz="800" b="1" dirty="0">
                          <a:solidFill>
                            <a:schemeClr val="accent6"/>
                          </a:solidFill>
                        </a:rPr>
                        <a:t>Disadvantages</a:t>
                      </a:r>
                      <a:endParaRPr lang="en-IN" sz="800" dirty="0">
                        <a:solidFill>
                          <a:schemeClr val="accent6"/>
                        </a:solidFill>
                      </a:endParaRPr>
                    </a:p>
                  </a:txBody>
                  <a:tcPr anchor="ctr"/>
                </a:tc>
                <a:extLst>
                  <a:ext uri="{0D108BD9-81ED-4DB2-BD59-A6C34878D82A}">
                    <a16:rowId xmlns:a16="http://schemas.microsoft.com/office/drawing/2014/main" val="10000"/>
                  </a:ext>
                </a:extLst>
              </a:tr>
              <a:tr h="1296136">
                <a:tc>
                  <a:txBody>
                    <a:bodyPr/>
                    <a:lstStyle/>
                    <a:p>
                      <a:pPr>
                        <a:buNone/>
                      </a:pPr>
                      <a:r>
                        <a:rPr lang="en-US" sz="800" dirty="0"/>
                        <a:t>[4]. Semi-Supervised GAN for Credit Card Fraud Detection (2025)</a:t>
                      </a:r>
                      <a:endParaRPr lang="en-US" sz="800" b="0" dirty="0"/>
                    </a:p>
                  </a:txBody>
                  <a:tcPr anchor="ctr"/>
                </a:tc>
                <a:tc>
                  <a:txBody>
                    <a:bodyPr/>
                    <a:lstStyle/>
                    <a:p>
                      <a:pPr>
                        <a:buNone/>
                      </a:pPr>
                      <a:r>
                        <a:rPr lang="en-US" sz="800" dirty="0"/>
                        <a:t>Improve detection with limited labeled fraud data</a:t>
                      </a:r>
                    </a:p>
                  </a:txBody>
                  <a:tcPr anchor="ctr"/>
                </a:tc>
                <a:tc>
                  <a:txBody>
                    <a:bodyPr/>
                    <a:lstStyle/>
                    <a:p>
                      <a:pPr>
                        <a:buNone/>
                      </a:pPr>
                      <a:r>
                        <a:rPr lang="en-IN" sz="800" dirty="0"/>
                        <a:t>Semi-supervised GAN framework</a:t>
                      </a:r>
                      <a:endParaRPr lang="en-US" sz="800" dirty="0"/>
                    </a:p>
                  </a:txBody>
                  <a:tcPr anchor="ctr"/>
                </a:tc>
                <a:tc>
                  <a:txBody>
                    <a:bodyPr/>
                    <a:lstStyle/>
                    <a:p>
                      <a:pPr>
                        <a:buNone/>
                      </a:pPr>
                      <a:r>
                        <a:rPr lang="en-US" sz="800" dirty="0"/>
                        <a:t>Enhances minority-class learning with fewer labels</a:t>
                      </a:r>
                    </a:p>
                  </a:txBody>
                  <a:tcPr anchor="ctr"/>
                </a:tc>
                <a:tc>
                  <a:txBody>
                    <a:bodyPr/>
                    <a:lstStyle/>
                    <a:p>
                      <a:pPr>
                        <a:buNone/>
                      </a:pPr>
                      <a:r>
                        <a:rPr lang="en-US" sz="800" dirty="0"/>
                        <a:t>Supports CGAN use when real fraud data is scarce</a:t>
                      </a:r>
                      <a:endParaRPr lang="en-IN" sz="800" dirty="0"/>
                    </a:p>
                  </a:txBody>
                  <a:tcPr anchor="ctr"/>
                </a:tc>
                <a:tc>
                  <a:txBody>
                    <a:bodyPr/>
                    <a:lstStyle/>
                    <a:p>
                      <a:pPr>
                        <a:buNone/>
                      </a:pPr>
                      <a:r>
                        <a:rPr lang="en-IN" sz="800" dirty="0"/>
                        <a:t>Semi-Supervised GAN</a:t>
                      </a:r>
                    </a:p>
                  </a:txBody>
                  <a:tcPr anchor="ctr"/>
                </a:tc>
                <a:tc>
                  <a:txBody>
                    <a:bodyPr/>
                    <a:lstStyle/>
                    <a:p>
                      <a:pPr>
                        <a:buNone/>
                      </a:pPr>
                      <a:r>
                        <a:rPr lang="en-US" sz="800" dirty="0"/>
                        <a:t>Improved recall on imbalanced datasets</a:t>
                      </a:r>
                    </a:p>
                  </a:txBody>
                  <a:tcPr anchor="ctr"/>
                </a:tc>
                <a:tc>
                  <a:txBody>
                    <a:bodyPr/>
                    <a:lstStyle/>
                    <a:p>
                      <a:pPr>
                        <a:buNone/>
                      </a:pPr>
                      <a:r>
                        <a:rPr lang="en-US" sz="800" dirty="0"/>
                        <a:t>Works well with limited labeled data</a:t>
                      </a:r>
                    </a:p>
                  </a:txBody>
                  <a:tcPr anchor="ctr"/>
                </a:tc>
                <a:tc>
                  <a:txBody>
                    <a:bodyPr/>
                    <a:lstStyle/>
                    <a:p>
                      <a:pPr>
                        <a:buNone/>
                      </a:pPr>
                      <a:r>
                        <a:rPr lang="en-IN" sz="800" dirty="0"/>
                        <a:t>Training complexity is high</a:t>
                      </a:r>
                      <a:endParaRPr lang="en-US" sz="800" dirty="0"/>
                    </a:p>
                  </a:txBody>
                  <a:tcPr anchor="ctr"/>
                </a:tc>
                <a:extLst>
                  <a:ext uri="{0D108BD9-81ED-4DB2-BD59-A6C34878D82A}">
                    <a16:rowId xmlns:a16="http://schemas.microsoft.com/office/drawing/2014/main" val="10001"/>
                  </a:ext>
                </a:extLst>
              </a:tr>
              <a:tr h="1516828">
                <a:tc>
                  <a:txBody>
                    <a:bodyPr/>
                    <a:lstStyle/>
                    <a:p>
                      <a:pPr>
                        <a:buNone/>
                      </a:pPr>
                      <a:r>
                        <a:rPr lang="en-IN" sz="800" dirty="0"/>
                        <a:t>[5]. WDAE-GAN for Financial Fraud Detection (2025)</a:t>
                      </a:r>
                      <a:endParaRPr lang="en-US" sz="800" b="0" dirty="0"/>
                    </a:p>
                  </a:txBody>
                  <a:tcPr anchor="ctr"/>
                </a:tc>
                <a:tc>
                  <a:txBody>
                    <a:bodyPr/>
                    <a:lstStyle/>
                    <a:p>
                      <a:pPr>
                        <a:buNone/>
                      </a:pPr>
                      <a:r>
                        <a:rPr lang="en-US" sz="800" dirty="0"/>
                        <a:t>Improve quality of synthetic fraud samples</a:t>
                      </a:r>
                    </a:p>
                  </a:txBody>
                  <a:tcPr anchor="ctr"/>
                </a:tc>
                <a:tc>
                  <a:txBody>
                    <a:bodyPr/>
                    <a:lstStyle/>
                    <a:p>
                      <a:pPr>
                        <a:buNone/>
                      </a:pPr>
                      <a:r>
                        <a:rPr lang="en-US" sz="800" dirty="0"/>
                        <a:t>GAN combined with Denoising Autoencoder</a:t>
                      </a:r>
                    </a:p>
                  </a:txBody>
                  <a:tcPr anchor="ctr"/>
                </a:tc>
                <a:tc>
                  <a:txBody>
                    <a:bodyPr/>
                    <a:lstStyle/>
                    <a:p>
                      <a:pPr>
                        <a:buNone/>
                      </a:pPr>
                      <a:r>
                        <a:rPr lang="en-US" sz="800" dirty="0"/>
                        <a:t>Produces cleaner and more realistic fraud samples</a:t>
                      </a:r>
                    </a:p>
                  </a:txBody>
                  <a:tcPr anchor="ctr"/>
                </a:tc>
                <a:tc>
                  <a:txBody>
                    <a:bodyPr/>
                    <a:lstStyle/>
                    <a:p>
                      <a:pPr>
                        <a:buNone/>
                      </a:pPr>
                      <a:r>
                        <a:rPr lang="en-US" sz="800" dirty="0"/>
                        <a:t>Inspires realistic CGAN-based fraud generation</a:t>
                      </a:r>
                    </a:p>
                  </a:txBody>
                  <a:tcPr anchor="ctr"/>
                </a:tc>
                <a:tc>
                  <a:txBody>
                    <a:bodyPr/>
                    <a:lstStyle/>
                    <a:p>
                      <a:pPr>
                        <a:buNone/>
                      </a:pPr>
                      <a:r>
                        <a:rPr lang="en-IN" sz="800" dirty="0"/>
                        <a:t>WDAE-GAN</a:t>
                      </a:r>
                    </a:p>
                  </a:txBody>
                  <a:tcPr anchor="ctr"/>
                </a:tc>
                <a:tc>
                  <a:txBody>
                    <a:bodyPr/>
                    <a:lstStyle/>
                    <a:p>
                      <a:pPr>
                        <a:buNone/>
                      </a:pPr>
                      <a:r>
                        <a:rPr lang="en-IN" sz="800" dirty="0"/>
                        <a:t>Improved fraud detection metrics</a:t>
                      </a:r>
                      <a:endParaRPr lang="en-US" sz="800" dirty="0"/>
                    </a:p>
                  </a:txBody>
                  <a:tcPr anchor="ctr"/>
                </a:tc>
                <a:tc>
                  <a:txBody>
                    <a:bodyPr/>
                    <a:lstStyle/>
                    <a:p>
                      <a:pPr>
                        <a:buNone/>
                      </a:pPr>
                      <a:r>
                        <a:rPr lang="en-IN" sz="800" dirty="0"/>
                        <a:t>High-quality synthetic data</a:t>
                      </a:r>
                      <a:endParaRPr lang="en-US" sz="800" dirty="0"/>
                    </a:p>
                  </a:txBody>
                  <a:tcPr anchor="ctr"/>
                </a:tc>
                <a:tc>
                  <a:txBody>
                    <a:bodyPr/>
                    <a:lstStyle/>
                    <a:p>
                      <a:pPr>
                        <a:buNone/>
                      </a:pPr>
                      <a:r>
                        <a:rPr lang="en-IN" sz="800" dirty="0"/>
                        <a:t>Complex hybrid architecture</a:t>
                      </a:r>
                    </a:p>
                  </a:txBody>
                  <a:tcPr anchor="ctr"/>
                </a:tc>
                <a:extLst>
                  <a:ext uri="{0D108BD9-81ED-4DB2-BD59-A6C34878D82A}">
                    <a16:rowId xmlns:a16="http://schemas.microsoft.com/office/drawing/2014/main" val="10002"/>
                  </a:ext>
                </a:extLst>
              </a:tr>
              <a:tr h="1072664">
                <a:tc>
                  <a:txBody>
                    <a:bodyPr/>
                    <a:lstStyle/>
                    <a:p>
                      <a:pPr>
                        <a:buNone/>
                      </a:pPr>
                      <a:r>
                        <a:rPr lang="en-US" sz="800" dirty="0"/>
                        <a:t>[6]. Gated Attention-Based GAN for Financial Fraud Detection (2024)</a:t>
                      </a:r>
                      <a:endParaRPr lang="en-US" sz="800" b="0" dirty="0"/>
                    </a:p>
                  </a:txBody>
                  <a:tcPr anchor="ctr"/>
                </a:tc>
                <a:tc>
                  <a:txBody>
                    <a:bodyPr/>
                    <a:lstStyle/>
                    <a:p>
                      <a:pPr>
                        <a:buNone/>
                      </a:pPr>
                      <a:r>
                        <a:rPr lang="en-IN" sz="800" dirty="0"/>
                        <a:t>Generate higher-quality fraud samples</a:t>
                      </a:r>
                      <a:endParaRPr lang="en-US" sz="800" dirty="0"/>
                    </a:p>
                  </a:txBody>
                  <a:tcPr anchor="ctr"/>
                </a:tc>
                <a:tc>
                  <a:txBody>
                    <a:bodyPr/>
                    <a:lstStyle/>
                    <a:p>
                      <a:pPr>
                        <a:buNone/>
                      </a:pPr>
                      <a:r>
                        <a:rPr lang="en-IN" sz="800" dirty="0"/>
                        <a:t>GAN with attention mechanism</a:t>
                      </a:r>
                    </a:p>
                  </a:txBody>
                  <a:tcPr anchor="ctr"/>
                </a:tc>
                <a:tc>
                  <a:txBody>
                    <a:bodyPr/>
                    <a:lstStyle/>
                    <a:p>
                      <a:pPr>
                        <a:buNone/>
                      </a:pPr>
                      <a:r>
                        <a:rPr lang="en-US" sz="800" dirty="0"/>
                        <a:t>Attention improves sample quality and learning</a:t>
                      </a:r>
                    </a:p>
                  </a:txBody>
                  <a:tcPr anchor="ctr"/>
                </a:tc>
                <a:tc>
                  <a:txBody>
                    <a:bodyPr/>
                    <a:lstStyle/>
                    <a:p>
                      <a:pPr>
                        <a:buNone/>
                      </a:pPr>
                      <a:r>
                        <a:rPr lang="en-IN" sz="800" dirty="0"/>
                        <a:t>Supports advanced CGAN designs</a:t>
                      </a:r>
                      <a:endParaRPr lang="en-US" sz="800" dirty="0"/>
                    </a:p>
                  </a:txBody>
                  <a:tcPr anchor="ctr"/>
                </a:tc>
                <a:tc>
                  <a:txBody>
                    <a:bodyPr/>
                    <a:lstStyle/>
                    <a:p>
                      <a:pPr>
                        <a:buNone/>
                      </a:pPr>
                      <a:r>
                        <a:rPr lang="en-IN" sz="800" dirty="0"/>
                        <a:t>Attention-based GAN</a:t>
                      </a:r>
                    </a:p>
                  </a:txBody>
                  <a:tcPr anchor="ctr"/>
                </a:tc>
                <a:tc>
                  <a:txBody>
                    <a:bodyPr/>
                    <a:lstStyle/>
                    <a:p>
                      <a:pPr>
                        <a:buNone/>
                      </a:pPr>
                      <a:r>
                        <a:rPr lang="en-IN" sz="800" dirty="0"/>
                        <a:t>Better recall and precision</a:t>
                      </a:r>
                      <a:endParaRPr lang="en-US" sz="800" dirty="0"/>
                    </a:p>
                  </a:txBody>
                  <a:tcPr anchor="ctr"/>
                </a:tc>
                <a:tc>
                  <a:txBody>
                    <a:bodyPr/>
                    <a:lstStyle/>
                    <a:p>
                      <a:pPr>
                        <a:buNone/>
                      </a:pPr>
                      <a:r>
                        <a:rPr lang="en-IN" sz="800" dirty="0"/>
                        <a:t>Improved data representation</a:t>
                      </a:r>
                    </a:p>
                  </a:txBody>
                  <a:tcPr anchor="ctr"/>
                </a:tc>
                <a:tc>
                  <a:txBody>
                    <a:bodyPr/>
                    <a:lstStyle/>
                    <a:p>
                      <a:pPr>
                        <a:buNone/>
                      </a:pPr>
                      <a:r>
                        <a:rPr lang="en-IN" sz="800" dirty="0"/>
                        <a:t>High computational cost</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80446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744E6-EE56-9484-8215-E727B938E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8A6EF-0D9C-0F8B-5A11-FAECD602B774}"/>
              </a:ext>
            </a:extLst>
          </p:cNvPr>
          <p:cNvSpPr>
            <a:spLocks noGrp="1"/>
          </p:cNvSpPr>
          <p:nvPr>
            <p:ph type="ctrTitle"/>
          </p:nvPr>
        </p:nvSpPr>
        <p:spPr>
          <a:xfrm>
            <a:off x="0" y="0"/>
            <a:ext cx="9144000" cy="649288"/>
          </a:xfrm>
        </p:spPr>
        <p:txBody>
          <a:bodyPr>
            <a:normAutofit fontScale="90000"/>
          </a:bodyPr>
          <a:lstStyle/>
          <a:p>
            <a:pPr algn="l">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6C34815D-C917-32FE-7B39-66A9985FB366}"/>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15</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85B4C86A-B806-6D2D-9BBF-A13494502071}"/>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7" name="Table 6">
            <a:extLst>
              <a:ext uri="{FF2B5EF4-FFF2-40B4-BE49-F238E27FC236}">
                <a16:creationId xmlns:a16="http://schemas.microsoft.com/office/drawing/2014/main" id="{43165BF7-FF15-03CE-5B3E-77334D0C9936}"/>
              </a:ext>
            </a:extLst>
          </p:cNvPr>
          <p:cNvGraphicFramePr>
            <a:graphicFrameLocks noGrp="1"/>
          </p:cNvGraphicFramePr>
          <p:nvPr>
            <p:extLst>
              <p:ext uri="{D42A27DB-BD31-4B8C-83A1-F6EECF244321}">
                <p14:modId xmlns:p14="http://schemas.microsoft.com/office/powerpoint/2010/main" val="97515039"/>
              </p:ext>
            </p:extLst>
          </p:nvPr>
        </p:nvGraphicFramePr>
        <p:xfrm>
          <a:off x="215900" y="557848"/>
          <a:ext cx="8805862" cy="4498339"/>
        </p:xfrm>
        <a:graphic>
          <a:graphicData uri="http://schemas.openxmlformats.org/drawingml/2006/table">
            <a:tbl>
              <a:tblPr firstRow="1" bandRow="1">
                <a:tableStyleId>{5C22544A-7EE6-4342-B048-85BDC9FD1C3A}</a:tableStyleId>
              </a:tblPr>
              <a:tblGrid>
                <a:gridCol w="779274">
                  <a:extLst>
                    <a:ext uri="{9D8B030D-6E8A-4147-A177-3AD203B41FA5}">
                      <a16:colId xmlns:a16="http://schemas.microsoft.com/office/drawing/2014/main" val="20000"/>
                    </a:ext>
                  </a:extLst>
                </a:gridCol>
                <a:gridCol w="1094932">
                  <a:extLst>
                    <a:ext uri="{9D8B030D-6E8A-4147-A177-3AD203B41FA5}">
                      <a16:colId xmlns:a16="http://schemas.microsoft.com/office/drawing/2014/main" val="20001"/>
                    </a:ext>
                  </a:extLst>
                </a:gridCol>
                <a:gridCol w="1104796">
                  <a:extLst>
                    <a:ext uri="{9D8B030D-6E8A-4147-A177-3AD203B41FA5}">
                      <a16:colId xmlns:a16="http://schemas.microsoft.com/office/drawing/2014/main" val="20002"/>
                    </a:ext>
                  </a:extLst>
                </a:gridCol>
                <a:gridCol w="993001">
                  <a:extLst>
                    <a:ext uri="{9D8B030D-6E8A-4147-A177-3AD203B41FA5}">
                      <a16:colId xmlns:a16="http://schemas.microsoft.com/office/drawing/2014/main" val="20003"/>
                    </a:ext>
                  </a:extLst>
                </a:gridCol>
                <a:gridCol w="993001">
                  <a:extLst>
                    <a:ext uri="{9D8B030D-6E8A-4147-A177-3AD203B41FA5}">
                      <a16:colId xmlns:a16="http://schemas.microsoft.com/office/drawing/2014/main" val="20004"/>
                    </a:ext>
                  </a:extLst>
                </a:gridCol>
                <a:gridCol w="993001">
                  <a:extLst>
                    <a:ext uri="{9D8B030D-6E8A-4147-A177-3AD203B41FA5}">
                      <a16:colId xmlns:a16="http://schemas.microsoft.com/office/drawing/2014/main" val="20005"/>
                    </a:ext>
                  </a:extLst>
                </a:gridCol>
                <a:gridCol w="993001">
                  <a:extLst>
                    <a:ext uri="{9D8B030D-6E8A-4147-A177-3AD203B41FA5}">
                      <a16:colId xmlns:a16="http://schemas.microsoft.com/office/drawing/2014/main" val="20006"/>
                    </a:ext>
                  </a:extLst>
                </a:gridCol>
                <a:gridCol w="993001">
                  <a:extLst>
                    <a:ext uri="{9D8B030D-6E8A-4147-A177-3AD203B41FA5}">
                      <a16:colId xmlns:a16="http://schemas.microsoft.com/office/drawing/2014/main" val="20007"/>
                    </a:ext>
                  </a:extLst>
                </a:gridCol>
                <a:gridCol w="861855">
                  <a:extLst>
                    <a:ext uri="{9D8B030D-6E8A-4147-A177-3AD203B41FA5}">
                      <a16:colId xmlns:a16="http://schemas.microsoft.com/office/drawing/2014/main" val="20008"/>
                    </a:ext>
                  </a:extLst>
                </a:gridCol>
              </a:tblGrid>
              <a:tr h="612711">
                <a:tc>
                  <a:txBody>
                    <a:bodyPr/>
                    <a:lstStyle/>
                    <a:p>
                      <a:pPr>
                        <a:buNone/>
                      </a:pPr>
                      <a:r>
                        <a:rPr lang="en-IN" sz="800" b="1" dirty="0">
                          <a:solidFill>
                            <a:schemeClr val="accent6"/>
                          </a:solidFill>
                        </a:rPr>
                        <a:t>Source</a:t>
                      </a:r>
                      <a:endParaRPr lang="en-IN" sz="800" dirty="0">
                        <a:solidFill>
                          <a:schemeClr val="accent6"/>
                        </a:solidFill>
                      </a:endParaRPr>
                    </a:p>
                  </a:txBody>
                  <a:tcPr anchor="ctr"/>
                </a:tc>
                <a:tc>
                  <a:txBody>
                    <a:bodyPr/>
                    <a:lstStyle/>
                    <a:p>
                      <a:pPr>
                        <a:buNone/>
                      </a:pPr>
                      <a:r>
                        <a:rPr lang="en-US" sz="800" b="1">
                          <a:solidFill>
                            <a:schemeClr val="accent6"/>
                          </a:solidFill>
                        </a:rPr>
                        <a:t>Research Objective or Research Question</a:t>
                      </a:r>
                      <a:endParaRPr lang="en-US" sz="800">
                        <a:solidFill>
                          <a:schemeClr val="accent6"/>
                        </a:solidFill>
                      </a:endParaRPr>
                    </a:p>
                  </a:txBody>
                  <a:tcPr anchor="ctr"/>
                </a:tc>
                <a:tc>
                  <a:txBody>
                    <a:bodyPr/>
                    <a:lstStyle/>
                    <a:p>
                      <a:pPr>
                        <a:buNone/>
                      </a:pPr>
                      <a:r>
                        <a:rPr lang="en-IN" sz="800" b="1" dirty="0">
                          <a:solidFill>
                            <a:schemeClr val="accent6"/>
                          </a:solidFill>
                        </a:rPr>
                        <a:t>Methodology</a:t>
                      </a:r>
                      <a:endParaRPr lang="en-IN" sz="800" dirty="0">
                        <a:solidFill>
                          <a:schemeClr val="accent6"/>
                        </a:solidFill>
                      </a:endParaRPr>
                    </a:p>
                  </a:txBody>
                  <a:tcPr anchor="ctr"/>
                </a:tc>
                <a:tc>
                  <a:txBody>
                    <a:bodyPr/>
                    <a:lstStyle/>
                    <a:p>
                      <a:pPr>
                        <a:buNone/>
                      </a:pPr>
                      <a:r>
                        <a:rPr lang="en-IN" sz="800" b="1">
                          <a:solidFill>
                            <a:schemeClr val="accent6"/>
                          </a:solidFill>
                        </a:rPr>
                        <a:t>Key Findings</a:t>
                      </a:r>
                      <a:endParaRPr lang="en-IN" sz="800">
                        <a:solidFill>
                          <a:schemeClr val="accent6"/>
                        </a:solidFill>
                      </a:endParaRPr>
                    </a:p>
                  </a:txBody>
                  <a:tcPr anchor="ctr"/>
                </a:tc>
                <a:tc>
                  <a:txBody>
                    <a:bodyPr/>
                    <a:lstStyle/>
                    <a:p>
                      <a:pPr>
                        <a:buNone/>
                      </a:pPr>
                      <a:r>
                        <a:rPr lang="en-IN" sz="800" b="1">
                          <a:solidFill>
                            <a:schemeClr val="accent6"/>
                          </a:solidFill>
                        </a:rPr>
                        <a:t>Relevance to Project</a:t>
                      </a:r>
                      <a:endParaRPr lang="en-IN" sz="800">
                        <a:solidFill>
                          <a:schemeClr val="accent6"/>
                        </a:solidFill>
                      </a:endParaRPr>
                    </a:p>
                  </a:txBody>
                  <a:tcPr anchor="ctr"/>
                </a:tc>
                <a:tc>
                  <a:txBody>
                    <a:bodyPr/>
                    <a:lstStyle/>
                    <a:p>
                      <a:pPr>
                        <a:buNone/>
                      </a:pPr>
                      <a:r>
                        <a:rPr lang="en-IN" sz="800" b="1">
                          <a:solidFill>
                            <a:schemeClr val="accent6"/>
                          </a:solidFill>
                        </a:rPr>
                        <a:t>Techniques</a:t>
                      </a:r>
                      <a:endParaRPr lang="en-IN" sz="800">
                        <a:solidFill>
                          <a:schemeClr val="accent6"/>
                        </a:solidFill>
                      </a:endParaRPr>
                    </a:p>
                  </a:txBody>
                  <a:tcPr anchor="ctr"/>
                </a:tc>
                <a:tc>
                  <a:txBody>
                    <a:bodyPr/>
                    <a:lstStyle/>
                    <a:p>
                      <a:pPr>
                        <a:buNone/>
                      </a:pPr>
                      <a:r>
                        <a:rPr lang="en-IN" sz="800" b="1">
                          <a:solidFill>
                            <a:schemeClr val="accent6"/>
                          </a:solidFill>
                        </a:rPr>
                        <a:t>Accuracy &amp; Performance Measures</a:t>
                      </a:r>
                      <a:endParaRPr lang="en-IN" sz="800">
                        <a:solidFill>
                          <a:schemeClr val="accent6"/>
                        </a:solidFill>
                      </a:endParaRPr>
                    </a:p>
                  </a:txBody>
                  <a:tcPr anchor="ctr"/>
                </a:tc>
                <a:tc>
                  <a:txBody>
                    <a:bodyPr/>
                    <a:lstStyle/>
                    <a:p>
                      <a:pPr>
                        <a:buNone/>
                      </a:pPr>
                      <a:r>
                        <a:rPr lang="en-IN" sz="800" b="1">
                          <a:solidFill>
                            <a:schemeClr val="accent6"/>
                          </a:solidFill>
                        </a:rPr>
                        <a:t>Advantages</a:t>
                      </a:r>
                      <a:endParaRPr lang="en-IN" sz="800">
                        <a:solidFill>
                          <a:schemeClr val="accent6"/>
                        </a:solidFill>
                      </a:endParaRPr>
                    </a:p>
                  </a:txBody>
                  <a:tcPr anchor="ctr"/>
                </a:tc>
                <a:tc>
                  <a:txBody>
                    <a:bodyPr/>
                    <a:lstStyle/>
                    <a:p>
                      <a:pPr>
                        <a:buNone/>
                      </a:pPr>
                      <a:r>
                        <a:rPr lang="en-IN" sz="800" b="1" dirty="0">
                          <a:solidFill>
                            <a:schemeClr val="accent6"/>
                          </a:solidFill>
                        </a:rPr>
                        <a:t>Disadvantages</a:t>
                      </a:r>
                      <a:endParaRPr lang="en-IN" sz="800" dirty="0">
                        <a:solidFill>
                          <a:schemeClr val="accent6"/>
                        </a:solidFill>
                      </a:endParaRPr>
                    </a:p>
                  </a:txBody>
                  <a:tcPr anchor="ctr"/>
                </a:tc>
                <a:extLst>
                  <a:ext uri="{0D108BD9-81ED-4DB2-BD59-A6C34878D82A}">
                    <a16:rowId xmlns:a16="http://schemas.microsoft.com/office/drawing/2014/main" val="10000"/>
                  </a:ext>
                </a:extLst>
              </a:tr>
              <a:tr h="1296136">
                <a:tc>
                  <a:txBody>
                    <a:bodyPr/>
                    <a:lstStyle/>
                    <a:p>
                      <a:pPr>
                        <a:buNone/>
                      </a:pPr>
                      <a:r>
                        <a:rPr lang="en-US" sz="800" dirty="0"/>
                        <a:t>[7]. </a:t>
                      </a:r>
                      <a:r>
                        <a:rPr lang="en-US" sz="800" dirty="0" err="1"/>
                        <a:t>XGBoost</a:t>
                      </a:r>
                      <a:r>
                        <a:rPr lang="en-US" sz="800" dirty="0"/>
                        <a:t>: A Scalable Tree Boosting System (2016)</a:t>
                      </a:r>
                      <a:endParaRPr lang="en-US" sz="800" b="0" dirty="0"/>
                    </a:p>
                  </a:txBody>
                  <a:tcPr anchor="ctr"/>
                </a:tc>
                <a:tc>
                  <a:txBody>
                    <a:bodyPr/>
                    <a:lstStyle/>
                    <a:p>
                      <a:pPr>
                        <a:buNone/>
                      </a:pPr>
                      <a:r>
                        <a:rPr lang="fr-FR" sz="800" dirty="0"/>
                        <a:t>Efficient classification on large-</a:t>
                      </a:r>
                      <a:r>
                        <a:rPr lang="fr-FR" sz="800" dirty="0" err="1"/>
                        <a:t>scale</a:t>
                      </a:r>
                      <a:r>
                        <a:rPr lang="fr-FR" sz="800" dirty="0"/>
                        <a:t> data</a:t>
                      </a:r>
                      <a:endParaRPr lang="en-US" sz="800" dirty="0"/>
                    </a:p>
                  </a:txBody>
                  <a:tcPr anchor="ctr"/>
                </a:tc>
                <a:tc>
                  <a:txBody>
                    <a:bodyPr/>
                    <a:lstStyle/>
                    <a:p>
                      <a:pPr>
                        <a:buNone/>
                      </a:pPr>
                      <a:r>
                        <a:rPr lang="en-IN" sz="800" dirty="0"/>
                        <a:t>Gradient Boosted Decision Trees</a:t>
                      </a:r>
                      <a:endParaRPr lang="en-US" sz="800" dirty="0"/>
                    </a:p>
                  </a:txBody>
                  <a:tcPr anchor="ctr"/>
                </a:tc>
                <a:tc>
                  <a:txBody>
                    <a:bodyPr/>
                    <a:lstStyle/>
                    <a:p>
                      <a:pPr>
                        <a:buNone/>
                      </a:pPr>
                      <a:r>
                        <a:rPr lang="en-US" sz="800" dirty="0"/>
                        <a:t>Strong performance on tabular financial data</a:t>
                      </a:r>
                    </a:p>
                  </a:txBody>
                  <a:tcPr anchor="ctr"/>
                </a:tc>
                <a:tc>
                  <a:txBody>
                    <a:bodyPr/>
                    <a:lstStyle/>
                    <a:p>
                      <a:pPr>
                        <a:buNone/>
                      </a:pPr>
                      <a:r>
                        <a:rPr lang="en-US" sz="800" dirty="0"/>
                        <a:t>Core classifier for UPI fraud detection</a:t>
                      </a:r>
                      <a:endParaRPr lang="en-IN" sz="800" dirty="0"/>
                    </a:p>
                  </a:txBody>
                  <a:tcPr anchor="ctr"/>
                </a:tc>
                <a:tc>
                  <a:txBody>
                    <a:bodyPr/>
                    <a:lstStyle/>
                    <a:p>
                      <a:pPr>
                        <a:buNone/>
                      </a:pPr>
                      <a:r>
                        <a:rPr lang="en-IN" sz="800" dirty="0" err="1"/>
                        <a:t>XGBoost</a:t>
                      </a:r>
                      <a:endParaRPr lang="en-IN" sz="800" dirty="0"/>
                    </a:p>
                  </a:txBody>
                  <a:tcPr anchor="ctr"/>
                </a:tc>
                <a:tc>
                  <a:txBody>
                    <a:bodyPr/>
                    <a:lstStyle/>
                    <a:p>
                      <a:pPr>
                        <a:buNone/>
                      </a:pPr>
                      <a:r>
                        <a:rPr lang="en-US" sz="800" dirty="0"/>
                        <a:t>High accuracy and fast inference</a:t>
                      </a:r>
                    </a:p>
                  </a:txBody>
                  <a:tcPr anchor="ctr"/>
                </a:tc>
                <a:tc>
                  <a:txBody>
                    <a:bodyPr/>
                    <a:lstStyle/>
                    <a:p>
                      <a:pPr>
                        <a:buNone/>
                      </a:pPr>
                      <a:r>
                        <a:rPr lang="en-IN" sz="800" dirty="0"/>
                        <a:t>Handles non-linear data well</a:t>
                      </a:r>
                      <a:endParaRPr lang="en-US" sz="800" dirty="0"/>
                    </a:p>
                  </a:txBody>
                  <a:tcPr anchor="ctr"/>
                </a:tc>
                <a:tc>
                  <a:txBody>
                    <a:bodyPr/>
                    <a:lstStyle/>
                    <a:p>
                      <a:pPr>
                        <a:buNone/>
                      </a:pPr>
                      <a:r>
                        <a:rPr lang="en-IN" sz="800" dirty="0"/>
                        <a:t>Requires imbalance handling</a:t>
                      </a:r>
                      <a:endParaRPr lang="en-US" sz="800" dirty="0"/>
                    </a:p>
                  </a:txBody>
                  <a:tcPr anchor="ctr"/>
                </a:tc>
                <a:extLst>
                  <a:ext uri="{0D108BD9-81ED-4DB2-BD59-A6C34878D82A}">
                    <a16:rowId xmlns:a16="http://schemas.microsoft.com/office/drawing/2014/main" val="10001"/>
                  </a:ext>
                </a:extLst>
              </a:tr>
              <a:tr h="1516828">
                <a:tc>
                  <a:txBody>
                    <a:bodyPr/>
                    <a:lstStyle/>
                    <a:p>
                      <a:pPr>
                        <a:buNone/>
                      </a:pPr>
                      <a:r>
                        <a:rPr lang="en-US" sz="800" dirty="0"/>
                        <a:t>[8]. Scarff: A Scalable Framework for Fraud Detection (2023)</a:t>
                      </a:r>
                      <a:endParaRPr lang="en-US" sz="800" b="0" dirty="0"/>
                    </a:p>
                  </a:txBody>
                  <a:tcPr anchor="ctr"/>
                </a:tc>
                <a:tc>
                  <a:txBody>
                    <a:bodyPr/>
                    <a:lstStyle/>
                    <a:p>
                      <a:pPr>
                        <a:buNone/>
                      </a:pPr>
                      <a:r>
                        <a:rPr lang="en-US" sz="800" dirty="0"/>
                        <a:t>Evaluate fraud detection under extreme imbalance</a:t>
                      </a:r>
                    </a:p>
                  </a:txBody>
                  <a:tcPr anchor="ctr"/>
                </a:tc>
                <a:tc>
                  <a:txBody>
                    <a:bodyPr/>
                    <a:lstStyle/>
                    <a:p>
                      <a:pPr>
                        <a:buNone/>
                      </a:pPr>
                      <a:r>
                        <a:rPr lang="en-IN" sz="800" dirty="0"/>
                        <a:t>Ensemble and boosting models</a:t>
                      </a:r>
                      <a:endParaRPr lang="en-US" sz="800" dirty="0"/>
                    </a:p>
                  </a:txBody>
                  <a:tcPr anchor="ctr"/>
                </a:tc>
                <a:tc>
                  <a:txBody>
                    <a:bodyPr/>
                    <a:lstStyle/>
                    <a:p>
                      <a:pPr>
                        <a:buNone/>
                      </a:pPr>
                      <a:r>
                        <a:rPr lang="en-US" sz="800" dirty="0"/>
                        <a:t>Boosting performs well on imbalanced data</a:t>
                      </a:r>
                    </a:p>
                  </a:txBody>
                  <a:tcPr anchor="ctr"/>
                </a:tc>
                <a:tc>
                  <a:txBody>
                    <a:bodyPr/>
                    <a:lstStyle/>
                    <a:p>
                      <a:pPr>
                        <a:buNone/>
                      </a:pPr>
                      <a:r>
                        <a:rPr lang="en-IN" sz="800" dirty="0"/>
                        <a:t>Justifies CGAN + </a:t>
                      </a:r>
                      <a:r>
                        <a:rPr lang="en-IN" sz="800" dirty="0" err="1"/>
                        <a:t>XGBoost</a:t>
                      </a:r>
                      <a:r>
                        <a:rPr lang="en-IN" sz="800" dirty="0"/>
                        <a:t> combination</a:t>
                      </a:r>
                      <a:endParaRPr lang="en-US" sz="800" dirty="0"/>
                    </a:p>
                  </a:txBody>
                  <a:tcPr anchor="ctr"/>
                </a:tc>
                <a:tc>
                  <a:txBody>
                    <a:bodyPr/>
                    <a:lstStyle/>
                    <a:p>
                      <a:pPr>
                        <a:buNone/>
                      </a:pPr>
                      <a:r>
                        <a:rPr lang="en-IN" sz="800" dirty="0"/>
                        <a:t>Boosting Models</a:t>
                      </a:r>
                    </a:p>
                  </a:txBody>
                  <a:tcPr anchor="ctr"/>
                </a:tc>
                <a:tc>
                  <a:txBody>
                    <a:bodyPr/>
                    <a:lstStyle/>
                    <a:p>
                      <a:pPr>
                        <a:buNone/>
                      </a:pPr>
                      <a:r>
                        <a:rPr lang="en-IN" sz="800" dirty="0"/>
                        <a:t>Improved recall and robustness</a:t>
                      </a:r>
                      <a:endParaRPr lang="en-US" sz="800" dirty="0"/>
                    </a:p>
                  </a:txBody>
                  <a:tcPr anchor="ctr"/>
                </a:tc>
                <a:tc>
                  <a:txBody>
                    <a:bodyPr/>
                    <a:lstStyle/>
                    <a:p>
                      <a:pPr>
                        <a:buNone/>
                      </a:pPr>
                      <a:r>
                        <a:rPr lang="en-IN" sz="800" dirty="0"/>
                        <a:t>Scalable framework</a:t>
                      </a:r>
                      <a:endParaRPr lang="en-US" sz="800" dirty="0"/>
                    </a:p>
                  </a:txBody>
                  <a:tcPr anchor="ctr"/>
                </a:tc>
                <a:tc>
                  <a:txBody>
                    <a:bodyPr/>
                    <a:lstStyle/>
                    <a:p>
                      <a:pPr>
                        <a:buNone/>
                      </a:pPr>
                      <a:r>
                        <a:rPr lang="en-IN" sz="800" dirty="0"/>
                        <a:t>No generative augmentation</a:t>
                      </a:r>
                    </a:p>
                  </a:txBody>
                  <a:tcPr anchor="ctr"/>
                </a:tc>
                <a:extLst>
                  <a:ext uri="{0D108BD9-81ED-4DB2-BD59-A6C34878D82A}">
                    <a16:rowId xmlns:a16="http://schemas.microsoft.com/office/drawing/2014/main" val="10002"/>
                  </a:ext>
                </a:extLst>
              </a:tr>
              <a:tr h="1072664">
                <a:tc>
                  <a:txBody>
                    <a:bodyPr/>
                    <a:lstStyle/>
                    <a:p>
                      <a:pPr>
                        <a:buNone/>
                      </a:pPr>
                      <a:r>
                        <a:rPr lang="en-IN" sz="800" dirty="0"/>
                        <a:t>[9]. </a:t>
                      </a:r>
                      <a:r>
                        <a:rPr lang="en-IN" sz="800" dirty="0" err="1"/>
                        <a:t>NGBoost</a:t>
                      </a:r>
                      <a:r>
                        <a:rPr lang="en-IN" sz="800" dirty="0"/>
                        <a:t>: Natural Gradient Boosting (2020)</a:t>
                      </a:r>
                      <a:endParaRPr lang="en-US" sz="800" b="0" dirty="0"/>
                    </a:p>
                  </a:txBody>
                  <a:tcPr anchor="ctr"/>
                </a:tc>
                <a:tc>
                  <a:txBody>
                    <a:bodyPr/>
                    <a:lstStyle/>
                    <a:p>
                      <a:pPr>
                        <a:buNone/>
                      </a:pPr>
                      <a:r>
                        <a:rPr lang="en-US" sz="800" dirty="0"/>
                        <a:t>Provide probabilistic predictions with uncertainty</a:t>
                      </a:r>
                    </a:p>
                  </a:txBody>
                  <a:tcPr anchor="ctr"/>
                </a:tc>
                <a:tc>
                  <a:txBody>
                    <a:bodyPr/>
                    <a:lstStyle/>
                    <a:p>
                      <a:pPr>
                        <a:buNone/>
                      </a:pPr>
                      <a:r>
                        <a:rPr lang="en-IN" sz="800" dirty="0"/>
                        <a:t>Natural Gradient Boosting</a:t>
                      </a:r>
                    </a:p>
                  </a:txBody>
                  <a:tcPr anchor="ctr"/>
                </a:tc>
                <a:tc>
                  <a:txBody>
                    <a:bodyPr/>
                    <a:lstStyle/>
                    <a:p>
                      <a:pPr>
                        <a:buNone/>
                      </a:pPr>
                      <a:r>
                        <a:rPr lang="en-IN" sz="800" dirty="0"/>
                        <a:t>Enables risk-aware fraud decisions</a:t>
                      </a:r>
                      <a:endParaRPr lang="en-US" sz="800" dirty="0"/>
                    </a:p>
                  </a:txBody>
                  <a:tcPr anchor="ctr"/>
                </a:tc>
                <a:tc>
                  <a:txBody>
                    <a:bodyPr/>
                    <a:lstStyle/>
                    <a:p>
                      <a:pPr>
                        <a:buNone/>
                      </a:pPr>
                      <a:r>
                        <a:rPr lang="en-US" sz="800" dirty="0"/>
                        <a:t>Used as comparison or secondary model</a:t>
                      </a:r>
                    </a:p>
                  </a:txBody>
                  <a:tcPr anchor="ctr"/>
                </a:tc>
                <a:tc>
                  <a:txBody>
                    <a:bodyPr/>
                    <a:lstStyle/>
                    <a:p>
                      <a:pPr>
                        <a:buNone/>
                      </a:pPr>
                      <a:r>
                        <a:rPr lang="en-IN" sz="800" dirty="0" err="1"/>
                        <a:t>NGBoost</a:t>
                      </a:r>
                      <a:endParaRPr lang="en-IN" sz="800" dirty="0"/>
                    </a:p>
                  </a:txBody>
                  <a:tcPr anchor="ctr"/>
                </a:tc>
                <a:tc>
                  <a:txBody>
                    <a:bodyPr/>
                    <a:lstStyle/>
                    <a:p>
                      <a:pPr>
                        <a:buNone/>
                      </a:pPr>
                      <a:r>
                        <a:rPr lang="en-IN" sz="800" dirty="0"/>
                        <a:t>Improved probability calibration</a:t>
                      </a:r>
                      <a:endParaRPr lang="en-US" sz="800" dirty="0"/>
                    </a:p>
                  </a:txBody>
                  <a:tcPr anchor="ctr"/>
                </a:tc>
                <a:tc>
                  <a:txBody>
                    <a:bodyPr/>
                    <a:lstStyle/>
                    <a:p>
                      <a:pPr>
                        <a:buNone/>
                      </a:pPr>
                      <a:r>
                        <a:rPr lang="en-IN" sz="800" dirty="0"/>
                        <a:t>Uncertainty estimation</a:t>
                      </a:r>
                    </a:p>
                  </a:txBody>
                  <a:tcPr anchor="ctr"/>
                </a:tc>
                <a:tc>
                  <a:txBody>
                    <a:bodyPr/>
                    <a:lstStyle/>
                    <a:p>
                      <a:pPr>
                        <a:buNone/>
                      </a:pPr>
                      <a:r>
                        <a:rPr lang="en-IN" sz="800" dirty="0"/>
                        <a:t>Computationally expensive</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87536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B1F2D-CC63-5F4A-E133-1D7D49F9F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381A8-3DFB-DDDD-3D29-61171BA6DD89}"/>
              </a:ext>
            </a:extLst>
          </p:cNvPr>
          <p:cNvSpPr>
            <a:spLocks noGrp="1"/>
          </p:cNvSpPr>
          <p:nvPr>
            <p:ph type="ctrTitle"/>
          </p:nvPr>
        </p:nvSpPr>
        <p:spPr>
          <a:xfrm>
            <a:off x="0" y="0"/>
            <a:ext cx="9144000" cy="649288"/>
          </a:xfrm>
        </p:spPr>
        <p:txBody>
          <a:bodyPr>
            <a:normAutofit fontScale="90000"/>
          </a:bodyPr>
          <a:lstStyle/>
          <a:p>
            <a:pPr algn="l">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8CD91241-C27C-CEB3-3FF5-5FDC4951AFF2}"/>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16</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C513E3DE-D40D-9C4E-C745-5B87C7264E74}"/>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7" name="Table 6">
            <a:extLst>
              <a:ext uri="{FF2B5EF4-FFF2-40B4-BE49-F238E27FC236}">
                <a16:creationId xmlns:a16="http://schemas.microsoft.com/office/drawing/2014/main" id="{6C3EC59C-89BB-1CF8-EB85-49EB7C54D16E}"/>
              </a:ext>
            </a:extLst>
          </p:cNvPr>
          <p:cNvGraphicFramePr>
            <a:graphicFrameLocks noGrp="1"/>
          </p:cNvGraphicFramePr>
          <p:nvPr>
            <p:extLst>
              <p:ext uri="{D42A27DB-BD31-4B8C-83A1-F6EECF244321}">
                <p14:modId xmlns:p14="http://schemas.microsoft.com/office/powerpoint/2010/main" val="2742091955"/>
              </p:ext>
            </p:extLst>
          </p:nvPr>
        </p:nvGraphicFramePr>
        <p:xfrm>
          <a:off x="215900" y="557848"/>
          <a:ext cx="8805862" cy="4498339"/>
        </p:xfrm>
        <a:graphic>
          <a:graphicData uri="http://schemas.openxmlformats.org/drawingml/2006/table">
            <a:tbl>
              <a:tblPr firstRow="1" bandRow="1">
                <a:tableStyleId>{5C22544A-7EE6-4342-B048-85BDC9FD1C3A}</a:tableStyleId>
              </a:tblPr>
              <a:tblGrid>
                <a:gridCol w="779274">
                  <a:extLst>
                    <a:ext uri="{9D8B030D-6E8A-4147-A177-3AD203B41FA5}">
                      <a16:colId xmlns:a16="http://schemas.microsoft.com/office/drawing/2014/main" val="20000"/>
                    </a:ext>
                  </a:extLst>
                </a:gridCol>
                <a:gridCol w="1094932">
                  <a:extLst>
                    <a:ext uri="{9D8B030D-6E8A-4147-A177-3AD203B41FA5}">
                      <a16:colId xmlns:a16="http://schemas.microsoft.com/office/drawing/2014/main" val="20001"/>
                    </a:ext>
                  </a:extLst>
                </a:gridCol>
                <a:gridCol w="1104796">
                  <a:extLst>
                    <a:ext uri="{9D8B030D-6E8A-4147-A177-3AD203B41FA5}">
                      <a16:colId xmlns:a16="http://schemas.microsoft.com/office/drawing/2014/main" val="20002"/>
                    </a:ext>
                  </a:extLst>
                </a:gridCol>
                <a:gridCol w="993001">
                  <a:extLst>
                    <a:ext uri="{9D8B030D-6E8A-4147-A177-3AD203B41FA5}">
                      <a16:colId xmlns:a16="http://schemas.microsoft.com/office/drawing/2014/main" val="20003"/>
                    </a:ext>
                  </a:extLst>
                </a:gridCol>
                <a:gridCol w="993001">
                  <a:extLst>
                    <a:ext uri="{9D8B030D-6E8A-4147-A177-3AD203B41FA5}">
                      <a16:colId xmlns:a16="http://schemas.microsoft.com/office/drawing/2014/main" val="20004"/>
                    </a:ext>
                  </a:extLst>
                </a:gridCol>
                <a:gridCol w="993001">
                  <a:extLst>
                    <a:ext uri="{9D8B030D-6E8A-4147-A177-3AD203B41FA5}">
                      <a16:colId xmlns:a16="http://schemas.microsoft.com/office/drawing/2014/main" val="20005"/>
                    </a:ext>
                  </a:extLst>
                </a:gridCol>
                <a:gridCol w="993001">
                  <a:extLst>
                    <a:ext uri="{9D8B030D-6E8A-4147-A177-3AD203B41FA5}">
                      <a16:colId xmlns:a16="http://schemas.microsoft.com/office/drawing/2014/main" val="20006"/>
                    </a:ext>
                  </a:extLst>
                </a:gridCol>
                <a:gridCol w="993001">
                  <a:extLst>
                    <a:ext uri="{9D8B030D-6E8A-4147-A177-3AD203B41FA5}">
                      <a16:colId xmlns:a16="http://schemas.microsoft.com/office/drawing/2014/main" val="20007"/>
                    </a:ext>
                  </a:extLst>
                </a:gridCol>
                <a:gridCol w="861855">
                  <a:extLst>
                    <a:ext uri="{9D8B030D-6E8A-4147-A177-3AD203B41FA5}">
                      <a16:colId xmlns:a16="http://schemas.microsoft.com/office/drawing/2014/main" val="20008"/>
                    </a:ext>
                  </a:extLst>
                </a:gridCol>
              </a:tblGrid>
              <a:tr h="612711">
                <a:tc>
                  <a:txBody>
                    <a:bodyPr/>
                    <a:lstStyle/>
                    <a:p>
                      <a:pPr>
                        <a:buNone/>
                      </a:pPr>
                      <a:r>
                        <a:rPr lang="en-IN" sz="800" b="1" dirty="0">
                          <a:solidFill>
                            <a:schemeClr val="accent6"/>
                          </a:solidFill>
                        </a:rPr>
                        <a:t>Source</a:t>
                      </a:r>
                      <a:endParaRPr lang="en-IN" sz="800" dirty="0">
                        <a:solidFill>
                          <a:schemeClr val="accent6"/>
                        </a:solidFill>
                      </a:endParaRPr>
                    </a:p>
                  </a:txBody>
                  <a:tcPr anchor="ctr"/>
                </a:tc>
                <a:tc>
                  <a:txBody>
                    <a:bodyPr/>
                    <a:lstStyle/>
                    <a:p>
                      <a:pPr>
                        <a:buNone/>
                      </a:pPr>
                      <a:r>
                        <a:rPr lang="en-US" sz="800" b="1">
                          <a:solidFill>
                            <a:schemeClr val="accent6"/>
                          </a:solidFill>
                        </a:rPr>
                        <a:t>Research Objective or Research Question</a:t>
                      </a:r>
                      <a:endParaRPr lang="en-US" sz="800">
                        <a:solidFill>
                          <a:schemeClr val="accent6"/>
                        </a:solidFill>
                      </a:endParaRPr>
                    </a:p>
                  </a:txBody>
                  <a:tcPr anchor="ctr"/>
                </a:tc>
                <a:tc>
                  <a:txBody>
                    <a:bodyPr/>
                    <a:lstStyle/>
                    <a:p>
                      <a:pPr>
                        <a:buNone/>
                      </a:pPr>
                      <a:r>
                        <a:rPr lang="en-IN" sz="800" b="1" dirty="0">
                          <a:solidFill>
                            <a:schemeClr val="accent6"/>
                          </a:solidFill>
                        </a:rPr>
                        <a:t>Methodology</a:t>
                      </a:r>
                      <a:endParaRPr lang="en-IN" sz="800" dirty="0">
                        <a:solidFill>
                          <a:schemeClr val="accent6"/>
                        </a:solidFill>
                      </a:endParaRPr>
                    </a:p>
                  </a:txBody>
                  <a:tcPr anchor="ctr"/>
                </a:tc>
                <a:tc>
                  <a:txBody>
                    <a:bodyPr/>
                    <a:lstStyle/>
                    <a:p>
                      <a:pPr>
                        <a:buNone/>
                      </a:pPr>
                      <a:r>
                        <a:rPr lang="en-IN" sz="800" b="1">
                          <a:solidFill>
                            <a:schemeClr val="accent6"/>
                          </a:solidFill>
                        </a:rPr>
                        <a:t>Key Findings</a:t>
                      </a:r>
                      <a:endParaRPr lang="en-IN" sz="800">
                        <a:solidFill>
                          <a:schemeClr val="accent6"/>
                        </a:solidFill>
                      </a:endParaRPr>
                    </a:p>
                  </a:txBody>
                  <a:tcPr anchor="ctr"/>
                </a:tc>
                <a:tc>
                  <a:txBody>
                    <a:bodyPr/>
                    <a:lstStyle/>
                    <a:p>
                      <a:pPr>
                        <a:buNone/>
                      </a:pPr>
                      <a:r>
                        <a:rPr lang="en-IN" sz="800" b="1">
                          <a:solidFill>
                            <a:schemeClr val="accent6"/>
                          </a:solidFill>
                        </a:rPr>
                        <a:t>Relevance to Project</a:t>
                      </a:r>
                      <a:endParaRPr lang="en-IN" sz="800">
                        <a:solidFill>
                          <a:schemeClr val="accent6"/>
                        </a:solidFill>
                      </a:endParaRPr>
                    </a:p>
                  </a:txBody>
                  <a:tcPr anchor="ctr"/>
                </a:tc>
                <a:tc>
                  <a:txBody>
                    <a:bodyPr/>
                    <a:lstStyle/>
                    <a:p>
                      <a:pPr>
                        <a:buNone/>
                      </a:pPr>
                      <a:r>
                        <a:rPr lang="en-IN" sz="800" b="1">
                          <a:solidFill>
                            <a:schemeClr val="accent6"/>
                          </a:solidFill>
                        </a:rPr>
                        <a:t>Techniques</a:t>
                      </a:r>
                      <a:endParaRPr lang="en-IN" sz="800">
                        <a:solidFill>
                          <a:schemeClr val="accent6"/>
                        </a:solidFill>
                      </a:endParaRPr>
                    </a:p>
                  </a:txBody>
                  <a:tcPr anchor="ctr"/>
                </a:tc>
                <a:tc>
                  <a:txBody>
                    <a:bodyPr/>
                    <a:lstStyle/>
                    <a:p>
                      <a:pPr>
                        <a:buNone/>
                      </a:pPr>
                      <a:r>
                        <a:rPr lang="en-IN" sz="800" b="1">
                          <a:solidFill>
                            <a:schemeClr val="accent6"/>
                          </a:solidFill>
                        </a:rPr>
                        <a:t>Accuracy &amp; Performance Measures</a:t>
                      </a:r>
                      <a:endParaRPr lang="en-IN" sz="800">
                        <a:solidFill>
                          <a:schemeClr val="accent6"/>
                        </a:solidFill>
                      </a:endParaRPr>
                    </a:p>
                  </a:txBody>
                  <a:tcPr anchor="ctr"/>
                </a:tc>
                <a:tc>
                  <a:txBody>
                    <a:bodyPr/>
                    <a:lstStyle/>
                    <a:p>
                      <a:pPr>
                        <a:buNone/>
                      </a:pPr>
                      <a:r>
                        <a:rPr lang="en-IN" sz="800" b="1">
                          <a:solidFill>
                            <a:schemeClr val="accent6"/>
                          </a:solidFill>
                        </a:rPr>
                        <a:t>Advantages</a:t>
                      </a:r>
                      <a:endParaRPr lang="en-IN" sz="800">
                        <a:solidFill>
                          <a:schemeClr val="accent6"/>
                        </a:solidFill>
                      </a:endParaRPr>
                    </a:p>
                  </a:txBody>
                  <a:tcPr anchor="ctr"/>
                </a:tc>
                <a:tc>
                  <a:txBody>
                    <a:bodyPr/>
                    <a:lstStyle/>
                    <a:p>
                      <a:pPr>
                        <a:buNone/>
                      </a:pPr>
                      <a:r>
                        <a:rPr lang="en-IN" sz="800" b="1" dirty="0">
                          <a:solidFill>
                            <a:schemeClr val="accent6"/>
                          </a:solidFill>
                        </a:rPr>
                        <a:t>Disadvantages</a:t>
                      </a:r>
                      <a:endParaRPr lang="en-IN" sz="800" dirty="0">
                        <a:solidFill>
                          <a:schemeClr val="accent6"/>
                        </a:solidFill>
                      </a:endParaRPr>
                    </a:p>
                  </a:txBody>
                  <a:tcPr anchor="ctr"/>
                </a:tc>
                <a:extLst>
                  <a:ext uri="{0D108BD9-81ED-4DB2-BD59-A6C34878D82A}">
                    <a16:rowId xmlns:a16="http://schemas.microsoft.com/office/drawing/2014/main" val="10000"/>
                  </a:ext>
                </a:extLst>
              </a:tr>
              <a:tr h="1296136">
                <a:tc>
                  <a:txBody>
                    <a:bodyPr/>
                    <a:lstStyle/>
                    <a:p>
                      <a:pPr>
                        <a:buNone/>
                      </a:pPr>
                      <a:r>
                        <a:rPr lang="en-US" sz="800" dirty="0"/>
                        <a:t>[10]. SMOTE: Synthetic Minority Over-sampling Technique (2002)</a:t>
                      </a:r>
                      <a:endParaRPr lang="en-US" sz="800" b="0" dirty="0"/>
                    </a:p>
                  </a:txBody>
                  <a:tcPr anchor="ctr"/>
                </a:tc>
                <a:tc>
                  <a:txBody>
                    <a:bodyPr/>
                    <a:lstStyle/>
                    <a:p>
                      <a:pPr>
                        <a:buNone/>
                      </a:pPr>
                      <a:r>
                        <a:rPr lang="en-US" sz="800" dirty="0"/>
                        <a:t>Address class imbalance in datasets</a:t>
                      </a:r>
                    </a:p>
                  </a:txBody>
                  <a:tcPr anchor="ctr"/>
                </a:tc>
                <a:tc>
                  <a:txBody>
                    <a:bodyPr/>
                    <a:lstStyle/>
                    <a:p>
                      <a:pPr>
                        <a:buNone/>
                      </a:pPr>
                      <a:r>
                        <a:rPr lang="en-IN" sz="800" dirty="0"/>
                        <a:t>Oversampling minority class</a:t>
                      </a:r>
                      <a:endParaRPr lang="en-US" sz="800" dirty="0"/>
                    </a:p>
                  </a:txBody>
                  <a:tcPr anchor="ctr"/>
                </a:tc>
                <a:tc>
                  <a:txBody>
                    <a:bodyPr/>
                    <a:lstStyle/>
                    <a:p>
                      <a:pPr>
                        <a:buNone/>
                      </a:pPr>
                      <a:r>
                        <a:rPr lang="en-IN" sz="800" dirty="0"/>
                        <a:t>Improves class balance</a:t>
                      </a:r>
                      <a:endParaRPr lang="en-US" sz="800" dirty="0"/>
                    </a:p>
                  </a:txBody>
                  <a:tcPr anchor="ctr"/>
                </a:tc>
                <a:tc>
                  <a:txBody>
                    <a:bodyPr/>
                    <a:lstStyle/>
                    <a:p>
                      <a:pPr>
                        <a:buNone/>
                      </a:pPr>
                      <a:r>
                        <a:rPr lang="en-IN" sz="800" dirty="0"/>
                        <a:t>Used as baseline comparison</a:t>
                      </a:r>
                    </a:p>
                  </a:txBody>
                  <a:tcPr anchor="ctr"/>
                </a:tc>
                <a:tc>
                  <a:txBody>
                    <a:bodyPr/>
                    <a:lstStyle/>
                    <a:p>
                      <a:pPr>
                        <a:buNone/>
                      </a:pPr>
                      <a:r>
                        <a:rPr lang="en-IN" sz="800" dirty="0"/>
                        <a:t>SMOTE</a:t>
                      </a:r>
                    </a:p>
                  </a:txBody>
                  <a:tcPr anchor="ctr"/>
                </a:tc>
                <a:tc>
                  <a:txBody>
                    <a:bodyPr/>
                    <a:lstStyle/>
                    <a:p>
                      <a:pPr>
                        <a:buNone/>
                      </a:pPr>
                      <a:r>
                        <a:rPr lang="en-IN" sz="800" dirty="0"/>
                        <a:t>Moderate recall improvement</a:t>
                      </a:r>
                      <a:endParaRPr lang="en-US" sz="800" dirty="0"/>
                    </a:p>
                  </a:txBody>
                  <a:tcPr anchor="ctr"/>
                </a:tc>
                <a:tc>
                  <a:txBody>
                    <a:bodyPr/>
                    <a:lstStyle/>
                    <a:p>
                      <a:pPr>
                        <a:buNone/>
                      </a:pPr>
                      <a:r>
                        <a:rPr lang="en-IN" sz="800" dirty="0"/>
                        <a:t>Simple and fast</a:t>
                      </a:r>
                      <a:endParaRPr lang="en-US" sz="800" dirty="0"/>
                    </a:p>
                  </a:txBody>
                  <a:tcPr anchor="ctr"/>
                </a:tc>
                <a:tc>
                  <a:txBody>
                    <a:bodyPr/>
                    <a:lstStyle/>
                    <a:p>
                      <a:pPr>
                        <a:buNone/>
                      </a:pPr>
                      <a:r>
                        <a:rPr lang="en-IN" sz="800" dirty="0"/>
                        <a:t>Generates less realistic samples</a:t>
                      </a:r>
                      <a:endParaRPr lang="en-US" sz="800" dirty="0"/>
                    </a:p>
                  </a:txBody>
                  <a:tcPr anchor="ctr"/>
                </a:tc>
                <a:extLst>
                  <a:ext uri="{0D108BD9-81ED-4DB2-BD59-A6C34878D82A}">
                    <a16:rowId xmlns:a16="http://schemas.microsoft.com/office/drawing/2014/main" val="10001"/>
                  </a:ext>
                </a:extLst>
              </a:tr>
              <a:tr h="1516828">
                <a:tc>
                  <a:txBody>
                    <a:bodyPr/>
                    <a:lstStyle/>
                    <a:p>
                      <a:pPr>
                        <a:buNone/>
                      </a:pPr>
                      <a:r>
                        <a:rPr lang="en-US" sz="800" dirty="0"/>
                        <a:t>[11]. Learning from Imbalanced Data (2009)</a:t>
                      </a:r>
                      <a:endParaRPr lang="en-US" sz="800" b="0" dirty="0"/>
                    </a:p>
                  </a:txBody>
                  <a:tcPr anchor="ctr"/>
                </a:tc>
                <a:tc>
                  <a:txBody>
                    <a:bodyPr/>
                    <a:lstStyle/>
                    <a:p>
                      <a:pPr>
                        <a:buNone/>
                      </a:pPr>
                      <a:r>
                        <a:rPr lang="en-US" sz="800" dirty="0"/>
                        <a:t>Study challenges of imbalanced learning</a:t>
                      </a:r>
                    </a:p>
                  </a:txBody>
                  <a:tcPr anchor="ctr"/>
                </a:tc>
                <a:tc>
                  <a:txBody>
                    <a:bodyPr/>
                    <a:lstStyle/>
                    <a:p>
                      <a:pPr>
                        <a:buNone/>
                      </a:pPr>
                      <a:r>
                        <a:rPr lang="en-IN" sz="800" dirty="0"/>
                        <a:t>Theoretical analysis</a:t>
                      </a:r>
                      <a:endParaRPr lang="en-US" sz="800" dirty="0"/>
                    </a:p>
                  </a:txBody>
                  <a:tcPr anchor="ctr"/>
                </a:tc>
                <a:tc>
                  <a:txBody>
                    <a:bodyPr/>
                    <a:lstStyle/>
                    <a:p>
                      <a:pPr>
                        <a:buNone/>
                      </a:pPr>
                      <a:r>
                        <a:rPr lang="en-IN" sz="800" dirty="0"/>
                        <a:t>Emphasizes recall over accuracy</a:t>
                      </a:r>
                      <a:endParaRPr lang="en-US" sz="800" dirty="0"/>
                    </a:p>
                  </a:txBody>
                  <a:tcPr anchor="ctr"/>
                </a:tc>
                <a:tc>
                  <a:txBody>
                    <a:bodyPr/>
                    <a:lstStyle/>
                    <a:p>
                      <a:pPr>
                        <a:buNone/>
                      </a:pPr>
                      <a:r>
                        <a:rPr lang="en-IN" sz="800" dirty="0"/>
                        <a:t>Guides evaluation metric selection</a:t>
                      </a:r>
                      <a:endParaRPr lang="en-US" sz="800" dirty="0"/>
                    </a:p>
                  </a:txBody>
                  <a:tcPr anchor="ctr"/>
                </a:tc>
                <a:tc>
                  <a:txBody>
                    <a:bodyPr/>
                    <a:lstStyle/>
                    <a:p>
                      <a:pPr>
                        <a:buNone/>
                      </a:pPr>
                      <a:r>
                        <a:rPr lang="en-IN" sz="800" dirty="0"/>
                        <a:t>Imbalanced Learning Theory</a:t>
                      </a:r>
                    </a:p>
                  </a:txBody>
                  <a:tcPr anchor="ctr"/>
                </a:tc>
                <a:tc>
                  <a:txBody>
                    <a:bodyPr/>
                    <a:lstStyle/>
                    <a:p>
                      <a:pPr>
                        <a:buNone/>
                      </a:pPr>
                      <a:r>
                        <a:rPr lang="en-IN" sz="800" dirty="0"/>
                        <a:t>Focus on recall &amp; F1-score</a:t>
                      </a:r>
                      <a:endParaRPr lang="en-US" sz="800" dirty="0"/>
                    </a:p>
                  </a:txBody>
                  <a:tcPr anchor="ctr"/>
                </a:tc>
                <a:tc>
                  <a:txBody>
                    <a:bodyPr/>
                    <a:lstStyle/>
                    <a:p>
                      <a:pPr>
                        <a:buNone/>
                      </a:pPr>
                      <a:r>
                        <a:rPr lang="en-IN" sz="800" dirty="0"/>
                        <a:t>Strong theoretical foundation</a:t>
                      </a:r>
                      <a:endParaRPr lang="en-US" sz="800" dirty="0"/>
                    </a:p>
                  </a:txBody>
                  <a:tcPr anchor="ctr"/>
                </a:tc>
                <a:tc>
                  <a:txBody>
                    <a:bodyPr/>
                    <a:lstStyle/>
                    <a:p>
                      <a:pPr>
                        <a:buNone/>
                      </a:pPr>
                      <a:r>
                        <a:rPr lang="en-IN" sz="800" dirty="0"/>
                        <a:t>No practical model</a:t>
                      </a:r>
                    </a:p>
                  </a:txBody>
                  <a:tcPr anchor="ctr"/>
                </a:tc>
                <a:extLst>
                  <a:ext uri="{0D108BD9-81ED-4DB2-BD59-A6C34878D82A}">
                    <a16:rowId xmlns:a16="http://schemas.microsoft.com/office/drawing/2014/main" val="10002"/>
                  </a:ext>
                </a:extLst>
              </a:tr>
              <a:tr h="1072664">
                <a:tc>
                  <a:txBody>
                    <a:bodyPr/>
                    <a:lstStyle/>
                    <a:p>
                      <a:pPr>
                        <a:buNone/>
                      </a:pPr>
                      <a:r>
                        <a:rPr lang="en-US" sz="800" dirty="0"/>
                        <a:t>[12]. Explainable AI-Based Fraud Detection (2025)</a:t>
                      </a:r>
                      <a:endParaRPr lang="en-US" sz="800" b="0" dirty="0"/>
                    </a:p>
                  </a:txBody>
                  <a:tcPr anchor="ctr"/>
                </a:tc>
                <a:tc>
                  <a:txBody>
                    <a:bodyPr/>
                    <a:lstStyle/>
                    <a:p>
                      <a:pPr>
                        <a:buNone/>
                      </a:pPr>
                      <a:r>
                        <a:rPr lang="en-US" sz="800" dirty="0"/>
                        <a:t>Improve trust and transparency in fraud systems</a:t>
                      </a:r>
                    </a:p>
                  </a:txBody>
                  <a:tcPr anchor="ctr"/>
                </a:tc>
                <a:tc>
                  <a:txBody>
                    <a:bodyPr/>
                    <a:lstStyle/>
                    <a:p>
                      <a:pPr>
                        <a:buNone/>
                      </a:pPr>
                      <a:r>
                        <a:rPr lang="en-IN" sz="800" dirty="0"/>
                        <a:t>Explainable AI integration</a:t>
                      </a:r>
                    </a:p>
                  </a:txBody>
                  <a:tcPr anchor="ctr"/>
                </a:tc>
                <a:tc>
                  <a:txBody>
                    <a:bodyPr/>
                    <a:lstStyle/>
                    <a:p>
                      <a:pPr>
                        <a:buNone/>
                      </a:pPr>
                      <a:r>
                        <a:rPr lang="en-US" sz="800" dirty="0"/>
                        <a:t>Enhances interpretability of fraud decisions</a:t>
                      </a:r>
                    </a:p>
                  </a:txBody>
                  <a:tcPr anchor="ctr"/>
                </a:tc>
                <a:tc>
                  <a:txBody>
                    <a:bodyPr/>
                    <a:lstStyle/>
                    <a:p>
                      <a:pPr>
                        <a:buNone/>
                      </a:pPr>
                      <a:r>
                        <a:rPr lang="en-IN" sz="800" dirty="0"/>
                        <a:t>Motivates SHAP-based explainability</a:t>
                      </a:r>
                      <a:endParaRPr lang="en-US" sz="800" dirty="0"/>
                    </a:p>
                  </a:txBody>
                  <a:tcPr anchor="ctr"/>
                </a:tc>
                <a:tc>
                  <a:txBody>
                    <a:bodyPr/>
                    <a:lstStyle/>
                    <a:p>
                      <a:pPr>
                        <a:buNone/>
                      </a:pPr>
                      <a:r>
                        <a:rPr lang="en-IN" sz="800" dirty="0"/>
                        <a:t>XAI + SHAP</a:t>
                      </a:r>
                    </a:p>
                  </a:txBody>
                  <a:tcPr anchor="ctr"/>
                </a:tc>
                <a:tc>
                  <a:txBody>
                    <a:bodyPr/>
                    <a:lstStyle/>
                    <a:p>
                      <a:pPr>
                        <a:buNone/>
                      </a:pPr>
                      <a:r>
                        <a:rPr lang="en-IN" sz="800" dirty="0"/>
                        <a:t>Explainable predictions</a:t>
                      </a:r>
                      <a:endParaRPr lang="en-US" sz="800" dirty="0"/>
                    </a:p>
                  </a:txBody>
                  <a:tcPr anchor="ctr"/>
                </a:tc>
                <a:tc>
                  <a:txBody>
                    <a:bodyPr/>
                    <a:lstStyle/>
                    <a:p>
                      <a:pPr>
                        <a:buNone/>
                      </a:pPr>
                      <a:r>
                        <a:rPr lang="en-IN" sz="800" dirty="0"/>
                        <a:t>Improves trust</a:t>
                      </a:r>
                    </a:p>
                  </a:txBody>
                  <a:tcPr anchor="ctr"/>
                </a:tc>
                <a:tc>
                  <a:txBody>
                    <a:bodyPr/>
                    <a:lstStyle/>
                    <a:p>
                      <a:pPr>
                        <a:buNone/>
                      </a:pPr>
                      <a:r>
                        <a:rPr lang="en-IN" sz="800" dirty="0"/>
                        <a:t>Additional computation</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84211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F8AD4-A2A7-0F56-A0FE-11608EDE4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DEE897-80D8-A087-8313-31804F386709}"/>
              </a:ext>
            </a:extLst>
          </p:cNvPr>
          <p:cNvSpPr>
            <a:spLocks noGrp="1"/>
          </p:cNvSpPr>
          <p:nvPr>
            <p:ph type="ctrTitle"/>
          </p:nvPr>
        </p:nvSpPr>
        <p:spPr>
          <a:xfrm>
            <a:off x="0" y="0"/>
            <a:ext cx="9144000" cy="649288"/>
          </a:xfrm>
        </p:spPr>
        <p:txBody>
          <a:bodyPr>
            <a:normAutofit fontScale="90000"/>
          </a:bodyPr>
          <a:lstStyle/>
          <a:p>
            <a:pPr algn="l">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E0A7F4F5-1CDC-E85D-0A70-97DD6FF0E8F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17</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3C51B9C9-1B7A-D352-6AFF-F1B620CB93AD}"/>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7" name="Table 6">
            <a:extLst>
              <a:ext uri="{FF2B5EF4-FFF2-40B4-BE49-F238E27FC236}">
                <a16:creationId xmlns:a16="http://schemas.microsoft.com/office/drawing/2014/main" id="{F62463D9-C95C-E38C-17C2-232D6066D42A}"/>
              </a:ext>
            </a:extLst>
          </p:cNvPr>
          <p:cNvGraphicFramePr>
            <a:graphicFrameLocks noGrp="1"/>
          </p:cNvGraphicFramePr>
          <p:nvPr>
            <p:extLst>
              <p:ext uri="{D42A27DB-BD31-4B8C-83A1-F6EECF244321}">
                <p14:modId xmlns:p14="http://schemas.microsoft.com/office/powerpoint/2010/main" val="3209688971"/>
              </p:ext>
            </p:extLst>
          </p:nvPr>
        </p:nvGraphicFramePr>
        <p:xfrm>
          <a:off x="215900" y="557848"/>
          <a:ext cx="8805862" cy="4614395"/>
        </p:xfrm>
        <a:graphic>
          <a:graphicData uri="http://schemas.openxmlformats.org/drawingml/2006/table">
            <a:tbl>
              <a:tblPr firstRow="1" bandRow="1">
                <a:tableStyleId>{5C22544A-7EE6-4342-B048-85BDC9FD1C3A}</a:tableStyleId>
              </a:tblPr>
              <a:tblGrid>
                <a:gridCol w="779274">
                  <a:extLst>
                    <a:ext uri="{9D8B030D-6E8A-4147-A177-3AD203B41FA5}">
                      <a16:colId xmlns:a16="http://schemas.microsoft.com/office/drawing/2014/main" val="20000"/>
                    </a:ext>
                  </a:extLst>
                </a:gridCol>
                <a:gridCol w="1094932">
                  <a:extLst>
                    <a:ext uri="{9D8B030D-6E8A-4147-A177-3AD203B41FA5}">
                      <a16:colId xmlns:a16="http://schemas.microsoft.com/office/drawing/2014/main" val="20001"/>
                    </a:ext>
                  </a:extLst>
                </a:gridCol>
                <a:gridCol w="1104796">
                  <a:extLst>
                    <a:ext uri="{9D8B030D-6E8A-4147-A177-3AD203B41FA5}">
                      <a16:colId xmlns:a16="http://schemas.microsoft.com/office/drawing/2014/main" val="20002"/>
                    </a:ext>
                  </a:extLst>
                </a:gridCol>
                <a:gridCol w="993001">
                  <a:extLst>
                    <a:ext uri="{9D8B030D-6E8A-4147-A177-3AD203B41FA5}">
                      <a16:colId xmlns:a16="http://schemas.microsoft.com/office/drawing/2014/main" val="20003"/>
                    </a:ext>
                  </a:extLst>
                </a:gridCol>
                <a:gridCol w="993001">
                  <a:extLst>
                    <a:ext uri="{9D8B030D-6E8A-4147-A177-3AD203B41FA5}">
                      <a16:colId xmlns:a16="http://schemas.microsoft.com/office/drawing/2014/main" val="20004"/>
                    </a:ext>
                  </a:extLst>
                </a:gridCol>
                <a:gridCol w="993001">
                  <a:extLst>
                    <a:ext uri="{9D8B030D-6E8A-4147-A177-3AD203B41FA5}">
                      <a16:colId xmlns:a16="http://schemas.microsoft.com/office/drawing/2014/main" val="20005"/>
                    </a:ext>
                  </a:extLst>
                </a:gridCol>
                <a:gridCol w="993001">
                  <a:extLst>
                    <a:ext uri="{9D8B030D-6E8A-4147-A177-3AD203B41FA5}">
                      <a16:colId xmlns:a16="http://schemas.microsoft.com/office/drawing/2014/main" val="20006"/>
                    </a:ext>
                  </a:extLst>
                </a:gridCol>
                <a:gridCol w="993001">
                  <a:extLst>
                    <a:ext uri="{9D8B030D-6E8A-4147-A177-3AD203B41FA5}">
                      <a16:colId xmlns:a16="http://schemas.microsoft.com/office/drawing/2014/main" val="20007"/>
                    </a:ext>
                  </a:extLst>
                </a:gridCol>
                <a:gridCol w="861855">
                  <a:extLst>
                    <a:ext uri="{9D8B030D-6E8A-4147-A177-3AD203B41FA5}">
                      <a16:colId xmlns:a16="http://schemas.microsoft.com/office/drawing/2014/main" val="20008"/>
                    </a:ext>
                  </a:extLst>
                </a:gridCol>
              </a:tblGrid>
              <a:tr h="612711">
                <a:tc>
                  <a:txBody>
                    <a:bodyPr/>
                    <a:lstStyle/>
                    <a:p>
                      <a:pPr>
                        <a:buNone/>
                      </a:pPr>
                      <a:r>
                        <a:rPr lang="en-IN" sz="800" b="1" dirty="0">
                          <a:solidFill>
                            <a:schemeClr val="accent6"/>
                          </a:solidFill>
                        </a:rPr>
                        <a:t>Source</a:t>
                      </a:r>
                      <a:endParaRPr lang="en-IN" sz="800" dirty="0">
                        <a:solidFill>
                          <a:schemeClr val="accent6"/>
                        </a:solidFill>
                      </a:endParaRPr>
                    </a:p>
                  </a:txBody>
                  <a:tcPr anchor="ctr"/>
                </a:tc>
                <a:tc>
                  <a:txBody>
                    <a:bodyPr/>
                    <a:lstStyle/>
                    <a:p>
                      <a:pPr>
                        <a:buNone/>
                      </a:pPr>
                      <a:r>
                        <a:rPr lang="en-US" sz="800" b="1">
                          <a:solidFill>
                            <a:schemeClr val="accent6"/>
                          </a:solidFill>
                        </a:rPr>
                        <a:t>Research Objective or Research Question</a:t>
                      </a:r>
                      <a:endParaRPr lang="en-US" sz="800">
                        <a:solidFill>
                          <a:schemeClr val="accent6"/>
                        </a:solidFill>
                      </a:endParaRPr>
                    </a:p>
                  </a:txBody>
                  <a:tcPr anchor="ctr"/>
                </a:tc>
                <a:tc>
                  <a:txBody>
                    <a:bodyPr/>
                    <a:lstStyle/>
                    <a:p>
                      <a:pPr>
                        <a:buNone/>
                      </a:pPr>
                      <a:r>
                        <a:rPr lang="en-IN" sz="800" b="1" dirty="0">
                          <a:solidFill>
                            <a:schemeClr val="accent6"/>
                          </a:solidFill>
                        </a:rPr>
                        <a:t>Methodology</a:t>
                      </a:r>
                      <a:endParaRPr lang="en-IN" sz="800" dirty="0">
                        <a:solidFill>
                          <a:schemeClr val="accent6"/>
                        </a:solidFill>
                      </a:endParaRPr>
                    </a:p>
                  </a:txBody>
                  <a:tcPr anchor="ctr"/>
                </a:tc>
                <a:tc>
                  <a:txBody>
                    <a:bodyPr/>
                    <a:lstStyle/>
                    <a:p>
                      <a:pPr>
                        <a:buNone/>
                      </a:pPr>
                      <a:r>
                        <a:rPr lang="en-IN" sz="800" b="1">
                          <a:solidFill>
                            <a:schemeClr val="accent6"/>
                          </a:solidFill>
                        </a:rPr>
                        <a:t>Key Findings</a:t>
                      </a:r>
                      <a:endParaRPr lang="en-IN" sz="800">
                        <a:solidFill>
                          <a:schemeClr val="accent6"/>
                        </a:solidFill>
                      </a:endParaRPr>
                    </a:p>
                  </a:txBody>
                  <a:tcPr anchor="ctr"/>
                </a:tc>
                <a:tc>
                  <a:txBody>
                    <a:bodyPr/>
                    <a:lstStyle/>
                    <a:p>
                      <a:pPr>
                        <a:buNone/>
                      </a:pPr>
                      <a:r>
                        <a:rPr lang="en-IN" sz="800" b="1">
                          <a:solidFill>
                            <a:schemeClr val="accent6"/>
                          </a:solidFill>
                        </a:rPr>
                        <a:t>Relevance to Project</a:t>
                      </a:r>
                      <a:endParaRPr lang="en-IN" sz="800">
                        <a:solidFill>
                          <a:schemeClr val="accent6"/>
                        </a:solidFill>
                      </a:endParaRPr>
                    </a:p>
                  </a:txBody>
                  <a:tcPr anchor="ctr"/>
                </a:tc>
                <a:tc>
                  <a:txBody>
                    <a:bodyPr/>
                    <a:lstStyle/>
                    <a:p>
                      <a:pPr>
                        <a:buNone/>
                      </a:pPr>
                      <a:r>
                        <a:rPr lang="en-IN" sz="800" b="1">
                          <a:solidFill>
                            <a:schemeClr val="accent6"/>
                          </a:solidFill>
                        </a:rPr>
                        <a:t>Techniques</a:t>
                      </a:r>
                      <a:endParaRPr lang="en-IN" sz="800">
                        <a:solidFill>
                          <a:schemeClr val="accent6"/>
                        </a:solidFill>
                      </a:endParaRPr>
                    </a:p>
                  </a:txBody>
                  <a:tcPr anchor="ctr"/>
                </a:tc>
                <a:tc>
                  <a:txBody>
                    <a:bodyPr/>
                    <a:lstStyle/>
                    <a:p>
                      <a:pPr>
                        <a:buNone/>
                      </a:pPr>
                      <a:r>
                        <a:rPr lang="en-IN" sz="800" b="1">
                          <a:solidFill>
                            <a:schemeClr val="accent6"/>
                          </a:solidFill>
                        </a:rPr>
                        <a:t>Accuracy &amp; Performance Measures</a:t>
                      </a:r>
                      <a:endParaRPr lang="en-IN" sz="800">
                        <a:solidFill>
                          <a:schemeClr val="accent6"/>
                        </a:solidFill>
                      </a:endParaRPr>
                    </a:p>
                  </a:txBody>
                  <a:tcPr anchor="ctr"/>
                </a:tc>
                <a:tc>
                  <a:txBody>
                    <a:bodyPr/>
                    <a:lstStyle/>
                    <a:p>
                      <a:pPr>
                        <a:buNone/>
                      </a:pPr>
                      <a:r>
                        <a:rPr lang="en-IN" sz="800" b="1">
                          <a:solidFill>
                            <a:schemeClr val="accent6"/>
                          </a:solidFill>
                        </a:rPr>
                        <a:t>Advantages</a:t>
                      </a:r>
                      <a:endParaRPr lang="en-IN" sz="800">
                        <a:solidFill>
                          <a:schemeClr val="accent6"/>
                        </a:solidFill>
                      </a:endParaRPr>
                    </a:p>
                  </a:txBody>
                  <a:tcPr anchor="ctr"/>
                </a:tc>
                <a:tc>
                  <a:txBody>
                    <a:bodyPr/>
                    <a:lstStyle/>
                    <a:p>
                      <a:pPr>
                        <a:buNone/>
                      </a:pPr>
                      <a:r>
                        <a:rPr lang="en-IN" sz="800" b="1" dirty="0">
                          <a:solidFill>
                            <a:schemeClr val="accent6"/>
                          </a:solidFill>
                        </a:rPr>
                        <a:t>Disadvantages</a:t>
                      </a:r>
                      <a:endParaRPr lang="en-IN" sz="800" dirty="0">
                        <a:solidFill>
                          <a:schemeClr val="accent6"/>
                        </a:solidFill>
                      </a:endParaRPr>
                    </a:p>
                  </a:txBody>
                  <a:tcPr anchor="ctr"/>
                </a:tc>
                <a:extLst>
                  <a:ext uri="{0D108BD9-81ED-4DB2-BD59-A6C34878D82A}">
                    <a16:rowId xmlns:a16="http://schemas.microsoft.com/office/drawing/2014/main" val="10000"/>
                  </a:ext>
                </a:extLst>
              </a:tr>
              <a:tr h="1296136">
                <a:tc>
                  <a:txBody>
                    <a:bodyPr/>
                    <a:lstStyle/>
                    <a:p>
                      <a:pPr>
                        <a:buNone/>
                      </a:pPr>
                      <a:r>
                        <a:rPr lang="en-US" sz="800" dirty="0"/>
                        <a:t>[13]. Adversarial Drift Detection in Credit Card Fraud (2022) – Dal </a:t>
                      </a:r>
                      <a:r>
                        <a:rPr lang="en-US" sz="800" dirty="0" err="1"/>
                        <a:t>Pozzolo</a:t>
                      </a:r>
                      <a:r>
                        <a:rPr lang="en-US" sz="800" dirty="0"/>
                        <a:t> &amp; Bontempi</a:t>
                      </a:r>
                      <a:endParaRPr lang="en-US" sz="800" b="0" dirty="0"/>
                    </a:p>
                  </a:txBody>
                  <a:tcPr anchor="ctr"/>
                </a:tc>
                <a:tc>
                  <a:txBody>
                    <a:bodyPr/>
                    <a:lstStyle/>
                    <a:p>
                      <a:pPr>
                        <a:buNone/>
                      </a:pPr>
                      <a:r>
                        <a:rPr lang="en-US" sz="800" dirty="0"/>
                        <a:t>Address concept drift in evolving fraud patterns</a:t>
                      </a:r>
                    </a:p>
                  </a:txBody>
                  <a:tcPr anchor="ctr"/>
                </a:tc>
                <a:tc>
                  <a:txBody>
                    <a:bodyPr/>
                    <a:lstStyle/>
                    <a:p>
                      <a:pPr>
                        <a:buNone/>
                      </a:pPr>
                      <a:r>
                        <a:rPr lang="en-US" sz="800" dirty="0"/>
                        <a:t>Ensemble learning with drift detection</a:t>
                      </a:r>
                    </a:p>
                  </a:txBody>
                  <a:tcPr anchor="ctr"/>
                </a:tc>
                <a:tc>
                  <a:txBody>
                    <a:bodyPr/>
                    <a:lstStyle/>
                    <a:p>
                      <a:pPr>
                        <a:buNone/>
                      </a:pPr>
                      <a:r>
                        <a:rPr lang="en-US" sz="800" dirty="0"/>
                        <a:t>Improves robustness of fraud detection over time</a:t>
                      </a:r>
                    </a:p>
                  </a:txBody>
                  <a:tcPr anchor="ctr"/>
                </a:tc>
                <a:tc>
                  <a:txBody>
                    <a:bodyPr/>
                    <a:lstStyle/>
                    <a:p>
                      <a:pPr>
                        <a:buNone/>
                      </a:pPr>
                      <a:r>
                        <a:rPr lang="en-US" sz="800" dirty="0"/>
                        <a:t>Highlights need for stable fraud models under changing transaction behavior</a:t>
                      </a:r>
                      <a:endParaRPr lang="en-IN" sz="800" dirty="0"/>
                    </a:p>
                  </a:txBody>
                  <a:tcPr anchor="ctr"/>
                </a:tc>
                <a:tc>
                  <a:txBody>
                    <a:bodyPr/>
                    <a:lstStyle/>
                    <a:p>
                      <a:pPr>
                        <a:buNone/>
                      </a:pPr>
                      <a:r>
                        <a:rPr lang="en-IN" sz="800" dirty="0"/>
                        <a:t>Ensemble Learning</a:t>
                      </a:r>
                    </a:p>
                  </a:txBody>
                  <a:tcPr anchor="ctr"/>
                </a:tc>
                <a:tc>
                  <a:txBody>
                    <a:bodyPr/>
                    <a:lstStyle/>
                    <a:p>
                      <a:pPr>
                        <a:buNone/>
                      </a:pPr>
                      <a:r>
                        <a:rPr lang="en-US" sz="800" dirty="0"/>
                        <a:t>Maintains detection performance under drift</a:t>
                      </a:r>
                    </a:p>
                  </a:txBody>
                  <a:tcPr anchor="ctr"/>
                </a:tc>
                <a:tc>
                  <a:txBody>
                    <a:bodyPr/>
                    <a:lstStyle/>
                    <a:p>
                      <a:pPr>
                        <a:buNone/>
                      </a:pPr>
                      <a:r>
                        <a:rPr lang="en-US" sz="800" dirty="0"/>
                        <a:t>Robust to evolving fraud patterns</a:t>
                      </a:r>
                    </a:p>
                  </a:txBody>
                  <a:tcPr anchor="ctr"/>
                </a:tc>
                <a:tc>
                  <a:txBody>
                    <a:bodyPr/>
                    <a:lstStyle/>
                    <a:p>
                      <a:pPr>
                        <a:buNone/>
                      </a:pPr>
                      <a:r>
                        <a:rPr lang="en-US" sz="800" dirty="0"/>
                        <a:t>Does not address data imbalance</a:t>
                      </a:r>
                    </a:p>
                  </a:txBody>
                  <a:tcPr anchor="ctr"/>
                </a:tc>
                <a:extLst>
                  <a:ext uri="{0D108BD9-81ED-4DB2-BD59-A6C34878D82A}">
                    <a16:rowId xmlns:a16="http://schemas.microsoft.com/office/drawing/2014/main" val="10001"/>
                  </a:ext>
                </a:extLst>
              </a:tr>
              <a:tr h="1516828">
                <a:tc>
                  <a:txBody>
                    <a:bodyPr/>
                    <a:lstStyle/>
                    <a:p>
                      <a:pPr>
                        <a:buNone/>
                      </a:pPr>
                      <a:r>
                        <a:rPr lang="en-US" sz="800" dirty="0"/>
                        <a:t>[14]. Explainable AI-Based Fraud and Intrusion Detection in IoT Systems (2025)</a:t>
                      </a:r>
                      <a:endParaRPr lang="en-US" sz="800" b="0" dirty="0"/>
                    </a:p>
                  </a:txBody>
                  <a:tcPr anchor="ctr"/>
                </a:tc>
                <a:tc>
                  <a:txBody>
                    <a:bodyPr/>
                    <a:lstStyle/>
                    <a:p>
                      <a:pPr>
                        <a:buNone/>
                      </a:pPr>
                      <a:r>
                        <a:rPr lang="en-US" sz="800" dirty="0"/>
                        <a:t>Improve trust and transparency in fraud detection systems</a:t>
                      </a:r>
                    </a:p>
                  </a:txBody>
                  <a:tcPr anchor="ctr"/>
                </a:tc>
                <a:tc>
                  <a:txBody>
                    <a:bodyPr/>
                    <a:lstStyle/>
                    <a:p>
                      <a:pPr>
                        <a:buNone/>
                      </a:pPr>
                      <a:r>
                        <a:rPr lang="en-US" sz="800" dirty="0"/>
                        <a:t>Integration of Explainable AI techniques</a:t>
                      </a:r>
                    </a:p>
                  </a:txBody>
                  <a:tcPr anchor="ctr"/>
                </a:tc>
                <a:tc>
                  <a:txBody>
                    <a:bodyPr/>
                    <a:lstStyle/>
                    <a:p>
                      <a:pPr>
                        <a:buNone/>
                      </a:pPr>
                      <a:r>
                        <a:rPr lang="en-US" sz="800" dirty="0"/>
                        <a:t>Explainability increases user trust and system reliability</a:t>
                      </a:r>
                    </a:p>
                  </a:txBody>
                  <a:tcPr anchor="ctr"/>
                </a:tc>
                <a:tc>
                  <a:txBody>
                    <a:bodyPr/>
                    <a:lstStyle/>
                    <a:p>
                      <a:pPr>
                        <a:buNone/>
                      </a:pPr>
                      <a:r>
                        <a:rPr lang="en-US" sz="800" dirty="0"/>
                        <a:t>Direct motivation for SHAP-based explanations in fraud detection</a:t>
                      </a:r>
                    </a:p>
                  </a:txBody>
                  <a:tcPr anchor="ctr"/>
                </a:tc>
                <a:tc>
                  <a:txBody>
                    <a:bodyPr/>
                    <a:lstStyle/>
                    <a:p>
                      <a:pPr>
                        <a:buNone/>
                      </a:pPr>
                      <a:r>
                        <a:rPr lang="en-IN" sz="800" dirty="0"/>
                        <a:t>XAI Techniques</a:t>
                      </a:r>
                    </a:p>
                  </a:txBody>
                  <a:tcPr anchor="ctr"/>
                </a:tc>
                <a:tc>
                  <a:txBody>
                    <a:bodyPr/>
                    <a:lstStyle/>
                    <a:p>
                      <a:pPr>
                        <a:buNone/>
                      </a:pPr>
                      <a:r>
                        <a:rPr lang="en-US" sz="800" dirty="0"/>
                        <a:t>Improved interpretability without major accuracy loss</a:t>
                      </a:r>
                    </a:p>
                  </a:txBody>
                  <a:tcPr anchor="ctr"/>
                </a:tc>
                <a:tc>
                  <a:txBody>
                    <a:bodyPr/>
                    <a:lstStyle/>
                    <a:p>
                      <a:pPr>
                        <a:buNone/>
                      </a:pPr>
                      <a:r>
                        <a:rPr lang="en-IN" sz="800" dirty="0"/>
                        <a:t>Transparent decision-making</a:t>
                      </a:r>
                      <a:endParaRPr lang="en-US" sz="800" dirty="0"/>
                    </a:p>
                  </a:txBody>
                  <a:tcPr anchor="ctr"/>
                </a:tc>
                <a:tc>
                  <a:txBody>
                    <a:bodyPr/>
                    <a:lstStyle/>
                    <a:p>
                      <a:pPr>
                        <a:buNone/>
                      </a:pPr>
                      <a:r>
                        <a:rPr lang="en-IN" sz="800" dirty="0"/>
                        <a:t>Additional computational overhead</a:t>
                      </a:r>
                    </a:p>
                  </a:txBody>
                  <a:tcPr anchor="ctr"/>
                </a:tc>
                <a:extLst>
                  <a:ext uri="{0D108BD9-81ED-4DB2-BD59-A6C34878D82A}">
                    <a16:rowId xmlns:a16="http://schemas.microsoft.com/office/drawing/2014/main" val="10002"/>
                  </a:ext>
                </a:extLst>
              </a:tr>
              <a:tr h="1072664">
                <a:tc>
                  <a:txBody>
                    <a:bodyPr/>
                    <a:lstStyle/>
                    <a:p>
                      <a:pPr>
                        <a:buNone/>
                      </a:pPr>
                      <a:r>
                        <a:rPr lang="en-US" sz="800" dirty="0"/>
                        <a:t>[15]. Explainable AI for Intrusion Detection Systems: SHAP Applicability (2024)</a:t>
                      </a:r>
                      <a:endParaRPr lang="en-US" sz="800" b="0" dirty="0"/>
                    </a:p>
                  </a:txBody>
                  <a:tcPr anchor="ctr"/>
                </a:tc>
                <a:tc>
                  <a:txBody>
                    <a:bodyPr/>
                    <a:lstStyle/>
                    <a:p>
                      <a:pPr>
                        <a:buNone/>
                      </a:pPr>
                      <a:r>
                        <a:rPr lang="en-US" sz="800" dirty="0"/>
                        <a:t>Explain ML model decisions using SHAP</a:t>
                      </a:r>
                    </a:p>
                  </a:txBody>
                  <a:tcPr anchor="ctr"/>
                </a:tc>
                <a:tc>
                  <a:txBody>
                    <a:bodyPr/>
                    <a:lstStyle/>
                    <a:p>
                      <a:pPr>
                        <a:buNone/>
                      </a:pPr>
                      <a:r>
                        <a:rPr lang="en-IN" sz="800" dirty="0"/>
                        <a:t>SHAP-based feature attribution</a:t>
                      </a:r>
                    </a:p>
                  </a:txBody>
                  <a:tcPr anchor="ctr"/>
                </a:tc>
                <a:tc>
                  <a:txBody>
                    <a:bodyPr/>
                    <a:lstStyle/>
                    <a:p>
                      <a:pPr>
                        <a:buNone/>
                      </a:pPr>
                      <a:r>
                        <a:rPr lang="en-IN" sz="800" dirty="0"/>
                        <a:t>Provides clear feature-level explanations</a:t>
                      </a:r>
                      <a:endParaRPr lang="en-US" sz="800" dirty="0"/>
                    </a:p>
                  </a:txBody>
                  <a:tcPr anchor="ctr"/>
                </a:tc>
                <a:tc>
                  <a:txBody>
                    <a:bodyPr/>
                    <a:lstStyle/>
                    <a:p>
                      <a:pPr>
                        <a:buNone/>
                      </a:pPr>
                      <a:r>
                        <a:rPr lang="en-US" sz="800" dirty="0"/>
                        <a:t>Justifies SHAP integration for UPI fraud predictions</a:t>
                      </a:r>
                    </a:p>
                  </a:txBody>
                  <a:tcPr anchor="ctr"/>
                </a:tc>
                <a:tc>
                  <a:txBody>
                    <a:bodyPr/>
                    <a:lstStyle/>
                    <a:p>
                      <a:pPr>
                        <a:buNone/>
                      </a:pPr>
                      <a:r>
                        <a:rPr lang="en-IN" sz="800" dirty="0"/>
                        <a:t>SHAP</a:t>
                      </a:r>
                    </a:p>
                  </a:txBody>
                  <a:tcPr anchor="ctr"/>
                </a:tc>
                <a:tc>
                  <a:txBody>
                    <a:bodyPr/>
                    <a:lstStyle/>
                    <a:p>
                      <a:pPr>
                        <a:buNone/>
                      </a:pPr>
                      <a:r>
                        <a:rPr lang="en-US" sz="800" dirty="0"/>
                        <a:t>Maintains accuracy while improving interpretability</a:t>
                      </a:r>
                    </a:p>
                  </a:txBody>
                  <a:tcPr anchor="ctr"/>
                </a:tc>
                <a:tc>
                  <a:txBody>
                    <a:bodyPr/>
                    <a:lstStyle/>
                    <a:p>
                      <a:pPr>
                        <a:buNone/>
                      </a:pPr>
                      <a:r>
                        <a:rPr lang="en-IN" sz="800" dirty="0"/>
                        <a:t>Feature-level insights</a:t>
                      </a:r>
                    </a:p>
                  </a:txBody>
                  <a:tcPr anchor="ctr"/>
                </a:tc>
                <a:tc>
                  <a:txBody>
                    <a:bodyPr/>
                    <a:lstStyle/>
                    <a:p>
                      <a:pPr>
                        <a:buNone/>
                      </a:pPr>
                      <a:r>
                        <a:rPr lang="en-IN" sz="800" dirty="0"/>
                        <a:t>Explanation generation cost</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17968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0D8562F3-EF4E-4EA1-8416-F769F14D18B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7430083-762D-3B6E-DAC3-3D98EE6A2F41}"/>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Research Gaps</a:t>
            </a:r>
            <a:endParaRPr dirty="0"/>
          </a:p>
        </p:txBody>
      </p:sp>
      <p:sp>
        <p:nvSpPr>
          <p:cNvPr id="44" name="Google Shape;44;p3">
            <a:extLst>
              <a:ext uri="{FF2B5EF4-FFF2-40B4-BE49-F238E27FC236}">
                <a16:creationId xmlns:a16="http://schemas.microsoft.com/office/drawing/2014/main" id="{5FD84FE6-1EF7-E90B-9561-FC7CF4214F1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18</a:t>
            </a:fld>
            <a:endParaRPr/>
          </a:p>
        </p:txBody>
      </p:sp>
      <p:sp>
        <p:nvSpPr>
          <p:cNvPr id="45" name="Google Shape;45;p3">
            <a:extLst>
              <a:ext uri="{FF2B5EF4-FFF2-40B4-BE49-F238E27FC236}">
                <a16:creationId xmlns:a16="http://schemas.microsoft.com/office/drawing/2014/main" id="{380B9875-0545-C7A1-F58F-DE1C68DCE9C1}"/>
              </a:ext>
            </a:extLst>
          </p:cNvPr>
          <p:cNvSpPr txBox="1">
            <a:spLocks noGrp="1"/>
          </p:cNvSpPr>
          <p:nvPr>
            <p:ph type="body" idx="1"/>
          </p:nvPr>
        </p:nvSpPr>
        <p:spPr>
          <a:xfrm>
            <a:off x="165100" y="501888"/>
            <a:ext cx="8763000" cy="4641611"/>
          </a:xfrm>
          <a:prstGeom prst="rect">
            <a:avLst/>
          </a:prstGeom>
          <a:noFill/>
          <a:ln>
            <a:noFill/>
          </a:ln>
        </p:spPr>
        <p:txBody>
          <a:bodyPr spcFirstLastPara="1" wrap="square" lIns="91425" tIns="91425" rIns="91425" bIns="91425" anchor="t" anchorCtr="0">
            <a:normAutofit/>
          </a:bodyPr>
          <a:lstStyle/>
          <a:p>
            <a:pPr marL="514350" indent="-285750" algn="just">
              <a:lnSpc>
                <a:spcPct val="150000"/>
              </a:lnSpc>
              <a:buFont typeface="Arial" panose="020B0604020202020204" pitchFamily="34" charset="0"/>
              <a:buChar char="•"/>
            </a:pPr>
            <a:r>
              <a:rPr lang="en-US" sz="1400" dirty="0"/>
              <a:t>Most existing fraud detection systems focus mainly on improving accuracy, with limited emphasis on </a:t>
            </a:r>
            <a:r>
              <a:rPr lang="en-US" sz="1400" b="1" dirty="0"/>
              <a:t>reducing false negatives</a:t>
            </a:r>
            <a:r>
              <a:rPr lang="en-US" sz="1400" dirty="0"/>
              <a:t>, which is critical in real-world fraud prevention.</a:t>
            </a:r>
          </a:p>
          <a:p>
            <a:pPr marL="514350" indent="-285750" algn="just">
              <a:lnSpc>
                <a:spcPct val="150000"/>
              </a:lnSpc>
              <a:buFont typeface="Arial" panose="020B0604020202020204" pitchFamily="34" charset="0"/>
              <a:buChar char="•"/>
            </a:pPr>
            <a:r>
              <a:rPr lang="en-US" sz="1400" dirty="0"/>
              <a:t>Traditional machine learning models struggle with </a:t>
            </a:r>
            <a:r>
              <a:rPr lang="en-US" sz="1400" b="1" dirty="0"/>
              <a:t>severely imbalanced transaction datasets</a:t>
            </a:r>
            <a:r>
              <a:rPr lang="en-US" sz="1400" dirty="0"/>
              <a:t>, leading to poor detection of rare fraud cases.</a:t>
            </a:r>
          </a:p>
          <a:p>
            <a:pPr marL="514350" indent="-285750" algn="just">
              <a:lnSpc>
                <a:spcPct val="150000"/>
              </a:lnSpc>
              <a:buFont typeface="Arial" panose="020B0604020202020204" pitchFamily="34" charset="0"/>
              <a:buChar char="•"/>
            </a:pPr>
            <a:r>
              <a:rPr lang="en-US" sz="1400" dirty="0"/>
              <a:t>Many GAN-based approaches use </a:t>
            </a:r>
            <a:r>
              <a:rPr lang="en-US" sz="1400" b="1" dirty="0"/>
              <a:t>complex architectures</a:t>
            </a:r>
            <a:r>
              <a:rPr lang="en-US" sz="1400" dirty="0"/>
              <a:t>, making them difficult to train, interpret, and deploy in practical payment systems.</a:t>
            </a:r>
          </a:p>
          <a:p>
            <a:pPr marL="514350" indent="-285750" algn="just">
              <a:lnSpc>
                <a:spcPct val="150000"/>
              </a:lnSpc>
              <a:buFont typeface="Arial" panose="020B0604020202020204" pitchFamily="34" charset="0"/>
              <a:buChar char="•"/>
            </a:pPr>
            <a:r>
              <a:rPr lang="en-US" sz="1400" dirty="0"/>
              <a:t>Several fraud detection models operate as </a:t>
            </a:r>
            <a:r>
              <a:rPr lang="en-US" sz="1400" b="1" dirty="0"/>
              <a:t>black-box systems</a:t>
            </a:r>
            <a:r>
              <a:rPr lang="en-US" sz="1400" dirty="0"/>
              <a:t>, offering little or no </a:t>
            </a:r>
            <a:r>
              <a:rPr lang="en-US" sz="1400" b="1" dirty="0"/>
              <a:t>explainability</a:t>
            </a:r>
            <a:r>
              <a:rPr lang="en-US" sz="1400" dirty="0"/>
              <a:t>, which reduces trust among users and financial institutions.</a:t>
            </a:r>
          </a:p>
          <a:p>
            <a:pPr marL="514350" indent="-285750" algn="just">
              <a:lnSpc>
                <a:spcPct val="150000"/>
              </a:lnSpc>
              <a:buFont typeface="Arial" panose="020B0604020202020204" pitchFamily="34" charset="0"/>
              <a:buChar char="•"/>
            </a:pPr>
            <a:r>
              <a:rPr lang="en-US" sz="1400" dirty="0"/>
              <a:t>There is limited research on combining </a:t>
            </a:r>
            <a:r>
              <a:rPr lang="en-US" sz="1400" b="1" dirty="0"/>
              <a:t>CGAN-based data augmentation with powerful gradient-boosting models like </a:t>
            </a:r>
            <a:r>
              <a:rPr lang="en-US" sz="1400" b="1" dirty="0" err="1"/>
              <a:t>XGBoost</a:t>
            </a:r>
            <a:r>
              <a:rPr lang="en-US" sz="1400" b="1" dirty="0"/>
              <a:t> and </a:t>
            </a:r>
            <a:r>
              <a:rPr lang="en-US" sz="1400" b="1" dirty="0" err="1"/>
              <a:t>NGBoost</a:t>
            </a:r>
            <a:r>
              <a:rPr lang="en-US" sz="1400" dirty="0"/>
              <a:t> for explainable fraud detection.</a:t>
            </a:r>
          </a:p>
          <a:p>
            <a:pPr marL="228600" indent="0">
              <a:lnSpc>
                <a:spcPct val="170000"/>
              </a:lnSpc>
            </a:pPr>
            <a:r>
              <a:rPr lang="en-US" sz="1400" b="1" dirty="0"/>
              <a:t>Opportunity Identified:</a:t>
            </a:r>
            <a:br>
              <a:rPr lang="en-US" sz="1400" dirty="0"/>
            </a:br>
            <a:r>
              <a:rPr lang="en-US" sz="1400" dirty="0"/>
              <a:t>These gaps motivate the development of a </a:t>
            </a:r>
            <a:r>
              <a:rPr lang="en-US" sz="1400" b="1" dirty="0"/>
              <a:t>simpler, explainable, and fraud detection system</a:t>
            </a:r>
            <a:r>
              <a:rPr lang="en-US" sz="1400" dirty="0"/>
              <a:t> using CGAN-based data augmentation combined with a robust classification model, as proposed in this project.</a:t>
            </a:r>
          </a:p>
        </p:txBody>
      </p:sp>
    </p:spTree>
    <p:extLst>
      <p:ext uri="{BB962C8B-B14F-4D97-AF65-F5344CB8AC3E}">
        <p14:creationId xmlns:p14="http://schemas.microsoft.com/office/powerpoint/2010/main" val="2678418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291C7F78-E42D-F789-412D-53C660C0DFA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364DABB-86F0-041F-1690-AD45B814158A}"/>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Problem statement</a:t>
            </a:r>
            <a:endParaRPr dirty="0"/>
          </a:p>
        </p:txBody>
      </p:sp>
      <p:sp>
        <p:nvSpPr>
          <p:cNvPr id="44" name="Google Shape;44;p3">
            <a:extLst>
              <a:ext uri="{FF2B5EF4-FFF2-40B4-BE49-F238E27FC236}">
                <a16:creationId xmlns:a16="http://schemas.microsoft.com/office/drawing/2014/main" id="{105073AE-3BAB-9959-75E9-6BDAB9C42CE1}"/>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19</a:t>
            </a:fld>
            <a:endParaRPr/>
          </a:p>
        </p:txBody>
      </p:sp>
      <p:sp>
        <p:nvSpPr>
          <p:cNvPr id="45" name="Google Shape;45;p3">
            <a:extLst>
              <a:ext uri="{FF2B5EF4-FFF2-40B4-BE49-F238E27FC236}">
                <a16:creationId xmlns:a16="http://schemas.microsoft.com/office/drawing/2014/main" id="{186DEA44-DE74-8BF1-9FD0-1F1BEEF60B05}"/>
              </a:ext>
            </a:extLst>
          </p:cNvPr>
          <p:cNvSpPr txBox="1">
            <a:spLocks noGrp="1"/>
          </p:cNvSpPr>
          <p:nvPr>
            <p:ph type="body" idx="1"/>
          </p:nvPr>
        </p:nvSpPr>
        <p:spPr>
          <a:xfrm>
            <a:off x="165100" y="649287"/>
            <a:ext cx="8763000" cy="4406899"/>
          </a:xfrm>
          <a:prstGeom prst="rect">
            <a:avLst/>
          </a:prstGeom>
          <a:noFill/>
          <a:ln>
            <a:noFill/>
          </a:ln>
        </p:spPr>
        <p:txBody>
          <a:bodyPr spcFirstLastPara="1" wrap="square" lIns="91425" tIns="91425" rIns="91425" bIns="91425" anchor="t" anchorCtr="0">
            <a:normAutofit fontScale="85000" lnSpcReduction="10000"/>
          </a:bodyPr>
          <a:lstStyle/>
          <a:p>
            <a:pPr marL="146368" lvl="0" indent="0" algn="just">
              <a:lnSpc>
                <a:spcPct val="160000"/>
              </a:lnSpc>
              <a:buClr>
                <a:srgbClr val="595959"/>
              </a:buClr>
              <a:buSzPct val="58333"/>
            </a:pPr>
            <a:r>
              <a:rPr lang="en-US" dirty="0"/>
              <a:t>Despite the rapid growth of digital payment systems, financial fraud continues to increase due to evolving and sophisticated attack patterns. Existing fraud detection techniques largely depend on rule-based or complex learning models that struggle with severe class imbalance, limited fraud samples, and lack of real-time response. Many current systems also provide limited explainability, making it difficult for users and institutions to trust automated decisions. Therefore, there is a need for a reliable fraud detection system that can effectively handle imbalanced transaction data, detect fraud, and support transparent decision-making in digital payment environments.</a:t>
            </a:r>
            <a:endParaRPr lang="en-US" dirty="0">
              <a:solidFill>
                <a:srgbClr val="C00000"/>
              </a:solidFill>
            </a:endParaRPr>
          </a:p>
        </p:txBody>
      </p:sp>
    </p:spTree>
    <p:extLst>
      <p:ext uri="{BB962C8B-B14F-4D97-AF65-F5344CB8AC3E}">
        <p14:creationId xmlns:p14="http://schemas.microsoft.com/office/powerpoint/2010/main" val="2521853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35795-D3F6-ED75-3627-11BF1310872A}"/>
              </a:ext>
            </a:extLst>
          </p:cNvPr>
          <p:cNvSpPr>
            <a:spLocks noGrp="1"/>
          </p:cNvSpPr>
          <p:nvPr>
            <p:ph type="ctrTitle"/>
          </p:nvPr>
        </p:nvSpPr>
        <p:spPr>
          <a:xfrm>
            <a:off x="0" y="132523"/>
            <a:ext cx="4572000" cy="616777"/>
          </a:xfrm>
        </p:spPr>
        <p:txBody>
          <a:bodyPr>
            <a:normAutofit fontScale="90000"/>
          </a:bodyPr>
          <a:lstStyle/>
          <a:p>
            <a:r>
              <a:rPr lang="en-IN" dirty="0"/>
              <a:t>Objectives of the project</a:t>
            </a:r>
            <a:br>
              <a:rPr lang="en-IN" dirty="0"/>
            </a:br>
            <a:endParaRPr lang="en-IN" dirty="0"/>
          </a:p>
        </p:txBody>
      </p:sp>
      <p:sp>
        <p:nvSpPr>
          <p:cNvPr id="4" name="Slide Number Placeholder 3">
            <a:extLst>
              <a:ext uri="{FF2B5EF4-FFF2-40B4-BE49-F238E27FC236}">
                <a16:creationId xmlns:a16="http://schemas.microsoft.com/office/drawing/2014/main" id="{510DF65D-3ABF-D9E6-732D-1A9130D47C60}"/>
              </a:ext>
            </a:extLst>
          </p:cNvPr>
          <p:cNvSpPr>
            <a:spLocks noGrp="1"/>
          </p:cNvSpPr>
          <p:nvPr>
            <p:ph type="sldNum" idx="14"/>
          </p:nvPr>
        </p:nvSpPr>
        <p:spPr/>
        <p:txBody>
          <a:bodyPr/>
          <a:lstStyle/>
          <a:p>
            <a:pPr>
              <a:defRPr/>
            </a:pPr>
            <a:fld id="{EF26C623-DE27-4A99-8424-AFD36C142E5A}" type="slidenum">
              <a:rPr lang="en-US" altLang="en-US" smtClean="0"/>
              <a:pPr>
                <a:defRPr/>
              </a:pPr>
              <a:t>20</a:t>
            </a:fld>
            <a:endParaRPr lang="en-US" altLang="en-US"/>
          </a:p>
        </p:txBody>
      </p:sp>
      <p:sp>
        <p:nvSpPr>
          <p:cNvPr id="6" name="Rectangle 2">
            <a:extLst>
              <a:ext uri="{FF2B5EF4-FFF2-40B4-BE49-F238E27FC236}">
                <a16:creationId xmlns:a16="http://schemas.microsoft.com/office/drawing/2014/main" id="{E13D747A-47DA-C73C-BB4E-A56C2B462819}"/>
              </a:ext>
            </a:extLst>
          </p:cNvPr>
          <p:cNvSpPr>
            <a:spLocks noGrp="1" noChangeArrowheads="1"/>
          </p:cNvSpPr>
          <p:nvPr>
            <p:ph type="body" sz="quarter" idx="13"/>
          </p:nvPr>
        </p:nvSpPr>
        <p:spPr bwMode="auto">
          <a:xfrm>
            <a:off x="199227" y="612020"/>
            <a:ext cx="874554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 </a:t>
            </a:r>
            <a:r>
              <a:rPr kumimoji="0" lang="en-US" altLang="en-US" sz="1800" b="1" i="0" u="none" strike="noStrike" cap="none" normalizeH="0" baseline="0" dirty="0">
                <a:ln>
                  <a:noFill/>
                </a:ln>
                <a:solidFill>
                  <a:schemeClr val="tx1"/>
                </a:solidFill>
                <a:effectLst/>
                <a:latin typeface="Arial" panose="020B0604020202020204" pitchFamily="34" charset="0"/>
              </a:rPr>
              <a:t>UPI transaction fraud detection system</a:t>
            </a:r>
            <a:r>
              <a:rPr kumimoji="0" lang="en-US" altLang="en-US" sz="1800" b="0" i="0" u="none" strike="noStrike" cap="none" normalizeH="0" baseline="0" dirty="0">
                <a:ln>
                  <a:noFill/>
                </a:ln>
                <a:solidFill>
                  <a:schemeClr val="tx1"/>
                </a:solidFill>
                <a:effectLst/>
                <a:latin typeface="Arial" panose="020B0604020202020204" pitchFamily="34" charset="0"/>
              </a:rPr>
              <a:t> capable of identifying fraudulent activities.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address </a:t>
            </a:r>
            <a:r>
              <a:rPr kumimoji="0" lang="en-US" altLang="en-US" sz="1800" b="1" i="0" u="none" strike="noStrike" cap="none" normalizeH="0" baseline="0" dirty="0">
                <a:ln>
                  <a:noFill/>
                </a:ln>
                <a:solidFill>
                  <a:schemeClr val="tx1"/>
                </a:solidFill>
                <a:effectLst/>
                <a:latin typeface="Arial" panose="020B0604020202020204" pitchFamily="34" charset="0"/>
              </a:rPr>
              <a:t>class imbalance in fraud data</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b="1" i="0" u="none" strike="noStrike" cap="none" normalizeH="0" baseline="0" dirty="0">
                <a:ln>
                  <a:noFill/>
                </a:ln>
                <a:solidFill>
                  <a:schemeClr val="tx1"/>
                </a:solidFill>
                <a:effectLst/>
                <a:latin typeface="Arial" panose="020B0604020202020204" pitchFamily="34" charset="0"/>
              </a:rPr>
              <a:t>Conditional GAN (CGAN)</a:t>
            </a:r>
            <a:r>
              <a:rPr kumimoji="0" lang="en-US" altLang="en-US" sz="1800" b="0" i="0" u="none" strike="noStrike" cap="none" normalizeH="0" baseline="0" dirty="0">
                <a:ln>
                  <a:noFill/>
                </a:ln>
                <a:solidFill>
                  <a:schemeClr val="tx1"/>
                </a:solidFill>
                <a:effectLst/>
                <a:latin typeface="Arial" panose="020B0604020202020204" pitchFamily="34" charset="0"/>
              </a:rPr>
              <a:t> for synthetic fraud sample generation.</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implement  </a:t>
            </a:r>
            <a:r>
              <a:rPr kumimoji="0" lang="en-US" altLang="en-US" sz="1800" b="1" i="0" u="none" strike="noStrike" cap="none" normalizeH="0" baseline="0" dirty="0" err="1">
                <a:ln>
                  <a:noFill/>
                </a:ln>
                <a:solidFill>
                  <a:schemeClr val="tx1"/>
                </a:solidFill>
                <a:effectLst/>
                <a:latin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rPr>
              <a:t> Classification that reduces false negatives and improves fraud detection accuracy.</a:t>
            </a:r>
          </a:p>
          <a:p>
            <a:pPr marL="285750" lvl="0" indent="-285750" algn="just" eaLnBrk="0" fontAlgn="base"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sz="1800" dirty="0"/>
              <a:t>To incorporate </a:t>
            </a:r>
            <a:r>
              <a:rPr lang="en-US" sz="1800" b="1" dirty="0" err="1"/>
              <a:t>NGBoost</a:t>
            </a:r>
            <a:r>
              <a:rPr lang="en-US" sz="1800" dirty="0"/>
              <a:t> for probabilistic fraud risk estimation, enabling risk-aware and confidence-driven transaction decision-making.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lvl="0" indent="-285750" algn="just" eaLnBrk="0" fontAlgn="base" hangingPunct="0">
              <a:lnSpc>
                <a:spcPct val="15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To provide </a:t>
            </a:r>
            <a:r>
              <a:rPr kumimoji="0" lang="en-US" altLang="en-US" sz="1800" b="1" i="0" u="none" strike="noStrike" cap="none" normalizeH="0" baseline="0" dirty="0">
                <a:ln>
                  <a:noFill/>
                </a:ln>
                <a:solidFill>
                  <a:schemeClr val="tx1"/>
                </a:solidFill>
                <a:effectLst/>
                <a:latin typeface="Arial" panose="020B0604020202020204" pitchFamily="34" charset="0"/>
              </a:rPr>
              <a:t>explainable fraud predictions</a:t>
            </a:r>
            <a:r>
              <a:rPr kumimoji="0" lang="en-US" altLang="en-US" sz="1800" b="0" i="0" u="none" strike="noStrike" cap="none" normalizeH="0" baseline="0" dirty="0">
                <a:ln>
                  <a:noFill/>
                </a:ln>
                <a:solidFill>
                  <a:schemeClr val="tx1"/>
                </a:solidFill>
                <a:effectLst/>
                <a:latin typeface="Arial" panose="020B0604020202020204" pitchFamily="34" charset="0"/>
              </a:rPr>
              <a:t> using SHAP for transparent and trustworthy decision-making.</a:t>
            </a:r>
          </a:p>
        </p:txBody>
      </p:sp>
    </p:spTree>
    <p:extLst>
      <p:ext uri="{BB962C8B-B14F-4D97-AF65-F5344CB8AC3E}">
        <p14:creationId xmlns:p14="http://schemas.microsoft.com/office/powerpoint/2010/main" val="3107492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3AA6C-D284-F536-3AE8-41C65B8DA1AF}"/>
              </a:ext>
            </a:extLst>
          </p:cNvPr>
          <p:cNvSpPr>
            <a:spLocks noGrp="1"/>
          </p:cNvSpPr>
          <p:nvPr>
            <p:ph type="ctrTitle"/>
          </p:nvPr>
        </p:nvSpPr>
        <p:spPr>
          <a:xfrm>
            <a:off x="0" y="0"/>
            <a:ext cx="9144000" cy="649288"/>
          </a:xfrm>
        </p:spPr>
        <p:txBody>
          <a:bodyPr>
            <a:normAutofit fontScale="90000"/>
          </a:bodyPr>
          <a:lstStyle/>
          <a:p>
            <a:pPr algn="l" eaLnBrk="1" fontAlgn="auto" hangingPunct="1">
              <a:buClr>
                <a:schemeClr val="dk1"/>
              </a:buClr>
              <a:buFont typeface="Arial"/>
              <a:buNone/>
              <a:defRPr/>
            </a:pPr>
            <a:r>
              <a:rPr lang="en-US" dirty="0">
                <a:solidFill>
                  <a:schemeClr val="dk1"/>
                </a:solidFill>
                <a:sym typeface="Arial"/>
              </a:rPr>
              <a:t>Proposed Solution</a:t>
            </a:r>
          </a:p>
        </p:txBody>
      </p:sp>
      <p:sp>
        <p:nvSpPr>
          <p:cNvPr id="10243" name="Slide Number Placeholder 2">
            <a:extLst>
              <a:ext uri="{FF2B5EF4-FFF2-40B4-BE49-F238E27FC236}">
                <a16:creationId xmlns:a16="http://schemas.microsoft.com/office/drawing/2014/main" id="{6D00ABFA-D88A-B7AF-7D4A-6012A136BF52}"/>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A9C45A0C-E776-438A-BBC0-372ED89C29E2}" type="slidenum">
              <a:rPr lang="en-US" altLang="en-US" sz="1000" smtClean="0">
                <a:solidFill>
                  <a:srgbClr val="595959"/>
                </a:solidFill>
              </a:rPr>
              <a:pPr/>
              <a:t>21</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A16D36CC-B0BD-65FC-5B42-DB93D92A8237}"/>
              </a:ext>
            </a:extLst>
          </p:cNvPr>
          <p:cNvSpPr>
            <a:spLocks noGrp="1"/>
          </p:cNvSpPr>
          <p:nvPr>
            <p:ph type="body" sz="quarter" idx="13"/>
          </p:nvPr>
        </p:nvSpPr>
        <p:spPr>
          <a:xfrm>
            <a:off x="122238" y="463296"/>
            <a:ext cx="8805862" cy="4680204"/>
          </a:xfrm>
        </p:spPr>
        <p:txBody>
          <a:bodyPr spcFirstLastPara="1">
            <a:noAutofit/>
          </a:bodyPr>
          <a:lstStyle/>
          <a:p>
            <a:pPr marL="228600" indent="0" algn="just">
              <a:lnSpc>
                <a:spcPct val="170000"/>
              </a:lnSpc>
              <a:buClr>
                <a:schemeClr val="dk2"/>
              </a:buClr>
              <a:buSzPts val="1800"/>
              <a:defRPr/>
            </a:pPr>
            <a:r>
              <a:rPr lang="en-US" sz="1600" dirty="0"/>
              <a:t>The project proposes an intelligent, real-time fraud detection framework that combines conditional generative modeling, machine learning and explainable AI . A Conditional Generative Adversarial Network (CGAN) is used to generate behavior-conditioned synthetic fraud samples based on key transaction characteristics such as amount, frequency, and risk patterns. This synthetic data is combined with real transaction data to address severe class imbalance and improve minority fraud representation. An </a:t>
            </a:r>
            <a:r>
              <a:rPr lang="en-US" sz="1600" dirty="0" err="1"/>
              <a:t>XGBoost</a:t>
            </a:r>
            <a:r>
              <a:rPr lang="en-US" sz="1600" dirty="0"/>
              <a:t> classifier is then trained on the balanced dataset to prioritize fraud detection and minimize false negatives. </a:t>
            </a:r>
            <a:r>
              <a:rPr lang="en-US" sz="1600" dirty="0" err="1"/>
              <a:t>NGBoost</a:t>
            </a:r>
            <a:r>
              <a:rPr lang="en-US" sz="1600" dirty="0"/>
              <a:t> is added as a secondary probabilistic model to estimate fraud risk (probability and uncertainty), enabling risk-aware decisions alongside </a:t>
            </a:r>
            <a:r>
              <a:rPr lang="en-US" sz="1600" dirty="0" err="1"/>
              <a:t>XGBoost’s</a:t>
            </a:r>
            <a:r>
              <a:rPr lang="en-US" sz="1600" dirty="0"/>
              <a:t> classification. To enhance transparency and user trust, SHAP-based explainability is integrated to provide transaction-level reasoning for each fraud decision.</a:t>
            </a:r>
            <a:endParaRPr lang="en-US" sz="1600" dirty="0">
              <a:solidFill>
                <a:schemeClr val="dk2"/>
              </a:solidFil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2">
            <a:extLst>
              <a:ext uri="{FF2B5EF4-FFF2-40B4-BE49-F238E27FC236}">
                <a16:creationId xmlns:a16="http://schemas.microsoft.com/office/drawing/2014/main" id="{ED46C40A-8AED-4E05-7B1E-3C80C4B90ED3}"/>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845F3082-D53D-40B3-AEDA-81BD1AE0820A}" type="slidenum">
              <a:rPr lang="en-US" altLang="en-US" sz="1000" smtClean="0">
                <a:solidFill>
                  <a:srgbClr val="595959"/>
                </a:solidFill>
              </a:rPr>
              <a:pPr/>
              <a:t>22</a:t>
            </a:fld>
            <a:endParaRPr lang="en-US" altLang="en-US" sz="1000">
              <a:solidFill>
                <a:srgbClr val="595959"/>
              </a:solidFill>
            </a:endParaRPr>
          </a:p>
        </p:txBody>
      </p:sp>
      <p:sp>
        <p:nvSpPr>
          <p:cNvPr id="8" name="TextBox 7">
            <a:extLst>
              <a:ext uri="{FF2B5EF4-FFF2-40B4-BE49-F238E27FC236}">
                <a16:creationId xmlns:a16="http://schemas.microsoft.com/office/drawing/2014/main" id="{53057B95-99A4-8F62-B79A-595199FE632C}"/>
              </a:ext>
            </a:extLst>
          </p:cNvPr>
          <p:cNvSpPr txBox="1"/>
          <p:nvPr/>
        </p:nvSpPr>
        <p:spPr>
          <a:xfrm>
            <a:off x="233755" y="240631"/>
            <a:ext cx="4510123" cy="400110"/>
          </a:xfrm>
          <a:prstGeom prst="rect">
            <a:avLst/>
          </a:prstGeom>
          <a:noFill/>
        </p:spPr>
        <p:txBody>
          <a:bodyPr wrap="square" rtlCol="0">
            <a:spAutoFit/>
          </a:bodyPr>
          <a:lstStyle/>
          <a:p>
            <a:r>
              <a:rPr lang="en-IN" sz="2000" b="1" dirty="0">
                <a:latin typeface="+mj-lt"/>
              </a:rPr>
              <a:t>ARCHITECTURE DIAGRAM</a:t>
            </a:r>
          </a:p>
        </p:txBody>
      </p:sp>
      <p:pic>
        <p:nvPicPr>
          <p:cNvPr id="9" name="Picture 8">
            <a:extLst>
              <a:ext uri="{FF2B5EF4-FFF2-40B4-BE49-F238E27FC236}">
                <a16:creationId xmlns:a16="http://schemas.microsoft.com/office/drawing/2014/main" id="{A47707A4-6A09-5E81-5038-4BDD5838630B}"/>
              </a:ext>
            </a:extLst>
          </p:cNvPr>
          <p:cNvPicPr>
            <a:picLocks noChangeAspect="1"/>
          </p:cNvPicPr>
          <p:nvPr/>
        </p:nvPicPr>
        <p:blipFill>
          <a:blip r:embed="rId2"/>
          <a:stretch>
            <a:fillRect/>
          </a:stretch>
        </p:blipFill>
        <p:spPr>
          <a:xfrm>
            <a:off x="122238" y="0"/>
            <a:ext cx="7644703" cy="5143500"/>
          </a:xfrm>
          <a:prstGeom prst="rect">
            <a:avLst/>
          </a:prstGeom>
        </p:spPr>
      </p:pic>
      <p:sp>
        <p:nvSpPr>
          <p:cNvPr id="10" name="TextBox 9">
            <a:extLst>
              <a:ext uri="{FF2B5EF4-FFF2-40B4-BE49-F238E27FC236}">
                <a16:creationId xmlns:a16="http://schemas.microsoft.com/office/drawing/2014/main" id="{16D5F2E5-7235-3AC9-94D2-CA8A2F458F5B}"/>
              </a:ext>
            </a:extLst>
          </p:cNvPr>
          <p:cNvSpPr txBox="1"/>
          <p:nvPr/>
        </p:nvSpPr>
        <p:spPr>
          <a:xfrm>
            <a:off x="122238" y="132909"/>
            <a:ext cx="4802562" cy="461665"/>
          </a:xfrm>
          <a:prstGeom prst="rect">
            <a:avLst/>
          </a:prstGeom>
          <a:noFill/>
        </p:spPr>
        <p:txBody>
          <a:bodyPr wrap="square">
            <a:spAutoFit/>
          </a:bodyPr>
          <a:lstStyle/>
          <a:p>
            <a:r>
              <a:rPr lang="en-IN" sz="2400" b="1" dirty="0"/>
              <a:t>Methodology / Algorithms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E072-FEAF-2AB3-5605-110CD9785DF1}"/>
              </a:ext>
            </a:extLst>
          </p:cNvPr>
          <p:cNvSpPr>
            <a:spLocks noGrp="1"/>
          </p:cNvSpPr>
          <p:nvPr>
            <p:ph type="ctrTitle"/>
          </p:nvPr>
        </p:nvSpPr>
        <p:spPr>
          <a:xfrm>
            <a:off x="0" y="0"/>
            <a:ext cx="9144000" cy="649288"/>
          </a:xfrm>
        </p:spPr>
        <p:txBody>
          <a:bodyPr>
            <a:normAutofit fontScale="90000"/>
          </a:bodyPr>
          <a:lstStyle/>
          <a:p>
            <a:pPr algn="l" eaLnBrk="1" fontAlgn="auto" hangingPunct="1">
              <a:buClr>
                <a:schemeClr val="dk1"/>
              </a:buClr>
              <a:defRPr/>
            </a:pPr>
            <a:r>
              <a:rPr lang="en-IN" dirty="0"/>
              <a:t>Methodology / Algorithms (Cont..)</a:t>
            </a:r>
            <a:endParaRPr lang="en-US" dirty="0">
              <a:solidFill>
                <a:schemeClr val="dk1"/>
              </a:solidFill>
              <a:sym typeface="Arial"/>
            </a:endParaRPr>
          </a:p>
        </p:txBody>
      </p:sp>
      <p:sp>
        <p:nvSpPr>
          <p:cNvPr id="12291" name="Slide Number Placeholder 2">
            <a:extLst>
              <a:ext uri="{FF2B5EF4-FFF2-40B4-BE49-F238E27FC236}">
                <a16:creationId xmlns:a16="http://schemas.microsoft.com/office/drawing/2014/main" id="{5D4E9857-593F-94E3-B1F5-D6FF21535EE4}"/>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185B2634-3FD6-49B7-832A-3BFA1738CCD2}" type="slidenum">
              <a:rPr lang="en-US" altLang="en-US" sz="1000" smtClean="0">
                <a:solidFill>
                  <a:srgbClr val="595959"/>
                </a:solidFill>
              </a:rPr>
              <a:pPr/>
              <a:t>23</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EC8265C9-4F3F-5CC5-669E-76B66DA82309}"/>
              </a:ext>
            </a:extLst>
          </p:cNvPr>
          <p:cNvSpPr>
            <a:spLocks noGrp="1"/>
          </p:cNvSpPr>
          <p:nvPr>
            <p:ph type="body" sz="quarter" idx="13"/>
          </p:nvPr>
        </p:nvSpPr>
        <p:spPr>
          <a:xfrm>
            <a:off x="165100" y="649288"/>
            <a:ext cx="8763000" cy="4348974"/>
          </a:xfrm>
        </p:spPr>
        <p:txBody>
          <a:bodyPr>
            <a:normAutofit fontScale="55000" lnSpcReduction="20000"/>
          </a:bodyPr>
          <a:lstStyle/>
          <a:p>
            <a:pPr algn="just">
              <a:lnSpc>
                <a:spcPct val="170000"/>
              </a:lnSpc>
            </a:pPr>
            <a:r>
              <a:rPr lang="en-IN" b="1" dirty="0"/>
              <a:t>Algorithms Chosen</a:t>
            </a:r>
          </a:p>
          <a:p>
            <a:pPr marL="571500" indent="-342900" algn="just">
              <a:lnSpc>
                <a:spcPct val="170000"/>
              </a:lnSpc>
              <a:buFont typeface="Arial" panose="020B0604020202020204" pitchFamily="34" charset="0"/>
              <a:buChar char="•"/>
            </a:pPr>
            <a:r>
              <a:rPr lang="en-IN" b="1" dirty="0"/>
              <a:t>CGAN (Conditional GAN)</a:t>
            </a:r>
            <a:r>
              <a:rPr lang="en-IN" dirty="0"/>
              <a:t> – Synthetic data generation</a:t>
            </a:r>
          </a:p>
          <a:p>
            <a:pPr marL="571500" indent="-342900" algn="just">
              <a:lnSpc>
                <a:spcPct val="170000"/>
              </a:lnSpc>
              <a:buFont typeface="Arial" panose="020B0604020202020204" pitchFamily="34" charset="0"/>
              <a:buChar char="•"/>
            </a:pPr>
            <a:r>
              <a:rPr lang="en-IN" b="1" dirty="0" err="1"/>
              <a:t>XGBoost</a:t>
            </a:r>
            <a:r>
              <a:rPr lang="en-IN" b="1" dirty="0"/>
              <a:t> Classifier</a:t>
            </a:r>
            <a:r>
              <a:rPr lang="en-IN" dirty="0"/>
              <a:t> – Fraud classification</a:t>
            </a:r>
          </a:p>
          <a:p>
            <a:pPr marL="571500" indent="-342900" algn="just">
              <a:lnSpc>
                <a:spcPct val="170000"/>
              </a:lnSpc>
              <a:buFont typeface="Arial" panose="020B0604020202020204" pitchFamily="34" charset="0"/>
              <a:buChar char="•"/>
            </a:pPr>
            <a:r>
              <a:rPr lang="en-IN" b="1" dirty="0" err="1"/>
              <a:t>NGBoost</a:t>
            </a:r>
            <a:r>
              <a:rPr lang="en-IN" dirty="0"/>
              <a:t> – Probabilistic Fraud Detection</a:t>
            </a:r>
          </a:p>
          <a:p>
            <a:pPr marL="571500" indent="-342900" algn="just">
              <a:lnSpc>
                <a:spcPct val="170000"/>
              </a:lnSpc>
              <a:buFont typeface="Arial" panose="020B0604020202020204" pitchFamily="34" charset="0"/>
              <a:buChar char="•"/>
            </a:pPr>
            <a:r>
              <a:rPr lang="en-IN" b="1" dirty="0"/>
              <a:t>SHAP</a:t>
            </a:r>
            <a:r>
              <a:rPr lang="en-IN" dirty="0"/>
              <a:t> – Model explainability</a:t>
            </a:r>
          </a:p>
          <a:p>
            <a:pPr algn="just">
              <a:lnSpc>
                <a:spcPct val="170000"/>
              </a:lnSpc>
            </a:pPr>
            <a:r>
              <a:rPr lang="en-IN" b="1" dirty="0"/>
              <a:t>Justification</a:t>
            </a:r>
          </a:p>
          <a:p>
            <a:pPr marL="571500" indent="-342900" algn="just">
              <a:lnSpc>
                <a:spcPct val="170000"/>
              </a:lnSpc>
              <a:buFont typeface="Arial" panose="020B0604020202020204" pitchFamily="34" charset="0"/>
              <a:buChar char="•"/>
            </a:pPr>
            <a:r>
              <a:rPr lang="en-IN" b="1" dirty="0"/>
              <a:t>CGAN</a:t>
            </a:r>
            <a:r>
              <a:rPr lang="en-IN" dirty="0"/>
              <a:t> addresses severe class imbalance by generating realistic synthetic fraud samples.</a:t>
            </a:r>
          </a:p>
          <a:p>
            <a:pPr marL="571500" indent="-342900" algn="just">
              <a:lnSpc>
                <a:spcPct val="170000"/>
              </a:lnSpc>
              <a:buFont typeface="Arial" panose="020B0604020202020204" pitchFamily="34" charset="0"/>
              <a:buChar char="•"/>
            </a:pPr>
            <a:r>
              <a:rPr lang="en-IN" b="1" dirty="0" err="1"/>
              <a:t>XGBoost</a:t>
            </a:r>
            <a:r>
              <a:rPr lang="en-IN" dirty="0"/>
              <a:t> is well-suited for tabular financial data, offering high accuracy and fast inference.</a:t>
            </a:r>
          </a:p>
          <a:p>
            <a:pPr marL="571500" indent="-342900" algn="just">
              <a:lnSpc>
                <a:spcPct val="170000"/>
              </a:lnSpc>
              <a:buFont typeface="Arial" panose="020B0604020202020204" pitchFamily="34" charset="0"/>
              <a:buChar char="•"/>
            </a:pPr>
            <a:r>
              <a:rPr lang="en-IN" b="1" dirty="0"/>
              <a:t>SHAP</a:t>
            </a:r>
            <a:r>
              <a:rPr lang="en-IN" dirty="0"/>
              <a:t> provides transparent, interpretable explanations for model predictions.</a:t>
            </a:r>
          </a:p>
          <a:p>
            <a:pPr algn="just">
              <a:lnSpc>
                <a:spcPct val="170000"/>
              </a:lnSpc>
            </a:pPr>
            <a:r>
              <a:rPr lang="en-IN" b="1" dirty="0"/>
              <a:t>Alignment with Objectives</a:t>
            </a:r>
          </a:p>
          <a:p>
            <a:pPr marL="571500" indent="-342900" algn="just">
              <a:lnSpc>
                <a:spcPct val="170000"/>
              </a:lnSpc>
              <a:buFont typeface="Arial" panose="020B0604020202020204" pitchFamily="34" charset="0"/>
              <a:buChar char="•"/>
            </a:pPr>
            <a:r>
              <a:rPr lang="en-IN" dirty="0"/>
              <a:t>Improves </a:t>
            </a:r>
            <a:r>
              <a:rPr lang="en-IN" b="1" dirty="0"/>
              <a:t>fraud detection accuracy and recall</a:t>
            </a:r>
            <a:endParaRPr lang="en-IN" dirty="0"/>
          </a:p>
          <a:p>
            <a:pPr marL="571500" indent="-342900" algn="just">
              <a:lnSpc>
                <a:spcPct val="170000"/>
              </a:lnSpc>
              <a:buFont typeface="Arial" panose="020B0604020202020204" pitchFamily="34" charset="0"/>
              <a:buChar char="•"/>
            </a:pPr>
            <a:r>
              <a:rPr lang="en-IN" dirty="0"/>
              <a:t>Minimizes </a:t>
            </a:r>
            <a:r>
              <a:rPr lang="en-IN" b="1" dirty="0"/>
              <a:t>false negatives and financial loss</a:t>
            </a:r>
          </a:p>
          <a:p>
            <a:pPr marL="571500" indent="-342900" algn="just">
              <a:lnSpc>
                <a:spcPct val="170000"/>
              </a:lnSpc>
              <a:buFont typeface="Arial" panose="020B0604020202020204" pitchFamily="34" charset="0"/>
              <a:buChar char="•"/>
            </a:pPr>
            <a:r>
              <a:rPr lang="en-IN" dirty="0"/>
              <a:t>Ensures </a:t>
            </a:r>
            <a:r>
              <a:rPr lang="en-IN" b="1" dirty="0"/>
              <a:t>explainability.</a:t>
            </a:r>
            <a:endParaRPr lang="en-IN" dirty="0"/>
          </a:p>
          <a:p>
            <a:pPr marL="0" indent="0" eaLnBrk="1" hangingPunct="1">
              <a:lnSpc>
                <a:spcPct val="115000"/>
              </a:lnSpc>
              <a:buClr>
                <a:srgbClr val="595959"/>
              </a:buClr>
              <a:buSzPts val="1800"/>
            </a:pPr>
            <a:endParaRPr lang="en-US" altLang="en-US" dirty="0">
              <a:solidFill>
                <a:srgbClr val="595959"/>
              </a:solidFill>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ED70-C483-7BC1-1001-D141BEA64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9CD6F4-C1D0-C773-84CD-BCA78B486843}"/>
              </a:ext>
            </a:extLst>
          </p:cNvPr>
          <p:cNvSpPr>
            <a:spLocks noGrp="1"/>
          </p:cNvSpPr>
          <p:nvPr>
            <p:ph type="ctrTitle"/>
          </p:nvPr>
        </p:nvSpPr>
        <p:spPr>
          <a:xfrm>
            <a:off x="0" y="0"/>
            <a:ext cx="9144000" cy="649288"/>
          </a:xfrm>
        </p:spPr>
        <p:txBody>
          <a:bodyPr>
            <a:normAutofit fontScale="90000"/>
          </a:bodyPr>
          <a:lstStyle/>
          <a:p>
            <a:pPr algn="l" eaLnBrk="1" fontAlgn="auto" hangingPunct="1">
              <a:buClr>
                <a:schemeClr val="dk1"/>
              </a:buClr>
              <a:defRPr/>
            </a:pPr>
            <a:r>
              <a:rPr lang="en-IN" dirty="0">
                <a:solidFill>
                  <a:schemeClr val="dk1"/>
                </a:solidFill>
                <a:sym typeface="Arial"/>
              </a:rPr>
              <a:t>Software and Hardware </a:t>
            </a:r>
            <a:endParaRPr lang="en-US" dirty="0">
              <a:solidFill>
                <a:schemeClr val="dk1"/>
              </a:solidFill>
              <a:sym typeface="Arial"/>
            </a:endParaRPr>
          </a:p>
        </p:txBody>
      </p:sp>
      <p:sp>
        <p:nvSpPr>
          <p:cNvPr id="12291" name="Slide Number Placeholder 2">
            <a:extLst>
              <a:ext uri="{FF2B5EF4-FFF2-40B4-BE49-F238E27FC236}">
                <a16:creationId xmlns:a16="http://schemas.microsoft.com/office/drawing/2014/main" id="{54F90A53-A7D0-FE6A-0F24-707A3BB89833}"/>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185B2634-3FD6-49B7-832A-3BFA1738CCD2}" type="slidenum">
              <a:rPr lang="en-US" altLang="en-US" sz="1000" smtClean="0">
                <a:solidFill>
                  <a:srgbClr val="595959"/>
                </a:solidFill>
              </a:rPr>
              <a:pPr/>
              <a:t>24</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BE7C6777-5CC8-D22B-83FE-00C9AD6B3923}"/>
              </a:ext>
            </a:extLst>
          </p:cNvPr>
          <p:cNvSpPr>
            <a:spLocks noGrp="1"/>
          </p:cNvSpPr>
          <p:nvPr>
            <p:ph type="body" sz="quarter" idx="13"/>
          </p:nvPr>
        </p:nvSpPr>
        <p:spPr>
          <a:xfrm>
            <a:off x="165100" y="649288"/>
            <a:ext cx="8763000" cy="4348974"/>
          </a:xfrm>
        </p:spPr>
        <p:txBody>
          <a:bodyPr>
            <a:normAutofit fontScale="92500" lnSpcReduction="10000"/>
          </a:bodyPr>
          <a:lstStyle/>
          <a:p>
            <a:pPr algn="just">
              <a:lnSpc>
                <a:spcPct val="160000"/>
              </a:lnSpc>
            </a:pPr>
            <a:r>
              <a:rPr lang="en-IN" sz="1900" b="1" dirty="0"/>
              <a:t>Software / Libraries Used</a:t>
            </a:r>
          </a:p>
          <a:p>
            <a:pPr marL="571500" indent="-342900" algn="just">
              <a:lnSpc>
                <a:spcPct val="160000"/>
              </a:lnSpc>
              <a:buFont typeface="Arial" panose="020B0604020202020204" pitchFamily="34" charset="0"/>
              <a:buChar char="•"/>
            </a:pPr>
            <a:r>
              <a:rPr lang="en-IN" sz="1900" b="1" dirty="0"/>
              <a:t>Python</a:t>
            </a:r>
            <a:r>
              <a:rPr lang="en-IN" sz="1900" dirty="0"/>
              <a:t> – Core programming language</a:t>
            </a:r>
          </a:p>
          <a:p>
            <a:pPr marL="571500" indent="-342900" algn="just">
              <a:lnSpc>
                <a:spcPct val="160000"/>
              </a:lnSpc>
              <a:buFont typeface="Arial" panose="020B0604020202020204" pitchFamily="34" charset="0"/>
              <a:buChar char="•"/>
            </a:pPr>
            <a:r>
              <a:rPr lang="en-IN" sz="1900" b="1" dirty="0"/>
              <a:t>TensorFlow</a:t>
            </a:r>
            <a:r>
              <a:rPr lang="en-IN" sz="1900" dirty="0"/>
              <a:t> – Conditional GAN (CGAN) implementation</a:t>
            </a:r>
          </a:p>
          <a:p>
            <a:pPr marL="571500" indent="-342900" algn="just">
              <a:lnSpc>
                <a:spcPct val="160000"/>
              </a:lnSpc>
              <a:buFont typeface="Arial" panose="020B0604020202020204" pitchFamily="34" charset="0"/>
              <a:buChar char="•"/>
            </a:pPr>
            <a:r>
              <a:rPr lang="en-IN" sz="1900" b="1" dirty="0"/>
              <a:t>NumPy, Pandas</a:t>
            </a:r>
            <a:r>
              <a:rPr lang="en-IN" sz="1900" dirty="0"/>
              <a:t> – Data processing and analysis</a:t>
            </a:r>
          </a:p>
          <a:p>
            <a:pPr marL="571500" indent="-342900" algn="just">
              <a:lnSpc>
                <a:spcPct val="160000"/>
              </a:lnSpc>
              <a:buFont typeface="Arial" panose="020B0604020202020204" pitchFamily="34" charset="0"/>
              <a:buChar char="•"/>
            </a:pPr>
            <a:r>
              <a:rPr lang="en-IN" sz="1900" b="1" dirty="0"/>
              <a:t>Scikit-learn</a:t>
            </a:r>
            <a:r>
              <a:rPr lang="en-IN" sz="1900" dirty="0"/>
              <a:t> – Preprocessing and model evaluation</a:t>
            </a:r>
          </a:p>
          <a:p>
            <a:pPr marL="571500" indent="-342900" algn="just">
              <a:lnSpc>
                <a:spcPct val="160000"/>
              </a:lnSpc>
              <a:buFont typeface="Arial" panose="020B0604020202020204" pitchFamily="34" charset="0"/>
              <a:buChar char="•"/>
            </a:pPr>
            <a:r>
              <a:rPr lang="en-IN" sz="1900" b="1" dirty="0" err="1"/>
              <a:t>XGBoost</a:t>
            </a:r>
            <a:r>
              <a:rPr lang="en-IN" sz="1900" dirty="0"/>
              <a:t> – Fraud classification</a:t>
            </a:r>
          </a:p>
          <a:p>
            <a:pPr marL="571500" indent="-342900" algn="just">
              <a:lnSpc>
                <a:spcPct val="160000"/>
              </a:lnSpc>
              <a:buFont typeface="Arial" panose="020B0604020202020204" pitchFamily="34" charset="0"/>
              <a:buChar char="•"/>
            </a:pPr>
            <a:r>
              <a:rPr lang="en-IN" sz="1900" b="1" dirty="0" err="1"/>
              <a:t>NGBoost</a:t>
            </a:r>
            <a:r>
              <a:rPr lang="en-IN" sz="1900" dirty="0"/>
              <a:t> – Probabilistic </a:t>
            </a:r>
            <a:r>
              <a:rPr lang="en-IN" sz="1900" dirty="0" err="1"/>
              <a:t>Classfication</a:t>
            </a:r>
            <a:endParaRPr lang="en-IN" sz="1900" dirty="0"/>
          </a:p>
          <a:p>
            <a:pPr marL="571500" indent="-342900" algn="just">
              <a:lnSpc>
                <a:spcPct val="160000"/>
              </a:lnSpc>
              <a:buFont typeface="Arial" panose="020B0604020202020204" pitchFamily="34" charset="0"/>
              <a:buChar char="•"/>
            </a:pPr>
            <a:r>
              <a:rPr lang="en-IN" sz="1900" b="1" dirty="0"/>
              <a:t>SHAP</a:t>
            </a:r>
            <a:r>
              <a:rPr lang="en-IN" sz="1900" dirty="0"/>
              <a:t> – Model explainability</a:t>
            </a:r>
          </a:p>
          <a:p>
            <a:pPr marL="228600" indent="0" algn="just">
              <a:lnSpc>
                <a:spcPct val="160000"/>
              </a:lnSpc>
            </a:pPr>
            <a:r>
              <a:rPr lang="en-IN" sz="1900" b="1" dirty="0"/>
              <a:t>IDE Used</a:t>
            </a:r>
          </a:p>
          <a:p>
            <a:pPr marL="571500" indent="-342900" algn="just">
              <a:lnSpc>
                <a:spcPct val="160000"/>
              </a:lnSpc>
              <a:buFont typeface="Arial" panose="020B0604020202020204" pitchFamily="34" charset="0"/>
              <a:buChar char="•"/>
            </a:pPr>
            <a:r>
              <a:rPr lang="en-IN" sz="1900" b="1" dirty="0" err="1"/>
              <a:t>Jupyter</a:t>
            </a:r>
            <a:r>
              <a:rPr lang="en-IN" sz="1900" b="1" dirty="0"/>
              <a:t> Notebook</a:t>
            </a:r>
            <a:r>
              <a:rPr lang="en-IN" sz="1900" dirty="0"/>
              <a:t> – Model development and experimentation</a:t>
            </a:r>
          </a:p>
          <a:p>
            <a:pPr marL="0" indent="0" eaLnBrk="1" hangingPunct="1">
              <a:lnSpc>
                <a:spcPct val="115000"/>
              </a:lnSpc>
              <a:buClr>
                <a:srgbClr val="595959"/>
              </a:buClr>
              <a:buSzPts val="1800"/>
            </a:pPr>
            <a:endParaRPr lang="en-US" altLang="en-US" dirty="0">
              <a:solidFill>
                <a:srgbClr val="595959"/>
              </a:solidFill>
              <a:cs typeface="Arial" panose="020B0604020202020204" pitchFamily="34" charset="0"/>
            </a:endParaRPr>
          </a:p>
        </p:txBody>
      </p:sp>
    </p:spTree>
    <p:extLst>
      <p:ext uri="{BB962C8B-B14F-4D97-AF65-F5344CB8AC3E}">
        <p14:creationId xmlns:p14="http://schemas.microsoft.com/office/powerpoint/2010/main" val="3033844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D383-7C2E-175D-CF39-99054404C8DC}"/>
              </a:ext>
            </a:extLst>
          </p:cNvPr>
          <p:cNvSpPr>
            <a:spLocks noGrp="1"/>
          </p:cNvSpPr>
          <p:nvPr>
            <p:ph type="ctrTitle"/>
          </p:nvPr>
        </p:nvSpPr>
        <p:spPr>
          <a:xfrm>
            <a:off x="0" y="0"/>
            <a:ext cx="9144000" cy="649288"/>
          </a:xfrm>
        </p:spPr>
        <p:txBody>
          <a:bodyPr>
            <a:normAutofit fontScale="90000"/>
          </a:bodyPr>
          <a:lstStyle/>
          <a:p>
            <a:pPr algn="l">
              <a:defRPr/>
            </a:pPr>
            <a:r>
              <a:rPr lang="en-US" dirty="0"/>
              <a:t>Datasets Details</a:t>
            </a:r>
          </a:p>
        </p:txBody>
      </p:sp>
      <p:sp>
        <p:nvSpPr>
          <p:cNvPr id="3" name="Text Placeholder 2">
            <a:extLst>
              <a:ext uri="{FF2B5EF4-FFF2-40B4-BE49-F238E27FC236}">
                <a16:creationId xmlns:a16="http://schemas.microsoft.com/office/drawing/2014/main" id="{CC669247-AE56-0F1C-7920-5A070ED37EF9}"/>
              </a:ext>
            </a:extLst>
          </p:cNvPr>
          <p:cNvSpPr>
            <a:spLocks noGrp="1"/>
          </p:cNvSpPr>
          <p:nvPr>
            <p:ph type="body" sz="quarter" idx="13"/>
          </p:nvPr>
        </p:nvSpPr>
        <p:spPr/>
        <p:txBody>
          <a:bodyPr/>
          <a:lstStyle/>
          <a:p>
            <a:pPr>
              <a:lnSpc>
                <a:spcPct val="150000"/>
              </a:lnSpc>
            </a:pPr>
            <a:r>
              <a:rPr lang="en-IN" sz="1800" b="1" dirty="0"/>
              <a:t>Dataset Source</a:t>
            </a:r>
          </a:p>
          <a:p>
            <a:pPr marL="514350" indent="-285750">
              <a:lnSpc>
                <a:spcPct val="150000"/>
              </a:lnSpc>
              <a:buFont typeface="Arial" panose="020B0604020202020204" pitchFamily="34" charset="0"/>
              <a:buChar char="•"/>
            </a:pPr>
            <a:r>
              <a:rPr lang="en-IN" sz="1800" b="1" dirty="0"/>
              <a:t>Dataset : </a:t>
            </a:r>
            <a:r>
              <a:rPr lang="en-IN" sz="1800" dirty="0"/>
              <a:t>IEEE-CIS Fraud Detection</a:t>
            </a:r>
          </a:p>
          <a:p>
            <a:pPr marL="514350" indent="-285750">
              <a:lnSpc>
                <a:spcPct val="150000"/>
              </a:lnSpc>
              <a:buFont typeface="Arial" panose="020B0604020202020204" pitchFamily="34" charset="0"/>
              <a:buChar char="•"/>
            </a:pPr>
            <a:r>
              <a:rPr lang="en-IN" sz="1800" b="1" dirty="0"/>
              <a:t>Platform:</a:t>
            </a:r>
            <a:r>
              <a:rPr lang="en-IN" sz="1800" dirty="0"/>
              <a:t> Kaggle (IEEE Computational Intelligence Society)</a:t>
            </a:r>
            <a:endParaRPr lang="en-US" sz="1800" dirty="0">
              <a:solidFill>
                <a:srgbClr val="FF0000"/>
              </a:solidFill>
              <a:cs typeface="Arial" panose="020B0604020202020204" pitchFamily="34" charset="0"/>
            </a:endParaRPr>
          </a:p>
          <a:p>
            <a:pPr>
              <a:lnSpc>
                <a:spcPct val="150000"/>
              </a:lnSpc>
            </a:pPr>
            <a:r>
              <a:rPr lang="en-US" sz="1800" b="1" dirty="0"/>
              <a:t>Size of the Dataset</a:t>
            </a:r>
          </a:p>
          <a:p>
            <a:pPr marL="514350" indent="-285750">
              <a:lnSpc>
                <a:spcPct val="150000"/>
              </a:lnSpc>
              <a:buFont typeface="Arial" panose="020B0604020202020204" pitchFamily="34" charset="0"/>
              <a:buChar char="•"/>
            </a:pPr>
            <a:r>
              <a:rPr lang="en-US" sz="1800" b="1" dirty="0"/>
              <a:t>Total Records:</a:t>
            </a:r>
            <a:r>
              <a:rPr lang="en-US" sz="1800" dirty="0"/>
              <a:t> Approximately </a:t>
            </a:r>
            <a:r>
              <a:rPr lang="en-US" sz="1800" b="1" dirty="0"/>
              <a:t>20,000 transactions</a:t>
            </a:r>
            <a:r>
              <a:rPr lang="en-US" sz="1800" dirty="0"/>
              <a:t> </a:t>
            </a:r>
          </a:p>
          <a:p>
            <a:pPr marL="514350" indent="-285750">
              <a:lnSpc>
                <a:spcPct val="150000"/>
              </a:lnSpc>
              <a:buFont typeface="Arial" panose="020B0604020202020204" pitchFamily="34" charset="0"/>
              <a:buChar char="•"/>
            </a:pPr>
            <a:r>
              <a:rPr lang="en-US" sz="1800" b="1" dirty="0"/>
              <a:t>Fraudulent Transactions:</a:t>
            </a:r>
            <a:r>
              <a:rPr lang="en-US" sz="1800" dirty="0"/>
              <a:t> Around </a:t>
            </a:r>
            <a:r>
              <a:rPr lang="en-US" sz="1800" b="1" dirty="0"/>
              <a:t>10%</a:t>
            </a:r>
            <a:endParaRPr lang="en-US" sz="1800" dirty="0"/>
          </a:p>
          <a:p>
            <a:pPr marL="514350" indent="-285750">
              <a:lnSpc>
                <a:spcPct val="150000"/>
              </a:lnSpc>
              <a:buFont typeface="Arial" panose="020B0604020202020204" pitchFamily="34" charset="0"/>
              <a:buChar char="•"/>
            </a:pPr>
            <a:r>
              <a:rPr lang="en-US" sz="1800" b="1" dirty="0"/>
              <a:t>Legitimate Transactions:</a:t>
            </a:r>
            <a:r>
              <a:rPr lang="en-US" sz="1800" dirty="0"/>
              <a:t> Around </a:t>
            </a:r>
            <a:r>
              <a:rPr lang="en-US" sz="1800" b="1" dirty="0"/>
              <a:t>90%</a:t>
            </a:r>
            <a:endParaRPr lang="en-US" sz="1800" dirty="0"/>
          </a:p>
          <a:p>
            <a:endParaRPr lang="en-IN" sz="1400" dirty="0"/>
          </a:p>
        </p:txBody>
      </p:sp>
      <p:sp>
        <p:nvSpPr>
          <p:cNvPr id="14340" name="Slide Number Placeholder 3">
            <a:extLst>
              <a:ext uri="{FF2B5EF4-FFF2-40B4-BE49-F238E27FC236}">
                <a16:creationId xmlns:a16="http://schemas.microsoft.com/office/drawing/2014/main" id="{0CDA1D8E-9DE7-9299-8603-468CCDC455AD}"/>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A2FB1D4-4E4D-4581-89B2-8F96AFD91271}" type="slidenum">
              <a:rPr lang="en-US" altLang="en-US" sz="1000" smtClean="0">
                <a:solidFill>
                  <a:srgbClr val="595959"/>
                </a:solidFill>
              </a:rPr>
              <a:pPr/>
              <a:t>25</a:t>
            </a:fld>
            <a:endParaRPr lang="en-US" altLang="en-US" sz="1000">
              <a:solidFill>
                <a:srgbClr val="59595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9F2EC-0AD5-DAEC-1010-A7C7819CC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B6714-E05A-38E0-D1AB-B1B3531788BF}"/>
              </a:ext>
            </a:extLst>
          </p:cNvPr>
          <p:cNvSpPr>
            <a:spLocks noGrp="1"/>
          </p:cNvSpPr>
          <p:nvPr>
            <p:ph type="ctrTitle"/>
          </p:nvPr>
        </p:nvSpPr>
        <p:spPr>
          <a:xfrm>
            <a:off x="0" y="0"/>
            <a:ext cx="9144000" cy="649288"/>
          </a:xfrm>
        </p:spPr>
        <p:txBody>
          <a:bodyPr>
            <a:normAutofit fontScale="90000"/>
          </a:bodyPr>
          <a:lstStyle/>
          <a:p>
            <a:pPr algn="l">
              <a:defRPr/>
            </a:pPr>
            <a:r>
              <a:rPr lang="en-US" dirty="0"/>
              <a:t>Datasets Details</a:t>
            </a:r>
          </a:p>
        </p:txBody>
      </p:sp>
      <p:sp>
        <p:nvSpPr>
          <p:cNvPr id="3" name="Text Placeholder 2">
            <a:extLst>
              <a:ext uri="{FF2B5EF4-FFF2-40B4-BE49-F238E27FC236}">
                <a16:creationId xmlns:a16="http://schemas.microsoft.com/office/drawing/2014/main" id="{6E18DE7C-8198-9913-090C-EBCBFA484969}"/>
              </a:ext>
            </a:extLst>
          </p:cNvPr>
          <p:cNvSpPr>
            <a:spLocks noGrp="1"/>
          </p:cNvSpPr>
          <p:nvPr>
            <p:ph type="body" sz="quarter" idx="13"/>
          </p:nvPr>
        </p:nvSpPr>
        <p:spPr>
          <a:xfrm>
            <a:off x="190500" y="550014"/>
            <a:ext cx="8763000" cy="3912937"/>
          </a:xfrm>
        </p:spPr>
        <p:txBody>
          <a:bodyPr/>
          <a:lstStyle/>
          <a:p>
            <a:pPr marL="228600" indent="0" algn="just">
              <a:lnSpc>
                <a:spcPct val="150000"/>
              </a:lnSpc>
            </a:pPr>
            <a:r>
              <a:rPr lang="en-IN" sz="1400" b="1" dirty="0"/>
              <a:t>Fields / Attributes of the Dataset</a:t>
            </a:r>
          </a:p>
          <a:p>
            <a:pPr marL="514350" indent="-285750" algn="just">
              <a:lnSpc>
                <a:spcPct val="150000"/>
              </a:lnSpc>
              <a:buFont typeface="Arial" panose="020B0604020202020204" pitchFamily="34" charset="0"/>
              <a:buChar char="•"/>
            </a:pPr>
            <a:r>
              <a:rPr lang="en-IN" sz="1400" b="1" dirty="0"/>
              <a:t>Transaction ID:</a:t>
            </a:r>
            <a:r>
              <a:rPr lang="en-IN" sz="1400" dirty="0"/>
              <a:t> Unique identifier for each transaction</a:t>
            </a:r>
          </a:p>
          <a:p>
            <a:pPr marL="514350" indent="-285750" algn="just">
              <a:lnSpc>
                <a:spcPct val="150000"/>
              </a:lnSpc>
              <a:buFont typeface="Arial" panose="020B0604020202020204" pitchFamily="34" charset="0"/>
              <a:buChar char="•"/>
            </a:pPr>
            <a:r>
              <a:rPr lang="en-IN" sz="1400" b="1" dirty="0"/>
              <a:t>Transaction Amount:</a:t>
            </a:r>
            <a:r>
              <a:rPr lang="en-IN" sz="1400" dirty="0"/>
              <a:t> Monetary value of the transaction</a:t>
            </a:r>
          </a:p>
          <a:p>
            <a:pPr marL="514350" indent="-285750" algn="just">
              <a:lnSpc>
                <a:spcPct val="150000"/>
              </a:lnSpc>
              <a:buFont typeface="Arial" panose="020B0604020202020204" pitchFamily="34" charset="0"/>
              <a:buChar char="•"/>
            </a:pPr>
            <a:r>
              <a:rPr lang="en-IN" sz="1400" b="1" dirty="0"/>
              <a:t>Transaction Time:</a:t>
            </a:r>
            <a:r>
              <a:rPr lang="en-IN" sz="1400" dirty="0"/>
              <a:t> Timestamp of the transaction</a:t>
            </a:r>
          </a:p>
          <a:p>
            <a:pPr marL="514350" indent="-285750" algn="just">
              <a:lnSpc>
                <a:spcPct val="150000"/>
              </a:lnSpc>
              <a:buFont typeface="Arial" panose="020B0604020202020204" pitchFamily="34" charset="0"/>
              <a:buChar char="•"/>
            </a:pPr>
            <a:r>
              <a:rPr lang="en-IN" sz="1400" b="1" dirty="0"/>
              <a:t>Merchant ID:</a:t>
            </a:r>
            <a:r>
              <a:rPr lang="en-IN" sz="1400" dirty="0"/>
              <a:t> Unique identifier for merchants</a:t>
            </a:r>
          </a:p>
          <a:p>
            <a:pPr marL="514350" indent="-285750" algn="just">
              <a:lnSpc>
                <a:spcPct val="150000"/>
              </a:lnSpc>
              <a:buFont typeface="Arial" panose="020B0604020202020204" pitchFamily="34" charset="0"/>
              <a:buChar char="•"/>
            </a:pPr>
            <a:r>
              <a:rPr lang="en-IN" sz="1400" b="1" dirty="0"/>
              <a:t>Merchant Category:</a:t>
            </a:r>
            <a:r>
              <a:rPr lang="en-IN" sz="1400" dirty="0"/>
              <a:t> Category of merchant (retail, travel, food, etc.)</a:t>
            </a:r>
          </a:p>
          <a:p>
            <a:pPr marL="514350" indent="-285750" algn="just">
              <a:lnSpc>
                <a:spcPct val="150000"/>
              </a:lnSpc>
              <a:buFont typeface="Arial" panose="020B0604020202020204" pitchFamily="34" charset="0"/>
              <a:buChar char="•"/>
            </a:pPr>
            <a:r>
              <a:rPr lang="en-IN" sz="1400" b="1" dirty="0"/>
              <a:t>Location:</a:t>
            </a:r>
            <a:r>
              <a:rPr lang="en-IN" sz="1400" dirty="0"/>
              <a:t> Geographic location of the transaction</a:t>
            </a:r>
          </a:p>
          <a:p>
            <a:pPr marL="514350" indent="-285750" algn="just">
              <a:lnSpc>
                <a:spcPct val="150000"/>
              </a:lnSpc>
              <a:buFont typeface="Arial" panose="020B0604020202020204" pitchFamily="34" charset="0"/>
              <a:buChar char="•"/>
            </a:pPr>
            <a:r>
              <a:rPr lang="en-IN" sz="1400" b="1" dirty="0"/>
              <a:t>Previous Transactions:</a:t>
            </a:r>
            <a:r>
              <a:rPr lang="en-IN" sz="1400" dirty="0"/>
              <a:t> Count of past user transactions</a:t>
            </a:r>
          </a:p>
          <a:p>
            <a:pPr marL="514350" indent="-285750" algn="just">
              <a:lnSpc>
                <a:spcPct val="150000"/>
              </a:lnSpc>
              <a:buFont typeface="Arial" panose="020B0604020202020204" pitchFamily="34" charset="0"/>
              <a:buChar char="•"/>
            </a:pPr>
            <a:r>
              <a:rPr lang="en-IN" sz="1400" b="1" dirty="0"/>
              <a:t>Average Transaction Amount:</a:t>
            </a:r>
            <a:r>
              <a:rPr lang="en-IN" sz="1400" dirty="0"/>
              <a:t> User’s historical average transaction value</a:t>
            </a:r>
          </a:p>
          <a:p>
            <a:pPr marL="514350" indent="-285750" algn="just">
              <a:lnSpc>
                <a:spcPct val="150000"/>
              </a:lnSpc>
              <a:buFont typeface="Arial" panose="020B0604020202020204" pitchFamily="34" charset="0"/>
              <a:buChar char="•"/>
            </a:pPr>
            <a:r>
              <a:rPr lang="en-IN" sz="1400" b="1" dirty="0"/>
              <a:t>International Transaction Flag:</a:t>
            </a:r>
            <a:r>
              <a:rPr lang="en-IN" sz="1400" dirty="0"/>
              <a:t> Indicates domestic or international transaction</a:t>
            </a:r>
          </a:p>
          <a:p>
            <a:pPr marL="514350" indent="-285750" algn="just">
              <a:lnSpc>
                <a:spcPct val="150000"/>
              </a:lnSpc>
              <a:buFont typeface="Arial" panose="020B0604020202020204" pitchFamily="34" charset="0"/>
              <a:buChar char="•"/>
            </a:pPr>
            <a:r>
              <a:rPr lang="en-IN" sz="1400" b="1" dirty="0"/>
              <a:t>Fraud Label:</a:t>
            </a:r>
            <a:r>
              <a:rPr lang="en-IN" sz="1400" dirty="0"/>
              <a:t> Target variable (0 = Legitimate, 1 = Fraud)</a:t>
            </a:r>
          </a:p>
          <a:p>
            <a:endParaRPr lang="en-IN" sz="1400" dirty="0"/>
          </a:p>
        </p:txBody>
      </p:sp>
      <p:sp>
        <p:nvSpPr>
          <p:cNvPr id="14340" name="Slide Number Placeholder 3">
            <a:extLst>
              <a:ext uri="{FF2B5EF4-FFF2-40B4-BE49-F238E27FC236}">
                <a16:creationId xmlns:a16="http://schemas.microsoft.com/office/drawing/2014/main" id="{730D7B6B-F46C-D960-B5D2-1E255DEE17F1}"/>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A2FB1D4-4E4D-4581-89B2-8F96AFD91271}" type="slidenum">
              <a:rPr lang="en-US" altLang="en-US" sz="1000" smtClean="0">
                <a:solidFill>
                  <a:srgbClr val="595959"/>
                </a:solidFill>
              </a:rPr>
              <a:pPr/>
              <a:t>26</a:t>
            </a:fld>
            <a:endParaRPr lang="en-US" altLang="en-US" sz="1000">
              <a:solidFill>
                <a:srgbClr val="595959"/>
              </a:solidFill>
            </a:endParaRPr>
          </a:p>
        </p:txBody>
      </p:sp>
    </p:spTree>
    <p:extLst>
      <p:ext uri="{BB962C8B-B14F-4D97-AF65-F5344CB8AC3E}">
        <p14:creationId xmlns:p14="http://schemas.microsoft.com/office/powerpoint/2010/main" val="3945233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2E89C-85DE-2095-F9D4-1196935D3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E5918-D58C-D4B6-2F61-5AA2CB5DB076}"/>
              </a:ext>
            </a:extLst>
          </p:cNvPr>
          <p:cNvSpPr>
            <a:spLocks noGrp="1"/>
          </p:cNvSpPr>
          <p:nvPr>
            <p:ph type="ctrTitle"/>
          </p:nvPr>
        </p:nvSpPr>
        <p:spPr>
          <a:xfrm>
            <a:off x="0" y="0"/>
            <a:ext cx="9144000" cy="649288"/>
          </a:xfrm>
        </p:spPr>
        <p:txBody>
          <a:bodyPr>
            <a:normAutofit fontScale="90000"/>
          </a:bodyPr>
          <a:lstStyle/>
          <a:p>
            <a:pPr algn="l">
              <a:defRPr/>
            </a:pPr>
            <a:r>
              <a:rPr lang="en-IN" dirty="0"/>
              <a:t>Expected outcomes</a:t>
            </a:r>
            <a:endParaRPr lang="en-US" dirty="0"/>
          </a:p>
        </p:txBody>
      </p:sp>
      <p:sp>
        <p:nvSpPr>
          <p:cNvPr id="3" name="Text Placeholder 2">
            <a:extLst>
              <a:ext uri="{FF2B5EF4-FFF2-40B4-BE49-F238E27FC236}">
                <a16:creationId xmlns:a16="http://schemas.microsoft.com/office/drawing/2014/main" id="{6ACDE8F6-54A0-2EFD-59F1-0BF05125E24A}"/>
              </a:ext>
            </a:extLst>
          </p:cNvPr>
          <p:cNvSpPr>
            <a:spLocks noGrp="1"/>
          </p:cNvSpPr>
          <p:nvPr>
            <p:ph type="body" sz="quarter" idx="13"/>
          </p:nvPr>
        </p:nvSpPr>
        <p:spPr>
          <a:xfrm>
            <a:off x="190500" y="550014"/>
            <a:ext cx="8763000" cy="4593486"/>
          </a:xfrm>
        </p:spPr>
        <p:txBody>
          <a:bodyPr/>
          <a:lstStyle/>
          <a:p>
            <a:pPr marL="228600" indent="0" algn="just">
              <a:lnSpc>
                <a:spcPct val="150000"/>
              </a:lnSpc>
            </a:pPr>
            <a:r>
              <a:rPr lang="en-US" sz="1400" b="1" dirty="0"/>
              <a:t>High Detection Accuracy</a:t>
            </a:r>
          </a:p>
          <a:p>
            <a:pPr marL="514350" indent="-285750" algn="just">
              <a:lnSpc>
                <a:spcPct val="150000"/>
              </a:lnSpc>
              <a:buFont typeface="Arial" panose="020B0604020202020204" pitchFamily="34" charset="0"/>
              <a:buChar char="•"/>
            </a:pPr>
            <a:r>
              <a:rPr lang="en-US" sz="1400" dirty="0"/>
              <a:t>Achieve </a:t>
            </a:r>
            <a:r>
              <a:rPr lang="en-US" sz="1400" b="1" dirty="0"/>
              <a:t>≥85% classification accuracy</a:t>
            </a:r>
            <a:r>
              <a:rPr lang="en-US" sz="1400" dirty="0"/>
              <a:t> on the fraud transaction dataset</a:t>
            </a:r>
          </a:p>
          <a:p>
            <a:pPr marL="514350" indent="-285750" algn="just">
              <a:lnSpc>
                <a:spcPct val="150000"/>
              </a:lnSpc>
              <a:buFont typeface="Arial" panose="020B0604020202020204" pitchFamily="34" charset="0"/>
              <a:buChar char="•"/>
            </a:pPr>
            <a:r>
              <a:rPr lang="en-US" sz="1400" dirty="0"/>
              <a:t>Effectively distinguish between fraudulent and legitimate transactions</a:t>
            </a:r>
          </a:p>
          <a:p>
            <a:pPr marL="228600" indent="0" algn="just">
              <a:lnSpc>
                <a:spcPct val="150000"/>
              </a:lnSpc>
            </a:pPr>
            <a:r>
              <a:rPr lang="en-US" sz="1400" b="1" dirty="0"/>
              <a:t>Robust Fraud Detection</a:t>
            </a:r>
          </a:p>
          <a:p>
            <a:pPr marL="514350" indent="-285750" algn="just">
              <a:lnSpc>
                <a:spcPct val="150000"/>
              </a:lnSpc>
              <a:buFont typeface="Arial" panose="020B0604020202020204" pitchFamily="34" charset="0"/>
              <a:buChar char="•"/>
            </a:pPr>
            <a:r>
              <a:rPr lang="en-US" sz="1400" dirty="0"/>
              <a:t>Capable of handling </a:t>
            </a:r>
            <a:r>
              <a:rPr lang="en-US" sz="1400" b="1" dirty="0"/>
              <a:t>imbalanced datasets</a:t>
            </a:r>
            <a:r>
              <a:rPr lang="en-US" sz="1400" dirty="0"/>
              <a:t> with low fraud occurrence</a:t>
            </a:r>
          </a:p>
          <a:p>
            <a:pPr marL="514350" indent="-285750" algn="just">
              <a:lnSpc>
                <a:spcPct val="150000"/>
              </a:lnSpc>
              <a:buFont typeface="Arial" panose="020B0604020202020204" pitchFamily="34" charset="0"/>
              <a:buChar char="•"/>
            </a:pPr>
            <a:r>
              <a:rPr lang="en-US" sz="1400" dirty="0"/>
              <a:t>Maintains stable performance across varying fraud ratios</a:t>
            </a:r>
          </a:p>
          <a:p>
            <a:pPr marL="228600" indent="0" algn="just">
              <a:lnSpc>
                <a:spcPct val="150000"/>
              </a:lnSpc>
            </a:pPr>
            <a:r>
              <a:rPr lang="en-US" sz="1400" b="1" dirty="0"/>
              <a:t>Interpretability</a:t>
            </a:r>
          </a:p>
          <a:p>
            <a:pPr marL="514350" indent="-285750" algn="just">
              <a:lnSpc>
                <a:spcPct val="150000"/>
              </a:lnSpc>
              <a:buFont typeface="Arial" panose="020B0604020202020204" pitchFamily="34" charset="0"/>
              <a:buChar char="•"/>
            </a:pPr>
            <a:r>
              <a:rPr lang="en-US" sz="1400" dirty="0"/>
              <a:t>Supports clear understanding of model decisions using standard evaluation metrics</a:t>
            </a:r>
          </a:p>
          <a:p>
            <a:pPr marL="228600" indent="0" algn="just">
              <a:lnSpc>
                <a:spcPct val="150000"/>
              </a:lnSpc>
            </a:pPr>
            <a:r>
              <a:rPr lang="en-US" sz="1400" b="1" dirty="0"/>
              <a:t>Practical Applicability</a:t>
            </a:r>
          </a:p>
          <a:p>
            <a:pPr marL="514350" indent="-285750" algn="just">
              <a:lnSpc>
                <a:spcPct val="150000"/>
              </a:lnSpc>
              <a:buFont typeface="Arial" panose="020B0604020202020204" pitchFamily="34" charset="0"/>
              <a:buChar char="•"/>
            </a:pPr>
            <a:r>
              <a:rPr lang="en-US" sz="1400" dirty="0"/>
              <a:t>Applicable to real-world financial systems</a:t>
            </a:r>
          </a:p>
          <a:p>
            <a:pPr marL="514350" indent="-285750" algn="just">
              <a:lnSpc>
                <a:spcPct val="150000"/>
              </a:lnSpc>
              <a:buFont typeface="Arial" panose="020B0604020202020204" pitchFamily="34" charset="0"/>
              <a:buChar char="•"/>
            </a:pPr>
            <a:r>
              <a:rPr lang="en-US" sz="1400" dirty="0"/>
              <a:t>Can be extended to real anonymized datasets without major modifications</a:t>
            </a:r>
          </a:p>
        </p:txBody>
      </p:sp>
      <p:sp>
        <p:nvSpPr>
          <p:cNvPr id="14340" name="Slide Number Placeholder 3">
            <a:extLst>
              <a:ext uri="{FF2B5EF4-FFF2-40B4-BE49-F238E27FC236}">
                <a16:creationId xmlns:a16="http://schemas.microsoft.com/office/drawing/2014/main" id="{2D63885F-B9BD-EBE2-340A-22F0FC4186D9}"/>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DA2FB1D4-4E4D-4581-89B2-8F96AFD91271}" type="slidenum">
              <a:rPr lang="en-US" altLang="en-US" sz="1000" smtClean="0">
                <a:solidFill>
                  <a:srgbClr val="595959"/>
                </a:solidFill>
              </a:rPr>
              <a:pPr/>
              <a:t>27</a:t>
            </a:fld>
            <a:endParaRPr lang="en-US" altLang="en-US" sz="1000">
              <a:solidFill>
                <a:srgbClr val="595959"/>
              </a:solidFill>
            </a:endParaRPr>
          </a:p>
        </p:txBody>
      </p:sp>
    </p:spTree>
    <p:extLst>
      <p:ext uri="{BB962C8B-B14F-4D97-AF65-F5344CB8AC3E}">
        <p14:creationId xmlns:p14="http://schemas.microsoft.com/office/powerpoint/2010/main" val="1240723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7A04FF15-7FBD-E39E-5752-EE62519D332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D0B272E-A254-5C4C-1E19-D8888CB21439}"/>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References:</a:t>
            </a:r>
            <a:endParaRPr dirty="0"/>
          </a:p>
        </p:txBody>
      </p:sp>
      <p:sp>
        <p:nvSpPr>
          <p:cNvPr id="44" name="Google Shape;44;p3">
            <a:extLst>
              <a:ext uri="{FF2B5EF4-FFF2-40B4-BE49-F238E27FC236}">
                <a16:creationId xmlns:a16="http://schemas.microsoft.com/office/drawing/2014/main" id="{5FF89DDA-8225-B3D0-C1F9-D490BBB1912F}"/>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28</a:t>
            </a:fld>
            <a:endParaRPr/>
          </a:p>
        </p:txBody>
      </p:sp>
      <p:sp>
        <p:nvSpPr>
          <p:cNvPr id="45" name="Google Shape;45;p3">
            <a:extLst>
              <a:ext uri="{FF2B5EF4-FFF2-40B4-BE49-F238E27FC236}">
                <a16:creationId xmlns:a16="http://schemas.microsoft.com/office/drawing/2014/main" id="{279FA729-90EA-EB63-86E6-4B9A5DEBA070}"/>
              </a:ext>
            </a:extLst>
          </p:cNvPr>
          <p:cNvSpPr txBox="1">
            <a:spLocks noGrp="1"/>
          </p:cNvSpPr>
          <p:nvPr>
            <p:ph type="body" idx="1"/>
          </p:nvPr>
        </p:nvSpPr>
        <p:spPr>
          <a:xfrm>
            <a:off x="0" y="649287"/>
            <a:ext cx="9144000" cy="4693180"/>
          </a:xfrm>
          <a:prstGeom prst="rect">
            <a:avLst/>
          </a:prstGeom>
          <a:noFill/>
          <a:ln>
            <a:noFill/>
          </a:ln>
        </p:spPr>
        <p:txBody>
          <a:bodyPr spcFirstLastPara="1" wrap="square" lIns="91425" tIns="91425" rIns="91425" bIns="91425" anchor="t" anchorCtr="0">
            <a:normAutofit fontScale="25000" lnSpcReduction="20000"/>
          </a:bodyPr>
          <a:lstStyle/>
          <a:p>
            <a:pPr algn="just">
              <a:lnSpc>
                <a:spcPct val="170000"/>
              </a:lnSpc>
            </a:pPr>
            <a:r>
              <a:rPr lang="en-IN" sz="6600" dirty="0"/>
              <a:t>[1] M. Rezvani Nejad, A. Khosravi, and S. </a:t>
            </a:r>
            <a:r>
              <a:rPr lang="en-IN" sz="6600" dirty="0" err="1"/>
              <a:t>Nahavandi</a:t>
            </a:r>
            <a:r>
              <a:rPr lang="en-IN" sz="6600" dirty="0"/>
              <a:t>, “Improved VAE-GAN for credit card fraud detection,” </a:t>
            </a:r>
            <a:r>
              <a:rPr lang="en-IN" sz="6600" i="1" dirty="0"/>
              <a:t>IEEE Access</a:t>
            </a:r>
            <a:r>
              <a:rPr lang="en-IN" sz="6600" dirty="0"/>
              <a:t>, vol. 11, pp. 112345–112358, 2023.</a:t>
            </a:r>
          </a:p>
          <a:p>
            <a:pPr algn="just">
              <a:lnSpc>
                <a:spcPct val="170000"/>
              </a:lnSpc>
            </a:pPr>
            <a:r>
              <a:rPr lang="en-IN" sz="6600" dirty="0"/>
              <a:t>[2] U. Fiore, F. Palmieri, A. Castiglione, and A. De Santis, “Using generative adversarial networks for improving classification effectiveness in credit card fraud detection,” </a:t>
            </a:r>
            <a:r>
              <a:rPr lang="en-IN" sz="6600" i="1" dirty="0"/>
              <a:t>IEEE Access</a:t>
            </a:r>
            <a:r>
              <a:rPr lang="en-IN" sz="6600" dirty="0"/>
              <a:t>, vol. 11, pp. 130232–130245, 2023.</a:t>
            </a:r>
          </a:p>
          <a:p>
            <a:pPr algn="just">
              <a:lnSpc>
                <a:spcPct val="170000"/>
              </a:lnSpc>
            </a:pPr>
            <a:r>
              <a:rPr lang="en-IN" sz="6600" dirty="0"/>
              <a:t>[3] S. Li, S. B. </a:t>
            </a:r>
            <a:r>
              <a:rPr lang="en-IN" sz="6600" dirty="0" err="1"/>
              <a:t>Hulayyil</a:t>
            </a:r>
            <a:r>
              <a:rPr lang="en-IN" sz="6600" dirty="0"/>
              <a:t>, and N. Saxena, “Credit card fraud detection using conditional generative adversarial networks,” </a:t>
            </a:r>
            <a:r>
              <a:rPr lang="en-IN" sz="6600" i="1" dirty="0"/>
              <a:t>IEEE Access</a:t>
            </a:r>
            <a:r>
              <a:rPr lang="en-IN" sz="6600" dirty="0"/>
              <a:t>, vol. 11, pp. 98765–98778, 2023.</a:t>
            </a:r>
          </a:p>
          <a:p>
            <a:pPr algn="just">
              <a:lnSpc>
                <a:spcPct val="170000"/>
              </a:lnSpc>
            </a:pPr>
            <a:r>
              <a:rPr lang="en-IN" sz="6600" dirty="0"/>
              <a:t>[4] D. </a:t>
            </a:r>
            <a:r>
              <a:rPr lang="en-IN" sz="6600" dirty="0" err="1"/>
              <a:t>Hirnschall</a:t>
            </a:r>
            <a:r>
              <a:rPr lang="en-IN" sz="6600" dirty="0"/>
              <a:t>, “Semi-supervised generative adversarial networks for credit card fraud detection,” </a:t>
            </a:r>
            <a:r>
              <a:rPr lang="en-IN" sz="6600" i="1" dirty="0"/>
              <a:t>IEEE Transactions on Artificial Intelligence</a:t>
            </a:r>
            <a:r>
              <a:rPr lang="en-IN" sz="6600" dirty="0"/>
              <a:t>, early access, 2025.</a:t>
            </a:r>
          </a:p>
          <a:p>
            <a:pPr algn="just">
              <a:lnSpc>
                <a:spcPct val="170000"/>
              </a:lnSpc>
            </a:pPr>
            <a:r>
              <a:rPr lang="en-IN" sz="6600" dirty="0"/>
              <a:t>[5] J. Ge and Y. Chen, “Gated attention-based generative adversarial networks for financial fraud detection,” </a:t>
            </a:r>
            <a:r>
              <a:rPr lang="en-IN" sz="6600" i="1" dirty="0"/>
              <a:t>IEEE Access</a:t>
            </a:r>
            <a:r>
              <a:rPr lang="en-IN" sz="6600" dirty="0"/>
              <a:t>, vol. 12, pp. 84521–84534, 2024.</a:t>
            </a:r>
          </a:p>
          <a:p>
            <a:pPr algn="just">
              <a:lnSpc>
                <a:spcPct val="170000"/>
              </a:lnSpc>
            </a:pPr>
            <a:endParaRPr lang="en-IN" sz="6400" dirty="0"/>
          </a:p>
        </p:txBody>
      </p:sp>
    </p:spTree>
    <p:extLst>
      <p:ext uri="{BB962C8B-B14F-4D97-AF65-F5344CB8AC3E}">
        <p14:creationId xmlns:p14="http://schemas.microsoft.com/office/powerpoint/2010/main" val="937086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6ECA275E-693B-70CD-9A2B-D8DB0F250AF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93D47430-240A-E6F8-AFD1-2F9A0D17378C}"/>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References:</a:t>
            </a:r>
            <a:endParaRPr dirty="0"/>
          </a:p>
        </p:txBody>
      </p:sp>
      <p:sp>
        <p:nvSpPr>
          <p:cNvPr id="44" name="Google Shape;44;p3">
            <a:extLst>
              <a:ext uri="{FF2B5EF4-FFF2-40B4-BE49-F238E27FC236}">
                <a16:creationId xmlns:a16="http://schemas.microsoft.com/office/drawing/2014/main" id="{2086CAF8-15BC-9C2C-D54C-C348C34E73C9}"/>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29</a:t>
            </a:fld>
            <a:endParaRPr/>
          </a:p>
        </p:txBody>
      </p:sp>
      <p:sp>
        <p:nvSpPr>
          <p:cNvPr id="45" name="Google Shape;45;p3">
            <a:extLst>
              <a:ext uri="{FF2B5EF4-FFF2-40B4-BE49-F238E27FC236}">
                <a16:creationId xmlns:a16="http://schemas.microsoft.com/office/drawing/2014/main" id="{0DBF235E-FDDB-BF21-1824-AF35F949E03F}"/>
              </a:ext>
            </a:extLst>
          </p:cNvPr>
          <p:cNvSpPr txBox="1">
            <a:spLocks noGrp="1"/>
          </p:cNvSpPr>
          <p:nvPr>
            <p:ph type="body" idx="1"/>
          </p:nvPr>
        </p:nvSpPr>
        <p:spPr>
          <a:xfrm>
            <a:off x="0" y="649287"/>
            <a:ext cx="9144000" cy="4693180"/>
          </a:xfrm>
          <a:prstGeom prst="rect">
            <a:avLst/>
          </a:prstGeom>
          <a:noFill/>
          <a:ln>
            <a:noFill/>
          </a:ln>
        </p:spPr>
        <p:txBody>
          <a:bodyPr spcFirstLastPara="1" wrap="square" lIns="91425" tIns="91425" rIns="91425" bIns="91425" anchor="t" anchorCtr="0">
            <a:normAutofit fontScale="25000" lnSpcReduction="20000"/>
          </a:bodyPr>
          <a:lstStyle/>
          <a:p>
            <a:pPr algn="just">
              <a:lnSpc>
                <a:spcPct val="170000"/>
              </a:lnSpc>
            </a:pPr>
            <a:r>
              <a:rPr lang="en-IN" sz="6400" dirty="0"/>
              <a:t>[6] T. Chen and C. </a:t>
            </a:r>
            <a:r>
              <a:rPr lang="en-IN" sz="6400" dirty="0" err="1"/>
              <a:t>Guestrin</a:t>
            </a:r>
            <a:r>
              <a:rPr lang="en-IN" sz="6400" dirty="0"/>
              <a:t>, “</a:t>
            </a:r>
            <a:r>
              <a:rPr lang="en-IN" sz="6400" dirty="0" err="1"/>
              <a:t>XGBoost</a:t>
            </a:r>
            <a:r>
              <a:rPr lang="en-IN" sz="6400" dirty="0"/>
              <a:t>: A scalable tree boosting system,” in </a:t>
            </a:r>
            <a:r>
              <a:rPr lang="en-IN" sz="6400" i="1" dirty="0"/>
              <a:t>Proc. 22nd ACM SIGKDD Int. Conf. Knowledge Discovery and Data Mining (KDD)</a:t>
            </a:r>
            <a:r>
              <a:rPr lang="en-IN" sz="6400" dirty="0"/>
              <a:t>, San Francisco, CA, USA, 2016, pp. 785–794.</a:t>
            </a:r>
          </a:p>
          <a:p>
            <a:pPr algn="just">
              <a:lnSpc>
                <a:spcPct val="170000"/>
              </a:lnSpc>
            </a:pPr>
            <a:r>
              <a:rPr lang="en-IN" sz="6400" dirty="0"/>
              <a:t>[7] F. </a:t>
            </a:r>
            <a:r>
              <a:rPr lang="en-IN" sz="6400" dirty="0" err="1"/>
              <a:t>Carcillo</a:t>
            </a:r>
            <a:r>
              <a:rPr lang="en-IN" sz="6400" dirty="0"/>
              <a:t>, Y.-A. Bontempi, and G. </a:t>
            </a:r>
            <a:r>
              <a:rPr lang="en-IN" sz="6400" dirty="0" err="1"/>
              <a:t>Snoeck</a:t>
            </a:r>
            <a:r>
              <a:rPr lang="en-IN" sz="6400" dirty="0"/>
              <a:t>, “Scarff: A scalable framework for fraud detection with imbalanced data,” in </a:t>
            </a:r>
            <a:r>
              <a:rPr lang="en-IN" sz="6400" i="1" dirty="0"/>
              <a:t>Proc. IEEE Int. Conf. Data Science and Advanced Analytics (DSAA)</a:t>
            </a:r>
            <a:r>
              <a:rPr lang="en-IN" sz="6400" dirty="0"/>
              <a:t>, 2023, pp. 1–10.</a:t>
            </a:r>
          </a:p>
          <a:p>
            <a:pPr algn="just">
              <a:lnSpc>
                <a:spcPct val="170000"/>
              </a:lnSpc>
            </a:pPr>
            <a:r>
              <a:rPr lang="en-IN" sz="6400" dirty="0"/>
              <a:t>[8] A. Dal </a:t>
            </a:r>
            <a:r>
              <a:rPr lang="en-IN" sz="6400" dirty="0" err="1"/>
              <a:t>Pozzolo</a:t>
            </a:r>
            <a:r>
              <a:rPr lang="en-IN" sz="6400" dirty="0"/>
              <a:t> and G. Bontempi, “Adversarial drift detection in credit card fraud,” </a:t>
            </a:r>
            <a:r>
              <a:rPr lang="en-IN" sz="6400" i="1" dirty="0"/>
              <a:t>IEEE Transactions on Neural Networks and Learning Systems</a:t>
            </a:r>
            <a:r>
              <a:rPr lang="en-IN" sz="6400" dirty="0"/>
              <a:t>, vol. 33, no. 6, pp. 2424–2436, 2022.</a:t>
            </a:r>
          </a:p>
          <a:p>
            <a:pPr algn="just">
              <a:lnSpc>
                <a:spcPct val="170000"/>
              </a:lnSpc>
            </a:pPr>
            <a:r>
              <a:rPr lang="en-IN" sz="6400" dirty="0"/>
              <a:t>[9] T. Duan, A. </a:t>
            </a:r>
            <a:r>
              <a:rPr lang="en-IN" sz="6400" dirty="0" err="1"/>
              <a:t>Gamarnik</a:t>
            </a:r>
            <a:r>
              <a:rPr lang="en-IN" sz="6400" dirty="0"/>
              <a:t>, V. Li, and A. V. </a:t>
            </a:r>
            <a:r>
              <a:rPr lang="en-IN" sz="6400" dirty="0" err="1"/>
              <a:t>Rakhlin</a:t>
            </a:r>
            <a:r>
              <a:rPr lang="en-IN" sz="6400" dirty="0"/>
              <a:t>, “</a:t>
            </a:r>
            <a:r>
              <a:rPr lang="en-IN" sz="6400" dirty="0" err="1"/>
              <a:t>NGBoost</a:t>
            </a:r>
            <a:r>
              <a:rPr lang="en-IN" sz="6400" dirty="0"/>
              <a:t>: Natural gradient boosting for probabilistic prediction,” in </a:t>
            </a:r>
            <a:r>
              <a:rPr lang="en-IN" sz="6400" i="1" dirty="0"/>
              <a:t>Proc. 37th Int. Conf. Machine Learning (ICML)</a:t>
            </a:r>
            <a:r>
              <a:rPr lang="en-IN" sz="6400" dirty="0"/>
              <a:t>, 2020, pp. 2690–2700.</a:t>
            </a:r>
          </a:p>
          <a:p>
            <a:pPr algn="just">
              <a:lnSpc>
                <a:spcPct val="170000"/>
              </a:lnSpc>
            </a:pPr>
            <a:r>
              <a:rPr lang="en-IN" sz="6400" dirty="0"/>
              <a:t>[10] Y. Zhao, J. Wang, and H. Liu, “Probabilistic fraud detection using </a:t>
            </a:r>
            <a:r>
              <a:rPr lang="en-IN" sz="6400" dirty="0" err="1"/>
              <a:t>NGBoost</a:t>
            </a:r>
            <a:r>
              <a:rPr lang="en-IN" sz="6400" dirty="0"/>
              <a:t>,” </a:t>
            </a:r>
            <a:r>
              <a:rPr lang="en-IN" sz="6400" i="1" dirty="0"/>
              <a:t>IEEE Access</a:t>
            </a:r>
            <a:r>
              <a:rPr lang="en-IN" sz="6400" dirty="0"/>
              <a:t>, vol. 11, pp. 45678–45690, 2023.</a:t>
            </a:r>
          </a:p>
          <a:p>
            <a:pPr>
              <a:lnSpc>
                <a:spcPct val="170000"/>
              </a:lnSpc>
            </a:pPr>
            <a:endParaRPr lang="en-IN" sz="6400" dirty="0"/>
          </a:p>
        </p:txBody>
      </p:sp>
    </p:spTree>
    <p:extLst>
      <p:ext uri="{BB962C8B-B14F-4D97-AF65-F5344CB8AC3E}">
        <p14:creationId xmlns:p14="http://schemas.microsoft.com/office/powerpoint/2010/main" val="1169275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62052012-78EA-408D-056D-CEB119CD1975}"/>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B8E4C8D0-FCEA-1E15-0411-50ADD91B46B8}"/>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References:</a:t>
            </a:r>
            <a:endParaRPr dirty="0"/>
          </a:p>
        </p:txBody>
      </p:sp>
      <p:sp>
        <p:nvSpPr>
          <p:cNvPr id="44" name="Google Shape;44;p3">
            <a:extLst>
              <a:ext uri="{FF2B5EF4-FFF2-40B4-BE49-F238E27FC236}">
                <a16:creationId xmlns:a16="http://schemas.microsoft.com/office/drawing/2014/main" id="{07166F64-FA02-B448-FD9F-7D0DC888AFA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30</a:t>
            </a:fld>
            <a:endParaRPr/>
          </a:p>
        </p:txBody>
      </p:sp>
      <p:sp>
        <p:nvSpPr>
          <p:cNvPr id="45" name="Google Shape;45;p3">
            <a:extLst>
              <a:ext uri="{FF2B5EF4-FFF2-40B4-BE49-F238E27FC236}">
                <a16:creationId xmlns:a16="http://schemas.microsoft.com/office/drawing/2014/main" id="{0FD81F29-3356-57E5-62D1-E42C26041FE0}"/>
              </a:ext>
            </a:extLst>
          </p:cNvPr>
          <p:cNvSpPr txBox="1">
            <a:spLocks noGrp="1"/>
          </p:cNvSpPr>
          <p:nvPr>
            <p:ph type="body" idx="1"/>
          </p:nvPr>
        </p:nvSpPr>
        <p:spPr>
          <a:xfrm>
            <a:off x="0" y="649287"/>
            <a:ext cx="9144000" cy="4693180"/>
          </a:xfrm>
          <a:prstGeom prst="rect">
            <a:avLst/>
          </a:prstGeom>
          <a:noFill/>
          <a:ln>
            <a:noFill/>
          </a:ln>
        </p:spPr>
        <p:txBody>
          <a:bodyPr spcFirstLastPara="1" wrap="square" lIns="91425" tIns="91425" rIns="91425" bIns="91425" anchor="t" anchorCtr="0">
            <a:normAutofit fontScale="25000" lnSpcReduction="20000"/>
          </a:bodyPr>
          <a:lstStyle/>
          <a:p>
            <a:pPr algn="just">
              <a:lnSpc>
                <a:spcPct val="170000"/>
              </a:lnSpc>
            </a:pPr>
            <a:r>
              <a:rPr lang="en-IN" sz="6600" dirty="0"/>
              <a:t>[11] N. V. Chawla, K. W. Bowyer, L. O. Hall, and W. P. </a:t>
            </a:r>
            <a:r>
              <a:rPr lang="en-IN" sz="6600" dirty="0" err="1"/>
              <a:t>Kegelmeyer</a:t>
            </a:r>
            <a:r>
              <a:rPr lang="en-IN" sz="6600" dirty="0"/>
              <a:t>, “SMOTE: Synthetic minority over-sampling technique,” </a:t>
            </a:r>
            <a:r>
              <a:rPr lang="en-IN" sz="6600" i="1" dirty="0"/>
              <a:t>Journal of Artificial Intelligence Research</a:t>
            </a:r>
            <a:r>
              <a:rPr lang="en-IN" sz="6600" dirty="0"/>
              <a:t>, vol. 16, pp. 321–357, 2002.</a:t>
            </a:r>
          </a:p>
          <a:p>
            <a:pPr algn="just">
              <a:lnSpc>
                <a:spcPct val="170000"/>
              </a:lnSpc>
            </a:pPr>
            <a:r>
              <a:rPr lang="en-IN" sz="6600" dirty="0"/>
              <a:t>[12] H. He and E. A. Garcia, “Learning from imbalanced data,” </a:t>
            </a:r>
            <a:r>
              <a:rPr lang="en-IN" sz="6600" i="1" dirty="0"/>
              <a:t>IEEE Transactions on Knowledge and Data Engineering</a:t>
            </a:r>
            <a:r>
              <a:rPr lang="en-IN" sz="6600" dirty="0"/>
              <a:t>, vol. 21, no. 9, pp. 1263–1284, 2009.</a:t>
            </a:r>
          </a:p>
          <a:p>
            <a:pPr algn="just">
              <a:lnSpc>
                <a:spcPct val="170000"/>
              </a:lnSpc>
            </a:pPr>
            <a:r>
              <a:rPr lang="en-IN" sz="6600" dirty="0"/>
              <a:t>[13] S. Li, S. B. </a:t>
            </a:r>
            <a:r>
              <a:rPr lang="en-IN" sz="6600" dirty="0" err="1"/>
              <a:t>Hulayyil</a:t>
            </a:r>
            <a:r>
              <a:rPr lang="en-IN" sz="6600" dirty="0"/>
              <a:t>, and N. Saxena, “Explainable AI-based fraud and intrusion detection in IoT systems,” </a:t>
            </a:r>
            <a:r>
              <a:rPr lang="en-IN" sz="6600" i="1" dirty="0"/>
              <a:t>IEEE Internet of Things Journal</a:t>
            </a:r>
            <a:r>
              <a:rPr lang="en-IN" sz="6600" dirty="0"/>
              <a:t>, early access, 2025.</a:t>
            </a:r>
          </a:p>
          <a:p>
            <a:pPr algn="just">
              <a:lnSpc>
                <a:spcPct val="170000"/>
              </a:lnSpc>
            </a:pPr>
            <a:r>
              <a:rPr lang="en-IN" sz="6600" dirty="0"/>
              <a:t>[14] D. Gaspar, P. Silva, and C. Silva, “Explainable AI for intrusion detection systems: SHAP applicability on multi-layer perceptron,” </a:t>
            </a:r>
            <a:r>
              <a:rPr lang="en-IN" sz="6600" i="1" dirty="0"/>
              <a:t>IEEE Access</a:t>
            </a:r>
            <a:r>
              <a:rPr lang="en-IN" sz="6600" dirty="0"/>
              <a:t>, vol. 12, pp. 30164–30175, 2024.</a:t>
            </a:r>
          </a:p>
          <a:p>
            <a:pPr algn="just">
              <a:lnSpc>
                <a:spcPct val="170000"/>
              </a:lnSpc>
            </a:pPr>
            <a:r>
              <a:rPr lang="en-IN" sz="6600" dirty="0"/>
              <a:t>[15] Y. Xie, J. Wang, and H. Liu, “Learning transactional </a:t>
            </a:r>
            <a:r>
              <a:rPr lang="en-IN" sz="6600" dirty="0" err="1"/>
              <a:t>behavioral</a:t>
            </a:r>
            <a:r>
              <a:rPr lang="en-IN" sz="6600" dirty="0"/>
              <a:t> representations for credit card fraud detection,” </a:t>
            </a:r>
            <a:r>
              <a:rPr lang="en-IN" sz="6600" i="1" dirty="0"/>
              <a:t>IEEE Transactions on Neural Networks and Learning Systems</a:t>
            </a:r>
            <a:r>
              <a:rPr lang="en-IN" sz="6600" dirty="0"/>
              <a:t>, vol. 35, no. 4, pp. 5123–5136, 2024</a:t>
            </a:r>
          </a:p>
          <a:p>
            <a:pPr>
              <a:lnSpc>
                <a:spcPct val="170000"/>
              </a:lnSpc>
            </a:pPr>
            <a:endParaRPr lang="en-IN" sz="6400" dirty="0"/>
          </a:p>
        </p:txBody>
      </p:sp>
    </p:spTree>
    <p:extLst>
      <p:ext uri="{BB962C8B-B14F-4D97-AF65-F5344CB8AC3E}">
        <p14:creationId xmlns:p14="http://schemas.microsoft.com/office/powerpoint/2010/main" val="3498471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84" name="Google Shape;84;p1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31</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4170</TotalTime>
  <Words>3336</Words>
  <Application>Microsoft Office PowerPoint</Application>
  <PresentationFormat>On-screen Show (16:9)</PresentationFormat>
  <Paragraphs>415</Paragraphs>
  <Slides>31</Slides>
  <Notes>18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31</vt:i4>
      </vt:variant>
    </vt:vector>
  </HeadingPairs>
  <TitlesOfParts>
    <vt:vector size="35" baseType="lpstr">
      <vt:lpstr>Arial</vt:lpstr>
      <vt:lpstr>Times New Roman</vt:lpstr>
      <vt:lpstr>2_Simple Light</vt:lpstr>
      <vt:lpstr>1_Simple Light</vt:lpstr>
      <vt:lpstr>    Gokaraju Rangaraju Institute of Engineering and Technology  (Autonomous) Department of Data Science  Mini Project Work (CSE(DS))</vt:lpstr>
      <vt:lpstr> UPI Transaction based Fraud Detection System using Generative AI and Machine Learning Techniques</vt:lpstr>
      <vt:lpstr>Introduction :</vt:lpstr>
      <vt:lpstr>CGAN Architecture: (Cont..)</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 Summery</vt:lpstr>
      <vt:lpstr>Literature Review Summery</vt:lpstr>
      <vt:lpstr>Literature Review Summery</vt:lpstr>
      <vt:lpstr>Literature Review Summery</vt:lpstr>
      <vt:lpstr>Literature Review Summery</vt:lpstr>
      <vt:lpstr>Research Gaps</vt:lpstr>
      <vt:lpstr>Problem statement</vt:lpstr>
      <vt:lpstr>Objectives of the project </vt:lpstr>
      <vt:lpstr>Proposed Solution</vt:lpstr>
      <vt:lpstr>PowerPoint Presentation</vt:lpstr>
      <vt:lpstr>Methodology / Algorithms (Cont..)</vt:lpstr>
      <vt:lpstr>Software and Hardware </vt:lpstr>
      <vt:lpstr>Datasets Details</vt:lpstr>
      <vt:lpstr>Datasets Details</vt:lpstr>
      <vt:lpstr>Expected outcomes</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dc:creator>
  <cp:lastModifiedBy>Nadeem MD</cp:lastModifiedBy>
  <cp:revision>40</cp:revision>
  <dcterms:modified xsi:type="dcterms:W3CDTF">2026-02-03T04:18:29Z</dcterms:modified>
</cp:coreProperties>
</file>