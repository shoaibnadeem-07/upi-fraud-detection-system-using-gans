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50" r:id="rId2"/>
  </p:sldMasterIdLst>
  <p:notesMasterIdLst>
    <p:notesMasterId r:id="rId28"/>
  </p:notesMasterIdLst>
  <p:sldIdLst>
    <p:sldId id="280" r:id="rId3"/>
    <p:sldId id="291" r:id="rId4"/>
    <p:sldId id="292" r:id="rId5"/>
    <p:sldId id="267" r:id="rId6"/>
    <p:sldId id="290" r:id="rId7"/>
    <p:sldId id="294" r:id="rId8"/>
    <p:sldId id="265" r:id="rId9"/>
    <p:sldId id="277" r:id="rId10"/>
    <p:sldId id="281" r:id="rId11"/>
    <p:sldId id="269" r:id="rId12"/>
    <p:sldId id="282" r:id="rId13"/>
    <p:sldId id="270" r:id="rId14"/>
    <p:sldId id="284" r:id="rId15"/>
    <p:sldId id="285" r:id="rId16"/>
    <p:sldId id="286" r:id="rId17"/>
    <p:sldId id="287" r:id="rId18"/>
    <p:sldId id="283" r:id="rId19"/>
    <p:sldId id="288" r:id="rId20"/>
    <p:sldId id="273" r:id="rId21"/>
    <p:sldId id="274" r:id="rId22"/>
    <p:sldId id="275" r:id="rId23"/>
    <p:sldId id="293" r:id="rId24"/>
    <p:sldId id="276" r:id="rId25"/>
    <p:sldId id="289" r:id="rId26"/>
    <p:sldId id="264" r:id="rId2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gZpxF7Zee30fhjMZJOO9uuOAEd3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B7B13A-CA29-4B0B-B2E3-74517E6EF0E4}" v="7" dt="2026-01-01T13:09:03.7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634"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 name="Google Shape;2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F7C99AC8-EF08-282A-A2E0-D6DF74101357}"/>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9C229BED-1BB5-57D9-2932-B80BE08FF2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1" name="Google Shape;41;p3:notes">
            <a:extLst>
              <a:ext uri="{FF2B5EF4-FFF2-40B4-BE49-F238E27FC236}">
                <a16:creationId xmlns:a16="http://schemas.microsoft.com/office/drawing/2014/main" id="{C3625112-74E6-170E-5CDA-654345D55B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8876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D3D3E792-FDE3-CAA4-4D3D-D1CC5FBB433E}"/>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2B983C86-5B6A-E506-76E9-76EF6B8B1F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1" name="Google Shape;41;p3:notes">
            <a:extLst>
              <a:ext uri="{FF2B5EF4-FFF2-40B4-BE49-F238E27FC236}">
                <a16:creationId xmlns:a16="http://schemas.microsoft.com/office/drawing/2014/main" id="{EA36DE2A-B121-D044-A961-DFB4430082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90025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D4685514-6459-405C-A4EB-6D37B3D3F48B}"/>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70BCAA53-104B-1B4A-6165-A010A08540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1" name="Google Shape;41;p3:notes">
            <a:extLst>
              <a:ext uri="{FF2B5EF4-FFF2-40B4-BE49-F238E27FC236}">
                <a16:creationId xmlns:a16="http://schemas.microsoft.com/office/drawing/2014/main" id="{BDDFD887-CF4B-C767-3236-5FEB1735DA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2641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25419F01-795C-326D-9612-FAE678EFF2D0}"/>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1340AA6E-C1D2-A3B3-2BD0-3F0BC4A1FB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C8D97872-FC62-DFCD-8119-F2CD8E6563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344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5CC509BC-4AB7-E087-2ECD-F691BE10DD4B}"/>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442D1B72-197E-4969-EBCE-54F43F1288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B1D376FF-8709-6B91-1A08-D232670171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843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C9F15BC7-CA54-1E0E-A209-2940A0930146}"/>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9BB3A811-730F-A6B4-530E-906224FD80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42746446-15A7-CB55-EEDB-FB0E4B2B6E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33079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BE494A95-AD9D-F9AC-F7EC-4F4E9F131C6E}"/>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EC24FED3-3712-51AC-33D2-5EA64D938B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CB211182-EC8A-C754-FD59-8231086EE1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8259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8CB6C8DD-19A2-1423-29CA-EE3C53403725}"/>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3BCBFD9E-0E13-0010-8F1A-E4AC8CC3BC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1" name="Google Shape;41;p3:notes">
            <a:extLst>
              <a:ext uri="{FF2B5EF4-FFF2-40B4-BE49-F238E27FC236}">
                <a16:creationId xmlns:a16="http://schemas.microsoft.com/office/drawing/2014/main" id="{C256FEAE-CA4A-361F-47B7-2A91A40440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1222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F9FAFE32-CEDA-A93C-E9A5-102F8B9AFCB9}"/>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4F8909E9-26BB-F7A3-3DBE-79B4A7BF22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0A31E941-34CB-C6AD-A8EC-235E4F54B7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24120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F4F274CC-CA44-A9D2-89AB-89D0D66EF45E}"/>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06123A3A-1061-2154-6ECA-88D9C7F2C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D961B195-B516-832B-628E-D88BC2494E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0374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B2B45215-ACC8-1047-5FAE-ABA1EB0BF354}"/>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F51F1245-6A7C-139D-77E5-DAFB381644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19AF9C96-FE9A-348C-28C5-459762D0F4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45327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6AF907A0-6677-E9B7-4209-14FBDD636538}"/>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5768FCE9-4E52-BAD9-8BD4-B01E1D4041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7920B1CD-5E2D-A775-1AA2-D61C0EBEFD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36096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80D00F6A-8887-15C7-5A62-45F7B0F00393}"/>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2B88CDCE-FAEA-8662-1028-C6737794A8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E365FEA7-6F8B-1EDF-A94F-2B0635FEAD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55244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E6AD9CAF-064E-239F-2A6B-FF28164C7C15}"/>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3CC532AF-AF65-8BAE-E83E-7C73AB25D4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E75E32D7-C23A-6184-4F63-C4B94262C2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32153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82ADC420-6ED7-2BEC-3063-2632A94EBB7E}"/>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69CD999A-88CE-BA87-1ACF-EA9EA8AA94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9EE9B6A3-EA25-A749-7918-85C47BB6C8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05035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CAA1D8C8-E5FB-49B8-2844-FBD0463A12E5}"/>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C1E2E304-B8E6-8FA0-436B-C44B4D2B5D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48907E54-98A0-29F9-4262-E0209BD26A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85123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37CA00E1-8294-C57C-FE6F-5903F5594153}"/>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295E97D6-30C2-C8A4-5778-9FA1ADDA4D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CD8C7529-5149-BFE0-CED7-557988A9AB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15121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49C73F61-D314-3579-A314-920945AE70CB}"/>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72A95C07-12CE-932F-A6FF-FA7F801A29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DC556461-BC14-1014-04EF-A141324B77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10379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8AC495E5-0F9C-781E-F5D8-804476422D87}"/>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CC800358-241D-CECB-D6D6-9ABE7B5AE9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60A61670-FAFB-8431-A2B3-4C121D6EED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52199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sp>
        <p:nvSpPr>
          <p:cNvPr id="11" name="Google Shape;11;p14"/>
          <p:cNvSpPr txBox="1">
            <a:spLocks noGrp="1"/>
          </p:cNvSpPr>
          <p:nvPr>
            <p:ph type="ctrTitle"/>
          </p:nvPr>
        </p:nvSpPr>
        <p:spPr>
          <a:xfrm>
            <a:off x="0" y="0"/>
            <a:ext cx="9144000" cy="649693"/>
          </a:xfrm>
          <a:prstGeom prst="rect">
            <a:avLst/>
          </a:prstGeom>
          <a:noFill/>
          <a:ln>
            <a:noFill/>
          </a:ln>
        </p:spPr>
        <p:txBody>
          <a:bodyPr spcFirstLastPara="1" wrap="square" lIns="91425" tIns="91425" rIns="91425" bIns="91425" anchor="t" anchorCtr="0">
            <a:normAutofit/>
          </a:bodyPr>
          <a:lstStyle>
            <a:lvl1pPr lvl="0" algn="ctr">
              <a:spcBef>
                <a:spcPts val="0"/>
              </a:spcBef>
              <a:spcAft>
                <a:spcPts val="0"/>
              </a:spcAft>
              <a:buSzPts val="5200"/>
              <a:buNone/>
              <a:defRPr sz="3200" b="1">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14"/>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Autofit/>
          </a:bodyPr>
          <a:lstStyle>
            <a:lvl1pPr marL="457200" lvl="0" indent="-228600" algn="l">
              <a:spcBef>
                <a:spcPts val="0"/>
              </a:spcBef>
              <a:spcAft>
                <a:spcPts val="0"/>
              </a:spcAft>
              <a:buSzPts val="1400"/>
              <a:buNone/>
              <a:defRPr sz="2400">
                <a:latin typeface="Times New Roman"/>
                <a:ea typeface="Times New Roman"/>
                <a:cs typeface="Times New Roman"/>
                <a:sym typeface="Times New Roman"/>
              </a:defRPr>
            </a:lvl1pPr>
            <a:lvl2pPr marL="914400" lvl="1" indent="-228600" algn="l">
              <a:spcBef>
                <a:spcPts val="0"/>
              </a:spcBef>
              <a:spcAft>
                <a:spcPts val="0"/>
              </a:spcAft>
              <a:buSzPts val="1400"/>
              <a:buNone/>
              <a:defRPr sz="2200">
                <a:latin typeface="Times New Roman"/>
                <a:ea typeface="Times New Roman"/>
                <a:cs typeface="Times New Roman"/>
                <a:sym typeface="Times New Roman"/>
              </a:defRPr>
            </a:lvl2pPr>
            <a:lvl3pPr marL="1371600" lvl="2" indent="-228600" algn="l">
              <a:spcBef>
                <a:spcPts val="0"/>
              </a:spcBef>
              <a:spcAft>
                <a:spcPts val="0"/>
              </a:spcAft>
              <a:buSzPts val="1400"/>
              <a:buNone/>
              <a:defRPr sz="2200">
                <a:latin typeface="Times New Roman"/>
                <a:ea typeface="Times New Roman"/>
                <a:cs typeface="Times New Roman"/>
                <a:sym typeface="Times New Roman"/>
              </a:defRPr>
            </a:lvl3pPr>
            <a:lvl4pPr marL="1828800" lvl="3" indent="-228600" algn="l">
              <a:spcBef>
                <a:spcPts val="0"/>
              </a:spcBef>
              <a:spcAft>
                <a:spcPts val="0"/>
              </a:spcAft>
              <a:buSzPts val="1400"/>
              <a:buNone/>
              <a:defRPr sz="2000">
                <a:latin typeface="Times New Roman"/>
                <a:ea typeface="Times New Roman"/>
                <a:cs typeface="Times New Roman"/>
                <a:sym typeface="Times New Roman"/>
              </a:defRPr>
            </a:lvl4pPr>
            <a:lvl5pPr marL="2286000" lvl="4" indent="-228600" algn="l">
              <a:spcBef>
                <a:spcPts val="0"/>
              </a:spcBef>
              <a:spcAft>
                <a:spcPts val="0"/>
              </a:spcAft>
              <a:buSzPts val="1400"/>
              <a:buNone/>
              <a:defRPr sz="2000">
                <a:latin typeface="Times New Roman"/>
                <a:ea typeface="Times New Roman"/>
                <a:cs typeface="Times New Roman"/>
                <a:sym typeface="Times New Roman"/>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 name="Google Shape;13;p14"/>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14"/>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userDrawn="1">
  <p:cSld name="1_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0" y="0"/>
            <a:ext cx="9144000" cy="649693"/>
          </a:xfrm>
          <a:prstGeom prst="rect">
            <a:avLst/>
          </a:prstGeom>
        </p:spPr>
        <p:txBody>
          <a:bodyPr spcFirstLastPara="1">
            <a:normAutofit/>
          </a:bodyPr>
          <a:lstStyle>
            <a:lvl1pPr lvl="0" algn="ctr">
              <a:spcBef>
                <a:spcPts val="0"/>
              </a:spcBef>
              <a:spcAft>
                <a:spcPts val="0"/>
              </a:spcAft>
              <a:buSzPts val="5200"/>
              <a:buNone/>
              <a:tabLst>
                <a:tab pos="4127500" algn="l"/>
              </a:tabLst>
              <a:defRPr sz="3200" b="1" baseline="0">
                <a:latin typeface="+mj-l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dirty="0"/>
          </a:p>
        </p:txBody>
      </p:sp>
      <p:sp>
        <p:nvSpPr>
          <p:cNvPr id="3" name="Text Placeholder 2"/>
          <p:cNvSpPr>
            <a:spLocks noGrp="1"/>
          </p:cNvSpPr>
          <p:nvPr>
            <p:ph type="body" sz="quarter" idx="13"/>
          </p:nvPr>
        </p:nvSpPr>
        <p:spPr>
          <a:xfrm>
            <a:off x="165100" y="914400"/>
            <a:ext cx="8763000" cy="3479800"/>
          </a:xfrm>
        </p:spPr>
        <p:txBody>
          <a:bodyPr/>
          <a:lstStyle>
            <a:lvl1pPr>
              <a:defRPr sz="2400">
                <a:latin typeface="+mn-lt"/>
              </a:defRPr>
            </a:lvl1pPr>
            <a:lvl2pPr>
              <a:defRPr sz="2200">
                <a:latin typeface="+mn-lt"/>
              </a:defRPr>
            </a:lvl2pPr>
            <a:lvl3pPr>
              <a:defRPr sz="2200">
                <a:latin typeface="+mn-lt"/>
              </a:defRPr>
            </a:lvl3pPr>
            <a:lvl4pPr>
              <a:defRPr sz="2000">
                <a:latin typeface="+mn-lt"/>
              </a:defRPr>
            </a:lvl4pPr>
            <a:lvl5pPr>
              <a:defRPr sz="20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12;p2">
            <a:extLst>
              <a:ext uri="{FF2B5EF4-FFF2-40B4-BE49-F238E27FC236}">
                <a16:creationId xmlns:a16="http://schemas.microsoft.com/office/drawing/2014/main" id="{79D5018C-57F8-566E-E5B7-23C181761D73}"/>
              </a:ext>
            </a:extLst>
          </p:cNvPr>
          <p:cNvSpPr txBox="1">
            <a:spLocks noGrp="1"/>
          </p:cNvSpPr>
          <p:nvPr>
            <p:ph type="sldNum" idx="14"/>
          </p:nvPr>
        </p:nvSpPr>
        <p:spPr/>
        <p:txBody>
          <a:bodyPr/>
          <a:lstStyle>
            <a:lvl1pPr>
              <a:defRPr/>
            </a:lvl1pPr>
          </a:lstStyle>
          <a:p>
            <a:pPr>
              <a:defRPr/>
            </a:pPr>
            <a:fld id="{EF26C623-DE27-4A99-8424-AFD36C142E5A}" type="slidenum">
              <a:rPr lang="en-US" altLang="en-US"/>
              <a:pPr>
                <a:defRPr/>
              </a:pPr>
              <a:t>‹#›</a:t>
            </a:fld>
            <a:endParaRPr lang="en-US" altLang="en-US"/>
          </a:p>
        </p:txBody>
      </p:sp>
      <p:sp>
        <p:nvSpPr>
          <p:cNvPr id="4" name="Footer Placeholder 4">
            <a:extLst>
              <a:ext uri="{FF2B5EF4-FFF2-40B4-BE49-F238E27FC236}">
                <a16:creationId xmlns:a16="http://schemas.microsoft.com/office/drawing/2014/main" id="{60F15494-8374-819B-5661-D082F4F305F8}"/>
              </a:ext>
            </a:extLst>
          </p:cNvPr>
          <p:cNvSpPr>
            <a:spLocks noGrp="1"/>
          </p:cNvSpPr>
          <p:nvPr>
            <p:ph type="ftr" sz="quarter" idx="15"/>
          </p:nvPr>
        </p:nvSpPr>
        <p:spPr bwMode="auto">
          <a:xfrm>
            <a:off x="2706688" y="4760913"/>
            <a:ext cx="3538537" cy="198437"/>
          </a:xfrm>
          <a:prstGeom prst="rect">
            <a:avLst/>
          </a:prstGeom>
        </p:spPr>
        <p:txBody>
          <a:bodyPr vert="horz" wrap="square" lIns="91440" tIns="45720" rIns="91440" bIns="45720" numCol="1" anchor="ctr" anchorCtr="0" compatLnSpc="1">
            <a:prstTxWarp prst="textNoShape">
              <a:avLst/>
            </a:prstTxWarp>
          </a:bodyPr>
          <a:lstStyle>
            <a:lvl1pPr algn="ctr" eaLnBrk="1" hangingPunct="1">
              <a:buClr>
                <a:srgbClr val="000000"/>
              </a:buClr>
              <a:buFont typeface="Arial" pitchFamily="34" charset="0"/>
              <a:buNone/>
              <a:defRPr sz="900" b="1">
                <a:solidFill>
                  <a:srgbClr val="898989"/>
                </a:solidFill>
              </a:defRPr>
            </a:lvl1pPr>
          </a:lstStyle>
          <a:p>
            <a:pPr>
              <a:defRPr/>
            </a:pPr>
            <a:r>
              <a:rPr lang="en-US"/>
              <a:t>Department of CSE (AI &amp; ML) - Review 0- Abstract Selection</a:t>
            </a:r>
          </a:p>
        </p:txBody>
      </p:sp>
    </p:spTree>
    <p:extLst>
      <p:ext uri="{BB962C8B-B14F-4D97-AF65-F5344CB8AC3E}">
        <p14:creationId xmlns:p14="http://schemas.microsoft.com/office/powerpoint/2010/main" val="1121213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2" name="Google Shape;22;p16"/>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3" name="Google Shape;23;p16"/>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311150" y="444500"/>
            <a:ext cx="8521700" cy="573087"/>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 name="Google Shape;7;p13"/>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 name="Google Shape;8;p13"/>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9" name="Google Shape;9;p13"/>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15"/>
          <p:cNvSpPr txBox="1">
            <a:spLocks noGrp="1"/>
          </p:cNvSpPr>
          <p:nvPr>
            <p:ph type="title"/>
          </p:nvPr>
        </p:nvSpPr>
        <p:spPr>
          <a:xfrm>
            <a:off x="311150" y="444500"/>
            <a:ext cx="8521700" cy="573087"/>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7" name="Google Shape;17;p15"/>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8" name="Google Shape;18;p15"/>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19" name="Google Shape;19;p15"/>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sp>
        <p:nvSpPr>
          <p:cNvPr id="28" name="Google Shape;28;p1"/>
          <p:cNvSpPr txBox="1">
            <a:spLocks noGrp="1"/>
          </p:cNvSpPr>
          <p:nvPr>
            <p:ph type="ctrTitle"/>
          </p:nvPr>
        </p:nvSpPr>
        <p:spPr>
          <a:xfrm>
            <a:off x="-9525" y="738187"/>
            <a:ext cx="9144000" cy="1712912"/>
          </a:xfrm>
          <a:prstGeom prst="rect">
            <a:avLst/>
          </a:prstGeom>
          <a:noFill/>
          <a:ln>
            <a:noFill/>
          </a:ln>
        </p:spPr>
        <p:txBody>
          <a:bodyPr spcFirstLastPara="1" wrap="square" lIns="91425" tIns="91425" rIns="91425" bIns="91425" anchor="b" anchorCtr="0">
            <a:normAutofit fontScale="90000"/>
          </a:bodyPr>
          <a:lstStyle/>
          <a:p>
            <a:pPr marL="0" lvl="0" indent="0" algn="ctr" rtl="0">
              <a:lnSpc>
                <a:spcPct val="100000"/>
              </a:lnSpc>
              <a:spcBef>
                <a:spcPts val="0"/>
              </a:spcBef>
              <a:spcAft>
                <a:spcPts val="0"/>
              </a:spcAft>
              <a:buSzPct val="236363"/>
              <a:buNone/>
            </a:pP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Gokaraju Rangaraju Institute of Engineering and Technology </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(Autonomous)</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Department of Data Science</a:t>
            </a:r>
            <a:br>
              <a:rPr lang="en-US" sz="1800" b="1" i="0" u="none" dirty="0">
                <a:solidFill>
                  <a:srgbClr val="000000"/>
                </a:solidFill>
                <a:latin typeface="Times New Roman"/>
                <a:ea typeface="Times New Roman"/>
                <a:cs typeface="Times New Roman"/>
                <a:sym typeface="Times New Roman"/>
              </a:rPr>
            </a:br>
            <a:br>
              <a:rPr lang="en-US" sz="1800" b="1" i="0" u="none" dirty="0">
                <a:solidFill>
                  <a:srgbClr val="000000"/>
                </a:solidFill>
                <a:latin typeface="Times New Roman"/>
                <a:ea typeface="Times New Roman"/>
                <a:cs typeface="Times New Roman"/>
                <a:sym typeface="Times New Roman"/>
              </a:rPr>
            </a:br>
            <a:r>
              <a:rPr lang="en-US" sz="1800" b="1" i="0" u="none" dirty="0">
                <a:solidFill>
                  <a:schemeClr val="dk1"/>
                </a:solidFill>
                <a:latin typeface="Times New Roman"/>
                <a:ea typeface="Times New Roman"/>
                <a:cs typeface="Times New Roman"/>
                <a:sym typeface="Times New Roman"/>
              </a:rPr>
              <a:t>M</a:t>
            </a:r>
            <a:r>
              <a:rPr lang="en-US" sz="1800" dirty="0">
                <a:solidFill>
                  <a:schemeClr val="dk1"/>
                </a:solidFill>
              </a:rPr>
              <a:t>ini</a:t>
            </a:r>
            <a:r>
              <a:rPr lang="en-US" sz="1800" b="1" i="0" u="none" dirty="0">
                <a:solidFill>
                  <a:schemeClr val="dk1"/>
                </a:solidFill>
                <a:latin typeface="Times New Roman"/>
                <a:ea typeface="Times New Roman"/>
                <a:cs typeface="Times New Roman"/>
                <a:sym typeface="Times New Roman"/>
              </a:rPr>
              <a:t> Project </a:t>
            </a:r>
            <a:r>
              <a:rPr lang="en-US" sz="1800" dirty="0">
                <a:solidFill>
                  <a:schemeClr val="dk1"/>
                </a:solidFill>
              </a:rPr>
              <a:t>with seminar</a:t>
            </a:r>
            <a:br>
              <a:rPr lang="en-US" sz="1800" b="1" i="0" u="none" dirty="0">
                <a:solidFill>
                  <a:schemeClr val="dk1"/>
                </a:solidFill>
                <a:latin typeface="Times New Roman"/>
                <a:ea typeface="Times New Roman"/>
                <a:cs typeface="Times New Roman"/>
                <a:sym typeface="Times New Roman"/>
              </a:rPr>
            </a:br>
            <a:r>
              <a:rPr lang="en-US" sz="1800" b="1" i="0" u="none" dirty="0">
                <a:solidFill>
                  <a:schemeClr val="dk1"/>
                </a:solidFill>
                <a:latin typeface="Times New Roman"/>
                <a:ea typeface="Times New Roman"/>
                <a:cs typeface="Times New Roman"/>
                <a:sym typeface="Times New Roman"/>
              </a:rPr>
              <a:t>(CSE(DS))</a:t>
            </a:r>
            <a:endParaRPr dirty="0"/>
          </a:p>
        </p:txBody>
      </p:sp>
      <p:sp>
        <p:nvSpPr>
          <p:cNvPr id="29" name="Google Shape;29;p1"/>
          <p:cNvSpPr txBox="1">
            <a:spLocks noGrp="1"/>
          </p:cNvSpPr>
          <p:nvPr>
            <p:ph type="subTitle" idx="4294967295"/>
          </p:nvPr>
        </p:nvSpPr>
        <p:spPr>
          <a:xfrm>
            <a:off x="9525" y="2571750"/>
            <a:ext cx="9144000" cy="523875"/>
          </a:xfrm>
          <a:prstGeom prst="rect">
            <a:avLst/>
          </a:prstGeom>
          <a:noFill/>
          <a:ln>
            <a:noFill/>
          </a:ln>
        </p:spPr>
        <p:txBody>
          <a:bodyPr spcFirstLastPara="1" wrap="square" lIns="91425" tIns="91425" rIns="91425" bIns="91425" anchor="t" anchorCtr="0">
            <a:noAutofit/>
          </a:bodyPr>
          <a:lstStyle/>
          <a:p>
            <a:pPr marL="0" lvl="0" indent="0" algn="ctr">
              <a:lnSpc>
                <a:spcPct val="115000"/>
              </a:lnSpc>
              <a:buSzPts val="2200"/>
            </a:pPr>
            <a:r>
              <a:rPr lang="en-US" sz="2200" b="1" dirty="0">
                <a:solidFill>
                  <a:srgbClr val="0D5BDC"/>
                </a:solidFill>
                <a:latin typeface="Times New Roman"/>
                <a:ea typeface="Times New Roman"/>
                <a:cs typeface="Times New Roman"/>
                <a:sym typeface="Times New Roman"/>
              </a:rPr>
              <a:t>Review 1: Abstract Presentation</a:t>
            </a:r>
            <a:endParaRPr lang="en-US" sz="2400" dirty="0"/>
          </a:p>
          <a:p>
            <a:pPr marL="0" marR="0" lvl="0" indent="0" algn="ctr" rtl="0">
              <a:lnSpc>
                <a:spcPct val="115000"/>
              </a:lnSpc>
              <a:spcBef>
                <a:spcPts val="0"/>
              </a:spcBef>
              <a:spcAft>
                <a:spcPts val="0"/>
              </a:spcAft>
              <a:buClr>
                <a:srgbClr val="000000"/>
              </a:buClr>
              <a:buSzPts val="2200"/>
              <a:buFont typeface="Arial"/>
              <a:buNone/>
            </a:pPr>
            <a:endParaRPr sz="2200" b="1" i="0" u="none" strike="noStrike" cap="none" dirty="0">
              <a:solidFill>
                <a:srgbClr val="0D5BDC"/>
              </a:solidFill>
              <a:latin typeface="Times New Roman"/>
              <a:ea typeface="Times New Roman"/>
              <a:cs typeface="Times New Roman"/>
              <a:sym typeface="Times New Roman"/>
            </a:endParaRPr>
          </a:p>
          <a:p>
            <a:pPr marL="342900" marR="0" lvl="0" indent="-342900" algn="l" rtl="0">
              <a:spcBef>
                <a:spcPts val="0"/>
              </a:spcBef>
              <a:spcAft>
                <a:spcPts val="0"/>
              </a:spcAft>
              <a:buNone/>
            </a:pPr>
            <a:endParaRPr sz="2200" b="1" i="0" u="none" dirty="0">
              <a:solidFill>
                <a:srgbClr val="0D5BDC"/>
              </a:solidFill>
              <a:latin typeface="Times New Roman"/>
              <a:ea typeface="Times New Roman"/>
              <a:cs typeface="Times New Roman"/>
              <a:sym typeface="Times New Roman"/>
            </a:endParaRPr>
          </a:p>
        </p:txBody>
      </p:sp>
      <p:sp>
        <p:nvSpPr>
          <p:cNvPr id="30" name="Google Shape;30;p1"/>
          <p:cNvSpPr txBox="1"/>
          <p:nvPr/>
        </p:nvSpPr>
        <p:spPr>
          <a:xfrm>
            <a:off x="301625" y="3568700"/>
            <a:ext cx="4260900" cy="11892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Presented by:</a:t>
            </a:r>
            <a:endParaRPr dirty="0">
              <a:solidFill>
                <a:schemeClr val="dk1"/>
              </a:solidFill>
            </a:endParaRPr>
          </a:p>
          <a:p>
            <a:pPr marL="0" lvl="0" indent="0" algn="l" rtl="0">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1. Mr. Md. Shoaib Nadeem (2324167A0)</a:t>
            </a:r>
            <a:endParaRPr dirty="0">
              <a:solidFill>
                <a:schemeClr val="dk1"/>
              </a:solidFill>
            </a:endParaRPr>
          </a:p>
          <a:p>
            <a:pPr marL="0" lvl="0" indent="0" algn="l" rtl="0">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2. Mr. Vishal Abhishek (23241A6774)</a:t>
            </a:r>
            <a:endParaRPr dirty="0">
              <a:solidFill>
                <a:schemeClr val="dk1"/>
              </a:solidFill>
            </a:endParaRPr>
          </a:p>
          <a:p>
            <a:pPr marL="0" lvl="0" indent="0" algn="l" rtl="0">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3. Mr. Shiva Kumar (23241A6797)</a:t>
            </a:r>
            <a:endParaRPr dirty="0">
              <a:solidFill>
                <a:schemeClr val="dk1"/>
              </a:solidFill>
            </a:endParaRPr>
          </a:p>
          <a:p>
            <a:pPr marL="0" lvl="0" indent="0" algn="l" rtl="0">
              <a:spcBef>
                <a:spcPts val="0"/>
              </a:spcBef>
              <a:spcAft>
                <a:spcPts val="0"/>
              </a:spcAft>
              <a:buClr>
                <a:schemeClr val="dk1"/>
              </a:buClr>
              <a:buSzPts val="1600"/>
              <a:buFont typeface="Times New Roman"/>
              <a:buNone/>
            </a:pPr>
            <a:endParaRPr dirty="0"/>
          </a:p>
        </p:txBody>
      </p:sp>
      <p:sp>
        <p:nvSpPr>
          <p:cNvPr id="31" name="Google Shape;31;p1"/>
          <p:cNvSpPr txBox="1"/>
          <p:nvPr/>
        </p:nvSpPr>
        <p:spPr>
          <a:xfrm>
            <a:off x="4876800" y="3441700"/>
            <a:ext cx="4106862" cy="144145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Under the Guidance of:</a:t>
            </a:r>
            <a:endParaRPr dirty="0">
              <a:solidFill>
                <a:schemeClr val="dk1"/>
              </a:solidFill>
            </a:endParaRPr>
          </a:p>
          <a:p>
            <a:pPr marL="0" lvl="0" indent="0" algn="l" rtl="0">
              <a:lnSpc>
                <a:spcPct val="90000"/>
              </a:lnSpc>
              <a:spcBef>
                <a:spcPts val="0"/>
              </a:spcBef>
              <a:spcAft>
                <a:spcPts val="0"/>
              </a:spcAft>
              <a:buClr>
                <a:srgbClr val="006600"/>
              </a:buClr>
              <a:buSzPts val="1600"/>
              <a:buFont typeface="Times New Roman"/>
              <a:buNone/>
            </a:pPr>
            <a:r>
              <a:rPr lang="en-US" sz="1600" b="1" dirty="0">
                <a:solidFill>
                  <a:srgbClr val="006600"/>
                </a:solidFill>
                <a:latin typeface="Times New Roman"/>
                <a:ea typeface="Times New Roman"/>
                <a:cs typeface="Times New Roman"/>
                <a:sym typeface="Times New Roman"/>
              </a:rPr>
              <a:t>Name :Dr. M. Kiran Kumar</a:t>
            </a:r>
            <a:endParaRPr dirty="0">
              <a:solidFill>
                <a:schemeClr val="dk1"/>
              </a:solidFill>
            </a:endParaRPr>
          </a:p>
          <a:p>
            <a:pPr marL="0" lvl="0" indent="0" algn="l" rtl="0">
              <a:lnSpc>
                <a:spcPct val="90000"/>
              </a:lnSpc>
              <a:spcBef>
                <a:spcPts val="0"/>
              </a:spcBef>
              <a:spcAft>
                <a:spcPts val="0"/>
              </a:spcAft>
              <a:buClr>
                <a:srgbClr val="006600"/>
              </a:buClr>
              <a:buSzPts val="1600"/>
              <a:buFont typeface="Times New Roman"/>
              <a:buNone/>
            </a:pPr>
            <a:r>
              <a:rPr lang="en-US" sz="1600" b="1" dirty="0">
                <a:solidFill>
                  <a:srgbClr val="006600"/>
                </a:solidFill>
                <a:latin typeface="Times New Roman"/>
                <a:ea typeface="Times New Roman"/>
                <a:cs typeface="Times New Roman"/>
                <a:sym typeface="Times New Roman"/>
              </a:rPr>
              <a:t>Designation :Associate Professor</a:t>
            </a:r>
            <a:endParaRPr dirty="0">
              <a:solidFill>
                <a:schemeClr val="dk1"/>
              </a:solidFill>
            </a:endParaRPr>
          </a:p>
          <a:p>
            <a:pPr marL="0" lvl="0" indent="0" algn="l" rtl="0">
              <a:lnSpc>
                <a:spcPct val="90000"/>
              </a:lnSpc>
              <a:spcBef>
                <a:spcPts val="0"/>
              </a:spcBef>
              <a:spcAft>
                <a:spcPts val="0"/>
              </a:spcAft>
              <a:buClr>
                <a:srgbClr val="006600"/>
              </a:buClr>
              <a:buSzPts val="1600"/>
              <a:buFont typeface="Times New Roman"/>
              <a:buNone/>
            </a:pPr>
            <a:r>
              <a:rPr lang="en-US" sz="1600" b="1" dirty="0">
                <a:solidFill>
                  <a:srgbClr val="006600"/>
                </a:solidFill>
                <a:latin typeface="Times New Roman"/>
                <a:ea typeface="Times New Roman"/>
                <a:cs typeface="Times New Roman"/>
                <a:sym typeface="Times New Roman"/>
              </a:rPr>
              <a:t>Department : DS</a:t>
            </a:r>
            <a:endParaRPr sz="1600" b="1" dirty="0">
              <a:solidFill>
                <a:schemeClr val="dk1"/>
              </a:solidFill>
              <a:latin typeface="Times New Roman"/>
              <a:ea typeface="Times New Roman"/>
              <a:cs typeface="Times New Roman"/>
              <a:sym typeface="Times New Roman"/>
            </a:endParaRPr>
          </a:p>
        </p:txBody>
      </p:sp>
      <p:pic>
        <p:nvPicPr>
          <p:cNvPr id="32" name="Google Shape;32;p1" descr="Untitled-1 copy"/>
          <p:cNvPicPr preferRelativeResize="0"/>
          <p:nvPr/>
        </p:nvPicPr>
        <p:blipFill rotWithShape="1">
          <a:blip r:embed="rId3">
            <a:alphaModFix/>
          </a:blip>
          <a:srcRect l="25561" t="23017" r="26994" b="21855"/>
          <a:stretch/>
        </p:blipFill>
        <p:spPr>
          <a:xfrm>
            <a:off x="4271962" y="114300"/>
            <a:ext cx="604837" cy="5540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2"/>
          <p:cNvSpPr txBox="1">
            <a:spLocks noGrp="1"/>
          </p:cNvSpPr>
          <p:nvPr>
            <p:ph type="title"/>
          </p:nvPr>
        </p:nvSpPr>
        <p:spPr>
          <a:xfrm>
            <a:off x="0" y="2095500"/>
            <a:ext cx="9144000" cy="959934"/>
          </a:xfrm>
          <a:prstGeom prst="rect">
            <a:avLst/>
          </a:prstGeom>
          <a:noFill/>
          <a:ln>
            <a:noFill/>
          </a:ln>
        </p:spPr>
        <p:txBody>
          <a:bodyPr spcFirstLastPara="1" wrap="square" lIns="91425" tIns="91425" rIns="91425" bIns="91425" anchor="ctr" anchorCtr="0">
            <a:noAutofit/>
          </a:bodyPr>
          <a:lstStyle/>
          <a:p>
            <a:pPr lvl="0"/>
            <a:r>
              <a:rPr lang="en-US" sz="3200" dirty="0">
                <a:solidFill>
                  <a:schemeClr val="accent1">
                    <a:lumMod val="75000"/>
                  </a:schemeClr>
                </a:solidFill>
              </a:rPr>
              <a:t> UPI Transaction based Fraud Detection System using Generative AI and Machine Learning Techniques</a:t>
            </a:r>
            <a:endParaRPr lang="en-US" dirty="0">
              <a:solidFill>
                <a:schemeClr val="accent1">
                  <a:lumMod val="75000"/>
                </a:schemeClr>
              </a:solidFill>
            </a:endParaRPr>
          </a:p>
        </p:txBody>
      </p:sp>
      <p:sp>
        <p:nvSpPr>
          <p:cNvPr id="38" name="Google Shape;38;p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3"/>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US" dirty="0"/>
              <a:t>I</a:t>
            </a:r>
            <a:r>
              <a:rPr lang="en-IN" dirty="0" err="1"/>
              <a:t>ntroduction</a:t>
            </a:r>
            <a:r>
              <a:rPr lang="en-IN" dirty="0"/>
              <a:t> :</a:t>
            </a:r>
            <a:endParaRPr dirty="0"/>
          </a:p>
        </p:txBody>
      </p:sp>
      <p:sp>
        <p:nvSpPr>
          <p:cNvPr id="44" name="Google Shape;44;p3"/>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3</a:t>
            </a:fld>
            <a:endParaRPr/>
          </a:p>
        </p:txBody>
      </p:sp>
      <p:sp>
        <p:nvSpPr>
          <p:cNvPr id="3" name="Text Placeholder 2">
            <a:extLst>
              <a:ext uri="{FF2B5EF4-FFF2-40B4-BE49-F238E27FC236}">
                <a16:creationId xmlns:a16="http://schemas.microsoft.com/office/drawing/2014/main" id="{137851B6-A14E-B68B-A668-BA37C127B4B9}"/>
              </a:ext>
            </a:extLst>
          </p:cNvPr>
          <p:cNvSpPr>
            <a:spLocks noGrp="1" noChangeArrowheads="1"/>
          </p:cNvSpPr>
          <p:nvPr>
            <p:ph type="body" idx="1"/>
          </p:nvPr>
        </p:nvSpPr>
        <p:spPr bwMode="auto">
          <a:xfrm>
            <a:off x="68752" y="439722"/>
            <a:ext cx="895301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lang="en-US" altLang="en-US" sz="1700" dirty="0">
                <a:solidFill>
                  <a:schemeClr val="tx1"/>
                </a:solidFill>
                <a:latin typeface="Arial" panose="020B0604020202020204" pitchFamily="34" charset="0"/>
              </a:rPr>
              <a:t> A</a:t>
            </a:r>
            <a:r>
              <a:rPr kumimoji="0" lang="en-US" altLang="en-US" sz="1700" b="0" i="0" u="none" strike="noStrike" cap="none" normalizeH="0" baseline="0" dirty="0">
                <a:ln>
                  <a:noFill/>
                </a:ln>
                <a:solidFill>
                  <a:schemeClr val="tx1"/>
                </a:solidFill>
                <a:effectLst/>
                <a:latin typeface="Arial" panose="020B0604020202020204" pitchFamily="34" charset="0"/>
              </a:rPr>
              <a:t>n intelligent fraud detection system designed for digital payment platforms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 </a:t>
            </a:r>
            <a:r>
              <a:rPr lang="en-US" altLang="en-US" sz="1700" dirty="0">
                <a:solidFill>
                  <a:schemeClr val="tx1"/>
                </a:solidFill>
                <a:latin typeface="Arial" panose="020B0604020202020204" pitchFamily="34" charset="0"/>
              </a:rPr>
              <a:t>A</a:t>
            </a:r>
            <a:r>
              <a:rPr kumimoji="0" lang="en-US" altLang="en-US" sz="1700" b="0" i="0" u="none" strike="noStrike" cap="none" normalizeH="0" baseline="0" dirty="0">
                <a:ln>
                  <a:noFill/>
                </a:ln>
                <a:solidFill>
                  <a:schemeClr val="tx1"/>
                </a:solidFill>
                <a:effectLst/>
                <a:latin typeface="Arial" panose="020B0604020202020204" pitchFamily="34" charset="0"/>
              </a:rPr>
              <a:t>ddresses the challenge of highly imbalanced fraud data using CGAN-based augmentation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 Conditional GAN generates realistic synthetic fraud samples based on transaction behavior</a:t>
            </a:r>
          </a:p>
          <a:p>
            <a:pPr marL="0" lvl="0" indent="0" algn="just" eaLnBrk="0" fontAlgn="base" hangingPunct="0">
              <a:lnSpc>
                <a:spcPct val="150000"/>
              </a:lnSpc>
              <a:spcBef>
                <a:spcPct val="0"/>
              </a:spcBef>
              <a:spcAft>
                <a:spcPct val="0"/>
              </a:spcAft>
              <a:buClrTx/>
              <a:buSzTx/>
              <a:buFontTx/>
              <a:buChar char="•"/>
            </a:pPr>
            <a:r>
              <a:rPr lang="en-US" altLang="en-US" sz="1700" dirty="0">
                <a:solidFill>
                  <a:schemeClr val="tx1"/>
                </a:solidFill>
                <a:latin typeface="Arial" panose="020B0604020202020204" pitchFamily="34" charset="0"/>
              </a:rPr>
              <a:t> </a:t>
            </a:r>
            <a:r>
              <a:rPr lang="en-US" sz="1700" dirty="0" err="1"/>
              <a:t>XGBoost</a:t>
            </a:r>
            <a:r>
              <a:rPr lang="en-US" sz="1700" dirty="0"/>
              <a:t> classifier is trained with class weighting to effectively detect fraudulent transactions while minimizing false negatives.</a:t>
            </a:r>
            <a:r>
              <a:rPr lang="en-US" altLang="en-US" sz="1700" dirty="0">
                <a:solidFill>
                  <a:schemeClr val="tx1"/>
                </a:solidFill>
                <a:latin typeface="Arial" panose="020B0604020202020204" pitchFamily="34" charset="0"/>
              </a:rPr>
              <a: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 Automatically derives the Behavioral, transactional, and contextual features </a:t>
            </a:r>
          </a:p>
          <a:p>
            <a:pPr marL="0" marR="0" lvl="0" indent="0" algn="just" defTabSz="914400" rtl="0" eaLnBrk="0" fontAlgn="base" latinLnBrk="0" hangingPunct="0">
              <a:lnSpc>
                <a:spcPct val="150000"/>
              </a:lnSpc>
              <a:spcBef>
                <a:spcPct val="0"/>
              </a:spcBef>
              <a:spcAft>
                <a:spcPct val="0"/>
              </a:spcAft>
              <a:buClrTx/>
              <a:buSzTx/>
              <a:buFontTx/>
              <a:buChar char="•"/>
              <a:tabLst/>
            </a:pPr>
            <a:r>
              <a:rPr lang="en-US" altLang="en-US" sz="1700" dirty="0">
                <a:solidFill>
                  <a:schemeClr val="tx1"/>
                </a:solidFill>
                <a:latin typeface="Arial" panose="020B0604020202020204" pitchFamily="34" charset="0"/>
              </a:rPr>
              <a:t>Provides </a:t>
            </a:r>
            <a:r>
              <a:rPr kumimoji="0" lang="en-US" altLang="en-US" sz="1700" b="0" i="0" u="none" strike="noStrike" cap="none" normalizeH="0" baseline="0" dirty="0">
                <a:ln>
                  <a:noFill/>
                </a:ln>
                <a:solidFill>
                  <a:schemeClr val="tx1"/>
                </a:solidFill>
                <a:effectLst/>
                <a:latin typeface="Arial" panose="020B0604020202020204" pitchFamily="34" charset="0"/>
              </a:rPr>
              <a:t>SHAP-based explainability  for transparent, feature-level insights in decision</a:t>
            </a:r>
            <a:r>
              <a:rPr lang="en-US" altLang="en-US" sz="1700" dirty="0">
                <a:solidFill>
                  <a:schemeClr val="tx1"/>
                </a:solidFill>
                <a:latin typeface="Arial" panose="020B0604020202020204" pitchFamily="34" charset="0"/>
              </a:rPr>
              <a:t> making process.</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 The trained model and preprocessing pipeline are saved for real-time deployment and </a:t>
            </a:r>
            <a:r>
              <a:rPr lang="en-US" altLang="en-US" sz="1700" dirty="0">
                <a:solidFill>
                  <a:schemeClr val="tx1"/>
                </a:solidFill>
                <a:latin typeface="Arial" panose="020B0604020202020204" pitchFamily="34" charset="0"/>
              </a:rPr>
              <a:t>can be </a:t>
            </a:r>
            <a:r>
              <a:rPr kumimoji="0" lang="en-US" altLang="en-US" sz="1700" b="0" i="0" u="none" strike="noStrike" cap="none" normalizeH="0" baseline="0" dirty="0">
                <a:ln>
                  <a:noFill/>
                </a:ln>
                <a:solidFill>
                  <a:schemeClr val="tx1"/>
                </a:solidFill>
                <a:effectLst/>
                <a:latin typeface="Arial" panose="020B0604020202020204" pitchFamily="34" charset="0"/>
              </a:rPr>
              <a:t>readily used.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EC81FC23-F935-6286-CE34-ACF4ED18EDD1}"/>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F5373171-4333-36E3-0DF7-4FF2E5D7D6AB}"/>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Project Work Flow:</a:t>
            </a:r>
            <a:endParaRPr dirty="0"/>
          </a:p>
        </p:txBody>
      </p:sp>
      <p:sp>
        <p:nvSpPr>
          <p:cNvPr id="44" name="Google Shape;44;p3">
            <a:extLst>
              <a:ext uri="{FF2B5EF4-FFF2-40B4-BE49-F238E27FC236}">
                <a16:creationId xmlns:a16="http://schemas.microsoft.com/office/drawing/2014/main" id="{23BD5916-CA5E-D7A6-8845-6D7B305504DF}"/>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4</a:t>
            </a:fld>
            <a:endParaRPr/>
          </a:p>
        </p:txBody>
      </p:sp>
      <p:pic>
        <p:nvPicPr>
          <p:cNvPr id="6" name="Picture 5">
            <a:extLst>
              <a:ext uri="{FF2B5EF4-FFF2-40B4-BE49-F238E27FC236}">
                <a16:creationId xmlns:a16="http://schemas.microsoft.com/office/drawing/2014/main" id="{6CF29955-372D-6B79-D6DE-CD90CFD5C598}"/>
              </a:ext>
            </a:extLst>
          </p:cNvPr>
          <p:cNvPicPr>
            <a:picLocks noChangeAspect="1"/>
          </p:cNvPicPr>
          <p:nvPr/>
        </p:nvPicPr>
        <p:blipFill>
          <a:blip r:embed="rId3"/>
          <a:stretch>
            <a:fillRect/>
          </a:stretch>
        </p:blipFill>
        <p:spPr>
          <a:xfrm>
            <a:off x="0" y="647330"/>
            <a:ext cx="9144000" cy="3814407"/>
          </a:xfrm>
          <a:prstGeom prst="rect">
            <a:avLst/>
          </a:prstGeom>
        </p:spPr>
      </p:pic>
    </p:spTree>
    <p:extLst>
      <p:ext uri="{BB962C8B-B14F-4D97-AF65-F5344CB8AC3E}">
        <p14:creationId xmlns:p14="http://schemas.microsoft.com/office/powerpoint/2010/main" val="2522610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4CFFF51D-B366-6A75-96E4-8E6ACED719C8}"/>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9780AC5A-E1B9-779A-E0D1-86FF644786CA}"/>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Project Work Flow:</a:t>
            </a:r>
            <a:endParaRPr dirty="0"/>
          </a:p>
        </p:txBody>
      </p:sp>
      <p:sp>
        <p:nvSpPr>
          <p:cNvPr id="44" name="Google Shape;44;p3">
            <a:extLst>
              <a:ext uri="{FF2B5EF4-FFF2-40B4-BE49-F238E27FC236}">
                <a16:creationId xmlns:a16="http://schemas.microsoft.com/office/drawing/2014/main" id="{6361935C-4BE9-415B-0B16-CE55DF9EB72F}"/>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5</a:t>
            </a:fld>
            <a:endParaRPr/>
          </a:p>
        </p:txBody>
      </p:sp>
      <p:sp>
        <p:nvSpPr>
          <p:cNvPr id="45" name="Google Shape;45;p3">
            <a:extLst>
              <a:ext uri="{FF2B5EF4-FFF2-40B4-BE49-F238E27FC236}">
                <a16:creationId xmlns:a16="http://schemas.microsoft.com/office/drawing/2014/main" id="{4110E7D0-9470-6593-1F64-139D45C3AC9A}"/>
              </a:ext>
            </a:extLst>
          </p:cNvPr>
          <p:cNvSpPr txBox="1">
            <a:spLocks noGrp="1"/>
          </p:cNvSpPr>
          <p:nvPr>
            <p:ph type="body" idx="1"/>
          </p:nvPr>
        </p:nvSpPr>
        <p:spPr>
          <a:xfrm>
            <a:off x="122238" y="460638"/>
            <a:ext cx="8763000" cy="4584437"/>
          </a:xfrm>
          <a:prstGeom prst="rect">
            <a:avLst/>
          </a:prstGeom>
          <a:noFill/>
          <a:ln>
            <a:noFill/>
          </a:ln>
        </p:spPr>
        <p:txBody>
          <a:bodyPr spcFirstLastPara="1" wrap="square" lIns="91425" tIns="91425" rIns="91425" bIns="91425" anchor="t" anchorCtr="0">
            <a:noAutofit/>
          </a:bodyPr>
          <a:lstStyle/>
          <a:p>
            <a:pPr marL="146368" lvl="0" indent="0">
              <a:lnSpc>
                <a:spcPct val="170000"/>
              </a:lnSpc>
              <a:buClr>
                <a:srgbClr val="595959"/>
              </a:buClr>
              <a:buSzPct val="58333"/>
            </a:pPr>
            <a:r>
              <a:rPr lang="en-US" sz="1700" dirty="0"/>
              <a:t>The system starts with a transaction dataset, which is first preprocessed by handling missing values, encoding categorical features, and scaling numerical attributes. To address the severe class imbalance in fraud data, a Conditional Generative Adversarial Network (CGAN) is trained to generate realistic synthetic fraud samples, which are merged with the original data to create a balanced dataset. </a:t>
            </a:r>
            <a:r>
              <a:rPr lang="en-US" sz="1700" dirty="0" err="1"/>
              <a:t>XGBoost</a:t>
            </a:r>
            <a:r>
              <a:rPr lang="en-US" sz="1700" dirty="0"/>
              <a:t> classifier is then trained on this balanced data to effectively learn complex fraud patterns while prioritizing the detection of fraudulent transactions. For inference, new user transaction data is passed through the same preprocessing pipeline and evaluated by the trained </a:t>
            </a:r>
            <a:r>
              <a:rPr lang="en-US" sz="1700" dirty="0" err="1"/>
              <a:t>XGBoost</a:t>
            </a:r>
            <a:r>
              <a:rPr lang="en-US" sz="1700" dirty="0"/>
              <a:t> model. Finally, SHAP-based explainability is applied to provide feature-level insights, producing the final output consisting of fraud or non-fraud classification, risk probability, and transparent decision explanations.</a:t>
            </a:r>
            <a:endParaRPr lang="en-US" sz="1700" dirty="0">
              <a:solidFill>
                <a:srgbClr val="C00000"/>
              </a:solidFill>
            </a:endParaRPr>
          </a:p>
        </p:txBody>
      </p:sp>
    </p:spTree>
    <p:extLst>
      <p:ext uri="{BB962C8B-B14F-4D97-AF65-F5344CB8AC3E}">
        <p14:creationId xmlns:p14="http://schemas.microsoft.com/office/powerpoint/2010/main" val="1230479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455096A1-2672-2B81-C6CD-41D3A65B4174}"/>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D750B414-4C93-B93F-AC0E-5D44B213A1F9}"/>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US" dirty="0"/>
              <a:t>C</a:t>
            </a:r>
            <a:r>
              <a:rPr lang="en-IN" dirty="0"/>
              <a:t>GAN Architecture:</a:t>
            </a:r>
            <a:endParaRPr dirty="0"/>
          </a:p>
        </p:txBody>
      </p:sp>
      <p:sp>
        <p:nvSpPr>
          <p:cNvPr id="44" name="Google Shape;44;p3">
            <a:extLst>
              <a:ext uri="{FF2B5EF4-FFF2-40B4-BE49-F238E27FC236}">
                <a16:creationId xmlns:a16="http://schemas.microsoft.com/office/drawing/2014/main" id="{4EA3928E-AFC4-BABF-AC46-D7EC58D33CA4}"/>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6</a:t>
            </a:fld>
            <a:endParaRPr/>
          </a:p>
        </p:txBody>
      </p:sp>
      <p:pic>
        <p:nvPicPr>
          <p:cNvPr id="3" name="Picture 2">
            <a:extLst>
              <a:ext uri="{FF2B5EF4-FFF2-40B4-BE49-F238E27FC236}">
                <a16:creationId xmlns:a16="http://schemas.microsoft.com/office/drawing/2014/main" id="{E2B2D111-744F-E646-FD65-8058FEDA33FC}"/>
              </a:ext>
            </a:extLst>
          </p:cNvPr>
          <p:cNvPicPr>
            <a:picLocks noChangeAspect="1"/>
          </p:cNvPicPr>
          <p:nvPr/>
        </p:nvPicPr>
        <p:blipFill>
          <a:blip r:embed="rId3"/>
          <a:stretch>
            <a:fillRect/>
          </a:stretch>
        </p:blipFill>
        <p:spPr>
          <a:xfrm>
            <a:off x="0" y="756013"/>
            <a:ext cx="9144000" cy="3631474"/>
          </a:xfrm>
          <a:prstGeom prst="rect">
            <a:avLst/>
          </a:prstGeom>
        </p:spPr>
      </p:pic>
      <p:pic>
        <p:nvPicPr>
          <p:cNvPr id="5" name="Picture 4">
            <a:extLst>
              <a:ext uri="{FF2B5EF4-FFF2-40B4-BE49-F238E27FC236}">
                <a16:creationId xmlns:a16="http://schemas.microsoft.com/office/drawing/2014/main" id="{6E9FC690-7625-4B95-5C6D-DCA82E7E1305}"/>
              </a:ext>
            </a:extLst>
          </p:cNvPr>
          <p:cNvPicPr>
            <a:picLocks noChangeAspect="1"/>
          </p:cNvPicPr>
          <p:nvPr/>
        </p:nvPicPr>
        <p:blipFill>
          <a:blip r:embed="rId4"/>
          <a:stretch>
            <a:fillRect/>
          </a:stretch>
        </p:blipFill>
        <p:spPr>
          <a:xfrm>
            <a:off x="0" y="1448757"/>
            <a:ext cx="1498600" cy="1201309"/>
          </a:xfrm>
          <a:prstGeom prst="rect">
            <a:avLst/>
          </a:prstGeom>
        </p:spPr>
      </p:pic>
    </p:spTree>
    <p:extLst>
      <p:ext uri="{BB962C8B-B14F-4D97-AF65-F5344CB8AC3E}">
        <p14:creationId xmlns:p14="http://schemas.microsoft.com/office/powerpoint/2010/main" val="3926771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12774030-E392-B432-6E7A-76E2BDF27DB6}"/>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DE75F146-7BAC-CB91-E9BA-529C0686CD87}"/>
              </a:ext>
            </a:extLst>
          </p:cNvPr>
          <p:cNvSpPr txBox="1">
            <a:spLocks noGrp="1"/>
          </p:cNvSpPr>
          <p:nvPr>
            <p:ph type="ctrTitle"/>
          </p:nvPr>
        </p:nvSpPr>
        <p:spPr>
          <a:xfrm>
            <a:off x="0" y="0"/>
            <a:ext cx="9144000" cy="515639"/>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Use Case:</a:t>
            </a:r>
            <a:endParaRPr dirty="0"/>
          </a:p>
        </p:txBody>
      </p:sp>
      <p:sp>
        <p:nvSpPr>
          <p:cNvPr id="44" name="Google Shape;44;p3">
            <a:extLst>
              <a:ext uri="{FF2B5EF4-FFF2-40B4-BE49-F238E27FC236}">
                <a16:creationId xmlns:a16="http://schemas.microsoft.com/office/drawing/2014/main" id="{82EDA916-72D6-91D3-06EF-15AF79D6F478}"/>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7</a:t>
            </a:fld>
            <a:endParaRPr/>
          </a:p>
        </p:txBody>
      </p:sp>
      <p:sp>
        <p:nvSpPr>
          <p:cNvPr id="45" name="Google Shape;45;p3">
            <a:extLst>
              <a:ext uri="{FF2B5EF4-FFF2-40B4-BE49-F238E27FC236}">
                <a16:creationId xmlns:a16="http://schemas.microsoft.com/office/drawing/2014/main" id="{F748923F-AA13-FEBF-422A-60173F232135}"/>
              </a:ext>
            </a:extLst>
          </p:cNvPr>
          <p:cNvSpPr txBox="1">
            <a:spLocks noGrp="1"/>
          </p:cNvSpPr>
          <p:nvPr>
            <p:ph type="body" idx="1"/>
          </p:nvPr>
        </p:nvSpPr>
        <p:spPr>
          <a:xfrm>
            <a:off x="-55001" y="410165"/>
            <a:ext cx="8928100" cy="3744913"/>
          </a:xfrm>
          <a:prstGeom prst="rect">
            <a:avLst/>
          </a:prstGeom>
          <a:noFill/>
          <a:ln>
            <a:noFill/>
          </a:ln>
        </p:spPr>
        <p:txBody>
          <a:bodyPr spcFirstLastPara="1" wrap="square" lIns="91425" tIns="91425" rIns="91425" bIns="91425" anchor="t" anchorCtr="0">
            <a:noAutofit/>
          </a:bodyPr>
          <a:lstStyle/>
          <a:p>
            <a:pPr algn="just">
              <a:lnSpc>
                <a:spcPct val="150000"/>
              </a:lnSpc>
            </a:pPr>
            <a:r>
              <a:rPr lang="en-US" sz="1700" b="1" dirty="0"/>
              <a:t>1. Online &amp; UPI Payments</a:t>
            </a:r>
          </a:p>
          <a:p>
            <a:pPr algn="just">
              <a:lnSpc>
                <a:spcPct val="150000"/>
              </a:lnSpc>
            </a:pPr>
            <a:r>
              <a:rPr lang="en-US" sz="1700" dirty="0"/>
              <a:t>Detects unusual high-value or abnormal-time transactions and flags potential fraud before</a:t>
            </a:r>
          </a:p>
          <a:p>
            <a:pPr algn="just">
              <a:lnSpc>
                <a:spcPct val="150000"/>
              </a:lnSpc>
            </a:pPr>
            <a:r>
              <a:rPr lang="en-US" sz="1700" dirty="0"/>
              <a:t>money is lost.</a:t>
            </a:r>
          </a:p>
          <a:p>
            <a:pPr algn="just">
              <a:lnSpc>
                <a:spcPct val="150000"/>
              </a:lnSpc>
            </a:pPr>
            <a:r>
              <a:rPr lang="en-US" sz="1700" b="1" dirty="0"/>
              <a:t>2. Banking Transaction Monitoring</a:t>
            </a:r>
          </a:p>
          <a:p>
            <a:pPr algn="just">
              <a:lnSpc>
                <a:spcPct val="150000"/>
              </a:lnSpc>
            </a:pPr>
            <a:r>
              <a:rPr lang="en-US" sz="1700" dirty="0"/>
              <a:t>Identifies suspicious transfers or sudden changes in spending behavior compared to normal</a:t>
            </a:r>
          </a:p>
          <a:p>
            <a:pPr algn="just">
              <a:lnSpc>
                <a:spcPct val="150000"/>
              </a:lnSpc>
            </a:pPr>
            <a:r>
              <a:rPr lang="en-US" sz="1700" dirty="0"/>
              <a:t>user patterns.</a:t>
            </a:r>
          </a:p>
          <a:p>
            <a:pPr algn="just">
              <a:lnSpc>
                <a:spcPct val="150000"/>
              </a:lnSpc>
            </a:pPr>
            <a:r>
              <a:rPr lang="en-US" sz="1700" b="1" dirty="0"/>
              <a:t>3. E-Commerce Payments</a:t>
            </a:r>
          </a:p>
          <a:p>
            <a:pPr algn="just">
              <a:lnSpc>
                <a:spcPct val="150000"/>
              </a:lnSpc>
            </a:pPr>
            <a:r>
              <a:rPr lang="en-US" sz="1700" dirty="0"/>
              <a:t>Prevents unauthorized or rapid multiple payment attempts during online shopping.</a:t>
            </a:r>
          </a:p>
          <a:p>
            <a:pPr algn="just">
              <a:lnSpc>
                <a:spcPct val="150000"/>
              </a:lnSpc>
            </a:pPr>
            <a:r>
              <a:rPr lang="en-US" sz="1700" b="1" dirty="0"/>
              <a:t>4. Mobile Wallet Security</a:t>
            </a:r>
          </a:p>
          <a:p>
            <a:pPr algn="just">
              <a:lnSpc>
                <a:spcPct val="150000"/>
              </a:lnSpc>
            </a:pPr>
            <a:r>
              <a:rPr lang="en-US" sz="1700" dirty="0"/>
              <a:t>Flags transactions made to unknown or suspicious receivers using behavior-based analysis.</a:t>
            </a:r>
          </a:p>
          <a:p>
            <a:pPr algn="just">
              <a:lnSpc>
                <a:spcPct val="150000"/>
              </a:lnSpc>
            </a:pPr>
            <a:r>
              <a:rPr lang="en-US" sz="1700" b="1" dirty="0"/>
              <a:t>5. Expense &amp; Subscription Monitoring</a:t>
            </a:r>
          </a:p>
          <a:p>
            <a:pPr algn="just">
              <a:lnSpc>
                <a:spcPct val="150000"/>
              </a:lnSpc>
            </a:pPr>
            <a:r>
              <a:rPr lang="en-US" sz="1700" dirty="0"/>
              <a:t>Detects abnormal recurring payments or misuse of corporate and personal </a:t>
            </a:r>
            <a:r>
              <a:rPr lang="en-US" sz="1800" dirty="0"/>
              <a:t>funds.</a:t>
            </a:r>
          </a:p>
        </p:txBody>
      </p:sp>
    </p:spTree>
    <p:extLst>
      <p:ext uri="{BB962C8B-B14F-4D97-AF65-F5344CB8AC3E}">
        <p14:creationId xmlns:p14="http://schemas.microsoft.com/office/powerpoint/2010/main" val="2878873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E792BA24-28B1-C55D-EB49-069F428727F9}"/>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FF42FD0D-EF76-D16A-D131-B51E7B90A4E6}"/>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Base paper details</a:t>
            </a:r>
            <a:endParaRPr dirty="0"/>
          </a:p>
        </p:txBody>
      </p:sp>
      <p:sp>
        <p:nvSpPr>
          <p:cNvPr id="57" name="Google Shape;57;g32a3e1ea9ea_0_31">
            <a:extLst>
              <a:ext uri="{FF2B5EF4-FFF2-40B4-BE49-F238E27FC236}">
                <a16:creationId xmlns:a16="http://schemas.microsoft.com/office/drawing/2014/main" id="{88EB541B-5B75-AC3A-12E6-04B06F2B08B1}"/>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8</a:t>
            </a:fld>
            <a:endParaRPr/>
          </a:p>
        </p:txBody>
      </p:sp>
      <p:sp>
        <p:nvSpPr>
          <p:cNvPr id="58" name="Google Shape;58;g32a3e1ea9ea_0_31">
            <a:extLst>
              <a:ext uri="{FF2B5EF4-FFF2-40B4-BE49-F238E27FC236}">
                <a16:creationId xmlns:a16="http://schemas.microsoft.com/office/drawing/2014/main" id="{5BEE6672-2B98-4C12-F921-6D37AC2CC218}"/>
              </a:ext>
            </a:extLst>
          </p:cNvPr>
          <p:cNvSpPr txBox="1">
            <a:spLocks noGrp="1"/>
          </p:cNvSpPr>
          <p:nvPr>
            <p:ph type="body" idx="1"/>
          </p:nvPr>
        </p:nvSpPr>
        <p:spPr>
          <a:xfrm>
            <a:off x="44605" y="554985"/>
            <a:ext cx="8763000" cy="4588515"/>
          </a:xfrm>
          <a:prstGeom prst="rect">
            <a:avLst/>
          </a:prstGeom>
          <a:noFill/>
          <a:ln>
            <a:noFill/>
          </a:ln>
        </p:spPr>
        <p:txBody>
          <a:bodyPr spcFirstLastPara="1" wrap="square" lIns="91425" tIns="91425" rIns="91425" bIns="91425" anchor="t" anchorCtr="0">
            <a:normAutofit fontScale="92500" lnSpcReduction="10000"/>
          </a:bodyPr>
          <a:lstStyle/>
          <a:p>
            <a:pPr>
              <a:lnSpc>
                <a:spcPct val="160000"/>
              </a:lnSpc>
            </a:pPr>
            <a:r>
              <a:rPr lang="en-US" sz="1800" b="1" dirty="0"/>
              <a:t>Title:</a:t>
            </a:r>
            <a:br>
              <a:rPr lang="en-US" sz="1800" dirty="0"/>
            </a:br>
            <a:r>
              <a:rPr lang="en-US" sz="1800" i="1" dirty="0"/>
              <a:t>Credit Card Fraud Detection Based on Improved Variational Autoencoder Generative Adversarial Network</a:t>
            </a:r>
            <a:endParaRPr lang="en-US" sz="1800" dirty="0"/>
          </a:p>
          <a:p>
            <a:pPr algn="just">
              <a:lnSpc>
                <a:spcPct val="160000"/>
              </a:lnSpc>
            </a:pPr>
            <a:r>
              <a:rPr lang="en-US" sz="1800" b="1" dirty="0"/>
              <a:t>Journal:</a:t>
            </a:r>
            <a:r>
              <a:rPr lang="en-US" sz="1800" dirty="0"/>
              <a:t> IEEE Access (2023)</a:t>
            </a:r>
          </a:p>
          <a:p>
            <a:pPr algn="just">
              <a:lnSpc>
                <a:spcPct val="160000"/>
              </a:lnSpc>
            </a:pPr>
            <a:r>
              <a:rPr lang="en-US" sz="1800" b="1" dirty="0"/>
              <a:t>Motivation:</a:t>
            </a:r>
            <a:endParaRPr lang="en-US" sz="1800" dirty="0"/>
          </a:p>
          <a:p>
            <a:pPr marL="571500" indent="-342900" algn="just">
              <a:lnSpc>
                <a:spcPct val="160000"/>
              </a:lnSpc>
              <a:buFont typeface="Arial" panose="020B0604020202020204" pitchFamily="34" charset="0"/>
              <a:buChar char="•"/>
            </a:pPr>
            <a:r>
              <a:rPr lang="en-US" sz="1800" dirty="0"/>
              <a:t>Credit card fraud detection suffers from </a:t>
            </a:r>
            <a:r>
              <a:rPr lang="en-US" sz="1800" b="1" dirty="0"/>
              <a:t>severe class imbalance</a:t>
            </a:r>
            <a:r>
              <a:rPr lang="en-US" sz="1800" dirty="0"/>
              <a:t>, where fraudulent transactions are very rare.</a:t>
            </a:r>
          </a:p>
          <a:p>
            <a:pPr marL="571500" indent="-342900" algn="just">
              <a:lnSpc>
                <a:spcPct val="160000"/>
              </a:lnSpc>
              <a:buFont typeface="Arial" panose="020B0604020202020204" pitchFamily="34" charset="0"/>
              <a:buChar char="•"/>
            </a:pPr>
            <a:r>
              <a:rPr lang="en-US" sz="1800" dirty="0"/>
              <a:t>Traditional machine learning models perform poorly due to </a:t>
            </a:r>
            <a:r>
              <a:rPr lang="en-US" sz="1800" b="1" dirty="0"/>
              <a:t>insufficient fraud samples</a:t>
            </a:r>
            <a:r>
              <a:rPr lang="en-US" sz="1800" dirty="0"/>
              <a:t>.</a:t>
            </a:r>
          </a:p>
          <a:p>
            <a:pPr algn="just">
              <a:lnSpc>
                <a:spcPct val="160000"/>
              </a:lnSpc>
            </a:pPr>
            <a:r>
              <a:rPr lang="en-US" sz="1800" b="1" dirty="0"/>
              <a:t>Problem Addressed:</a:t>
            </a:r>
            <a:endParaRPr lang="en-US" sz="1800" dirty="0"/>
          </a:p>
          <a:p>
            <a:pPr marL="571500" indent="-342900" algn="just">
              <a:lnSpc>
                <a:spcPct val="160000"/>
              </a:lnSpc>
              <a:buFont typeface="Arial" panose="020B0604020202020204" pitchFamily="34" charset="0"/>
              <a:buChar char="•"/>
            </a:pPr>
            <a:r>
              <a:rPr lang="en-US" sz="1800" dirty="0"/>
              <a:t>How to improve fraud detection performance when the dataset contains </a:t>
            </a:r>
            <a:r>
              <a:rPr lang="en-US" sz="1800" b="1" dirty="0"/>
              <a:t>very few fraud instances</a:t>
            </a:r>
            <a:r>
              <a:rPr lang="en-US" sz="1800" dirty="0"/>
              <a:t>.</a:t>
            </a:r>
          </a:p>
        </p:txBody>
      </p:sp>
    </p:spTree>
    <p:extLst>
      <p:ext uri="{BB962C8B-B14F-4D97-AF65-F5344CB8AC3E}">
        <p14:creationId xmlns:p14="http://schemas.microsoft.com/office/powerpoint/2010/main" val="2686574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8A45C1D5-231B-6ADC-5985-9E884D3D6A0B}"/>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23C0592E-541A-DF61-F889-C13C3CFC5F92}"/>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Base paper details</a:t>
            </a:r>
            <a:endParaRPr dirty="0"/>
          </a:p>
        </p:txBody>
      </p:sp>
      <p:sp>
        <p:nvSpPr>
          <p:cNvPr id="57" name="Google Shape;57;g32a3e1ea9ea_0_31">
            <a:extLst>
              <a:ext uri="{FF2B5EF4-FFF2-40B4-BE49-F238E27FC236}">
                <a16:creationId xmlns:a16="http://schemas.microsoft.com/office/drawing/2014/main" id="{965EC3F2-5F06-15C1-3D7B-701A03B572EA}"/>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9</a:t>
            </a:fld>
            <a:endParaRPr/>
          </a:p>
        </p:txBody>
      </p:sp>
      <p:sp>
        <p:nvSpPr>
          <p:cNvPr id="58" name="Google Shape;58;g32a3e1ea9ea_0_31">
            <a:extLst>
              <a:ext uri="{FF2B5EF4-FFF2-40B4-BE49-F238E27FC236}">
                <a16:creationId xmlns:a16="http://schemas.microsoft.com/office/drawing/2014/main" id="{9A53401E-F11D-E4BC-05B7-4A048875BEEE}"/>
              </a:ext>
            </a:extLst>
          </p:cNvPr>
          <p:cNvSpPr txBox="1">
            <a:spLocks noGrp="1"/>
          </p:cNvSpPr>
          <p:nvPr>
            <p:ph type="body" idx="1"/>
          </p:nvPr>
        </p:nvSpPr>
        <p:spPr>
          <a:xfrm>
            <a:off x="44605" y="554985"/>
            <a:ext cx="8763000" cy="4588515"/>
          </a:xfrm>
          <a:prstGeom prst="rect">
            <a:avLst/>
          </a:prstGeom>
          <a:noFill/>
          <a:ln>
            <a:noFill/>
          </a:ln>
        </p:spPr>
        <p:txBody>
          <a:bodyPr spcFirstLastPara="1" wrap="square" lIns="91425" tIns="91425" rIns="91425" bIns="91425" anchor="t" anchorCtr="0">
            <a:normAutofit fontScale="92500"/>
          </a:bodyPr>
          <a:lstStyle/>
          <a:p>
            <a:pPr>
              <a:lnSpc>
                <a:spcPct val="150000"/>
              </a:lnSpc>
            </a:pPr>
            <a:r>
              <a:rPr lang="en-US" sz="2000" b="1" dirty="0"/>
              <a:t>Methodology &amp; Contributions:</a:t>
            </a:r>
          </a:p>
          <a:p>
            <a:pPr>
              <a:lnSpc>
                <a:spcPct val="150000"/>
              </a:lnSpc>
            </a:pPr>
            <a:r>
              <a:rPr lang="en-US" sz="2000" b="1" dirty="0"/>
              <a:t>Proposed Method:</a:t>
            </a:r>
            <a:endParaRPr lang="en-US" sz="2000" dirty="0"/>
          </a:p>
          <a:p>
            <a:pPr marL="571500" indent="-342900">
              <a:lnSpc>
                <a:spcPct val="150000"/>
              </a:lnSpc>
              <a:buFont typeface="Arial" panose="020B0604020202020204" pitchFamily="34" charset="0"/>
              <a:buChar char="•"/>
            </a:pPr>
            <a:r>
              <a:rPr lang="en-US" sz="2000" dirty="0"/>
              <a:t>Introduces an </a:t>
            </a:r>
            <a:r>
              <a:rPr lang="en-US" sz="2000" b="1" dirty="0"/>
              <a:t>Improved VAE-GAN model</a:t>
            </a:r>
            <a:r>
              <a:rPr lang="en-US" sz="2000" dirty="0"/>
              <a:t> for synthetic fraud data generation.</a:t>
            </a:r>
          </a:p>
          <a:p>
            <a:pPr marL="571500" indent="-342900">
              <a:lnSpc>
                <a:spcPct val="150000"/>
              </a:lnSpc>
              <a:buFont typeface="Arial" panose="020B0604020202020204" pitchFamily="34" charset="0"/>
              <a:buChar char="•"/>
            </a:pPr>
            <a:r>
              <a:rPr lang="en-US" sz="2000" dirty="0"/>
              <a:t>The </a:t>
            </a:r>
            <a:r>
              <a:rPr lang="en-US" sz="2000" b="1" dirty="0"/>
              <a:t>Variational Autoencoder (VAE)</a:t>
            </a:r>
            <a:r>
              <a:rPr lang="en-US" sz="2000" dirty="0"/>
              <a:t> captures latent fraud patterns.</a:t>
            </a:r>
          </a:p>
          <a:p>
            <a:pPr marL="571500" indent="-342900">
              <a:lnSpc>
                <a:spcPct val="150000"/>
              </a:lnSpc>
              <a:buFont typeface="Arial" panose="020B0604020202020204" pitchFamily="34" charset="0"/>
              <a:buChar char="•"/>
            </a:pPr>
            <a:r>
              <a:rPr lang="en-US" sz="2000" dirty="0"/>
              <a:t>The </a:t>
            </a:r>
            <a:r>
              <a:rPr lang="en-US" sz="2000" b="1" dirty="0"/>
              <a:t>GAN</a:t>
            </a:r>
            <a:r>
              <a:rPr lang="en-US" sz="2000" dirty="0"/>
              <a:t> generates realistic fraud samples to balance the dataset.</a:t>
            </a:r>
          </a:p>
          <a:p>
            <a:pPr marL="571500" indent="-342900">
              <a:lnSpc>
                <a:spcPct val="150000"/>
              </a:lnSpc>
              <a:buFont typeface="Arial" panose="020B0604020202020204" pitchFamily="34" charset="0"/>
              <a:buChar char="•"/>
            </a:pPr>
            <a:r>
              <a:rPr lang="en-US" sz="2000" dirty="0"/>
              <a:t>Synthetic fraud samples are combined with real data for training.</a:t>
            </a:r>
          </a:p>
          <a:p>
            <a:pPr>
              <a:lnSpc>
                <a:spcPct val="150000"/>
              </a:lnSpc>
            </a:pPr>
            <a:r>
              <a:rPr lang="en-US" sz="2000" b="1" dirty="0"/>
              <a:t>Key Contributions:</a:t>
            </a:r>
            <a:endParaRPr lang="en-US" sz="2000" dirty="0"/>
          </a:p>
          <a:p>
            <a:pPr marL="571500" indent="-342900">
              <a:lnSpc>
                <a:spcPct val="150000"/>
              </a:lnSpc>
              <a:buFont typeface="Arial" panose="020B0604020202020204" pitchFamily="34" charset="0"/>
              <a:buChar char="•"/>
            </a:pPr>
            <a:r>
              <a:rPr lang="en-US" sz="2000" dirty="0"/>
              <a:t>Effective handling of imbalanced fraud datasets.</a:t>
            </a:r>
          </a:p>
          <a:p>
            <a:pPr marL="571500" indent="-342900">
              <a:lnSpc>
                <a:spcPct val="150000"/>
              </a:lnSpc>
              <a:buFont typeface="Arial" panose="020B0604020202020204" pitchFamily="34" charset="0"/>
              <a:buChar char="•"/>
            </a:pPr>
            <a:r>
              <a:rPr lang="en-US" sz="2000" dirty="0"/>
              <a:t>Improved fraud detection accuracy compared to traditional classifiers.</a:t>
            </a:r>
          </a:p>
          <a:p>
            <a:pPr marL="571500" indent="-342900">
              <a:lnSpc>
                <a:spcPct val="150000"/>
              </a:lnSpc>
              <a:buFont typeface="Arial" panose="020B0604020202020204" pitchFamily="34" charset="0"/>
              <a:buChar char="•"/>
            </a:pPr>
            <a:r>
              <a:rPr lang="en-US" sz="2000" dirty="0"/>
              <a:t>Demonstrates the usefulness of generative models in financial fraud detection.</a:t>
            </a:r>
          </a:p>
          <a:p>
            <a:pPr marL="146368" lvl="0" indent="0" algn="l" rtl="0">
              <a:lnSpc>
                <a:spcPct val="115000"/>
              </a:lnSpc>
              <a:spcBef>
                <a:spcPts val="0"/>
              </a:spcBef>
              <a:spcAft>
                <a:spcPts val="0"/>
              </a:spcAft>
              <a:buClr>
                <a:srgbClr val="595959"/>
              </a:buClr>
              <a:buSzPct val="58333"/>
            </a:pPr>
            <a:endParaRPr lang="en-IN" sz="2000" b="1" i="0" u="none" dirty="0">
              <a:solidFill>
                <a:srgbClr val="595959"/>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4001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887E4D95-9B90-5CD5-5578-AA0F30E17AE9}"/>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6C55AAB4-6EF3-90A5-6924-CE9D37503E1C}"/>
              </a:ext>
            </a:extLst>
          </p:cNvPr>
          <p:cNvSpPr txBox="1">
            <a:spLocks noGrp="1"/>
          </p:cNvSpPr>
          <p:nvPr>
            <p:ph type="ctrTitle"/>
          </p:nvPr>
        </p:nvSpPr>
        <p:spPr>
          <a:xfrm>
            <a:off x="0" y="1"/>
            <a:ext cx="9144000" cy="393700"/>
          </a:xfrm>
          <a:prstGeom prst="rect">
            <a:avLst/>
          </a:prstGeom>
          <a:noFill/>
          <a:ln>
            <a:noFill/>
          </a:ln>
        </p:spPr>
        <p:txBody>
          <a:bodyPr spcFirstLastPara="1" wrap="square" lIns="91425" tIns="91425" rIns="91425" bIns="91425" anchor="t" anchorCtr="0">
            <a:noAutofit/>
          </a:bodyPr>
          <a:lstStyle/>
          <a:p>
            <a:pPr algn="l"/>
            <a:r>
              <a:rPr lang="en-IN" sz="2400" dirty="0"/>
              <a:t>Comparison with Base paper</a:t>
            </a:r>
            <a:r>
              <a:rPr lang="en-US" sz="2400" dirty="0"/>
              <a:t>(Base Paper vs Our Project):</a:t>
            </a:r>
            <a:br>
              <a:rPr lang="en-US" sz="2400" dirty="0"/>
            </a:br>
            <a:endParaRPr sz="2400" dirty="0"/>
          </a:p>
        </p:txBody>
      </p:sp>
      <p:sp>
        <p:nvSpPr>
          <p:cNvPr id="44" name="Google Shape;44;p3">
            <a:extLst>
              <a:ext uri="{FF2B5EF4-FFF2-40B4-BE49-F238E27FC236}">
                <a16:creationId xmlns:a16="http://schemas.microsoft.com/office/drawing/2014/main" id="{E17B29A8-2984-8C8B-5B03-04D2FBD73F37}"/>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10</a:t>
            </a:fld>
            <a:endParaRPr/>
          </a:p>
        </p:txBody>
      </p:sp>
      <p:sp>
        <p:nvSpPr>
          <p:cNvPr id="2" name="Text Placeholder 1">
            <a:extLst>
              <a:ext uri="{FF2B5EF4-FFF2-40B4-BE49-F238E27FC236}">
                <a16:creationId xmlns:a16="http://schemas.microsoft.com/office/drawing/2014/main" id="{0F36C274-3E94-1E68-6D06-BBED8116EAB3}"/>
              </a:ext>
            </a:extLst>
          </p:cNvPr>
          <p:cNvSpPr>
            <a:spLocks noGrp="1" noChangeArrowheads="1"/>
          </p:cNvSpPr>
          <p:nvPr>
            <p:ph type="body" idx="1"/>
          </p:nvPr>
        </p:nvSpPr>
        <p:spPr bwMode="auto">
          <a:xfrm>
            <a:off x="122238" y="363780"/>
            <a:ext cx="8966760"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Base Paper:</a:t>
            </a:r>
            <a:br>
              <a:rPr kumimoji="0" lang="en-US" altLang="en-US" sz="1800" i="0" u="none" strike="noStrike" cap="none" normalizeH="0" baseline="0" dirty="0">
                <a:ln>
                  <a:noFill/>
                </a:ln>
                <a:solidFill>
                  <a:schemeClr val="tx1"/>
                </a:solidFill>
                <a:effectLst/>
                <a:latin typeface="Arial" panose="020B0604020202020204" pitchFamily="34" charset="0"/>
              </a:rPr>
            </a:br>
            <a:r>
              <a:rPr kumimoji="0" lang="en-US" altLang="en-US" sz="1800" i="1" u="none" strike="noStrike" cap="none" normalizeH="0" baseline="0" dirty="0">
                <a:ln>
                  <a:noFill/>
                </a:ln>
                <a:solidFill>
                  <a:schemeClr val="tx1"/>
                </a:solidFill>
                <a:effectLst/>
                <a:latin typeface="Arial" panose="020B0604020202020204" pitchFamily="34" charset="0"/>
              </a:rPr>
              <a:t>“Credit Card Fraud Detection Based on Improved Variational Autoencoder Generative Adversarial Network”</a:t>
            </a:r>
            <a:r>
              <a:rPr lang="en-US" altLang="en-US" sz="1800" dirty="0">
                <a:solidFill>
                  <a:schemeClr val="tx1"/>
                </a:solidFill>
                <a:latin typeface="Arial" panose="020B0604020202020204" pitchFamily="34" charset="0"/>
              </a:rPr>
              <a:t>-</a:t>
            </a:r>
            <a:r>
              <a:rPr kumimoji="0" lang="en-US" altLang="en-US" sz="1800" i="0" u="none" strike="noStrike" cap="none" normalizeH="0" baseline="0" dirty="0">
                <a:ln>
                  <a:noFill/>
                </a:ln>
                <a:solidFill>
                  <a:schemeClr val="tx1"/>
                </a:solidFill>
                <a:effectLst/>
                <a:latin typeface="Arial" panose="020B0604020202020204" pitchFamily="34" charset="0"/>
              </a:rPr>
              <a:t>IEEE Access</a:t>
            </a:r>
            <a:r>
              <a:rPr lang="en-US" altLang="en-US" sz="1800" dirty="0">
                <a:solidFill>
                  <a:schemeClr val="tx1"/>
                </a:solidFill>
                <a:latin typeface="Arial" panose="020B0604020202020204" pitchFamily="34" charset="0"/>
              </a:rPr>
              <a:t>, 2023 (</a:t>
            </a:r>
            <a:r>
              <a:rPr lang="en-IN" sz="1800" dirty="0"/>
              <a:t>https://ieeexplore.ieee.org/doc/10210017)</a:t>
            </a:r>
            <a:endParaRPr lang="en-US" altLang="en-US" sz="1800" dirty="0">
              <a:solidFill>
                <a:schemeClr val="tx1"/>
              </a:solidFill>
              <a:latin typeface="Arial" panose="020B0604020202020204" pitchFamily="34" charset="0"/>
            </a:endParaRPr>
          </a:p>
          <a:p>
            <a:pPr marL="0" lvl="0" indent="0" eaLnBrk="0" fontAlgn="base" hangingPunct="0">
              <a:lnSpc>
                <a:spcPct val="15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Student Project:</a:t>
            </a:r>
            <a:br>
              <a:rPr kumimoji="0" lang="en-US" altLang="en-US" sz="1800" i="0" u="none" strike="noStrike" cap="none" normalizeH="0" baseline="0" dirty="0">
                <a:ln>
                  <a:noFill/>
                </a:ln>
                <a:solidFill>
                  <a:schemeClr val="tx1"/>
                </a:solidFill>
                <a:effectLst/>
                <a:latin typeface="Arial" panose="020B0604020202020204" pitchFamily="34" charset="0"/>
              </a:rPr>
            </a:br>
            <a:r>
              <a:rPr kumimoji="0" lang="en-US" altLang="en-US" sz="1800" i="0" u="none" strike="noStrike" cap="none" normalizeH="0" baseline="0" dirty="0">
                <a:ln>
                  <a:noFill/>
                </a:ln>
                <a:solidFill>
                  <a:schemeClr val="tx1"/>
                </a:solidFill>
                <a:effectLst/>
                <a:latin typeface="Arial" panose="020B0604020202020204" pitchFamily="34" charset="0"/>
              </a:rPr>
              <a:t>“UPI Transaction Based Fraud Detection System Using Generative AI and Machine Learning Techniques”</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Comparison: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Base paper focuses on credit card fraud detection using VAE-GAN in an offline setup → Student project focuses on UPI transaction fraud detection with real-time inference.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Base paper uses VAE-GAN without explicit behavioral conditioning </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 Student project uses Conditional GAN (CGAN) with transaction-based conditioning.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78242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E48687FC-8781-B326-9CA7-A94A08632C2D}"/>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BF1BAEB6-29B6-8E08-4C96-846A9287F569}"/>
              </a:ext>
            </a:extLst>
          </p:cNvPr>
          <p:cNvSpPr txBox="1">
            <a:spLocks noGrp="1"/>
          </p:cNvSpPr>
          <p:nvPr>
            <p:ph type="ctrTitle"/>
          </p:nvPr>
        </p:nvSpPr>
        <p:spPr>
          <a:xfrm>
            <a:off x="0" y="1"/>
            <a:ext cx="9144000" cy="393700"/>
          </a:xfrm>
          <a:prstGeom prst="rect">
            <a:avLst/>
          </a:prstGeom>
          <a:noFill/>
          <a:ln>
            <a:noFill/>
          </a:ln>
        </p:spPr>
        <p:txBody>
          <a:bodyPr spcFirstLastPara="1" wrap="square" lIns="91425" tIns="91425" rIns="91425" bIns="91425" anchor="t" anchorCtr="0">
            <a:noAutofit/>
          </a:bodyPr>
          <a:lstStyle/>
          <a:p>
            <a:pPr algn="l"/>
            <a:r>
              <a:rPr lang="en-IN" sz="2400" dirty="0"/>
              <a:t>Comparison with Base paper</a:t>
            </a:r>
            <a:r>
              <a:rPr lang="en-US" sz="2400" dirty="0"/>
              <a:t>(Base Paper vs Our Project):</a:t>
            </a:r>
            <a:br>
              <a:rPr lang="en-US" sz="2400" dirty="0"/>
            </a:br>
            <a:endParaRPr sz="2400" dirty="0"/>
          </a:p>
        </p:txBody>
      </p:sp>
      <p:sp>
        <p:nvSpPr>
          <p:cNvPr id="44" name="Google Shape;44;p3">
            <a:extLst>
              <a:ext uri="{FF2B5EF4-FFF2-40B4-BE49-F238E27FC236}">
                <a16:creationId xmlns:a16="http://schemas.microsoft.com/office/drawing/2014/main" id="{429251A3-B130-A7D0-768F-8735746AFF3D}"/>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11</a:t>
            </a:fld>
            <a:endParaRPr/>
          </a:p>
        </p:txBody>
      </p:sp>
      <p:sp>
        <p:nvSpPr>
          <p:cNvPr id="3" name="Rectangle 1">
            <a:extLst>
              <a:ext uri="{FF2B5EF4-FFF2-40B4-BE49-F238E27FC236}">
                <a16:creationId xmlns:a16="http://schemas.microsoft.com/office/drawing/2014/main" id="{B10603B2-E43B-1DA6-6548-9481725DB787}"/>
              </a:ext>
            </a:extLst>
          </p:cNvPr>
          <p:cNvSpPr>
            <a:spLocks noGrp="1" noChangeArrowheads="1"/>
          </p:cNvSpPr>
          <p:nvPr>
            <p:ph type="body" idx="1"/>
          </p:nvPr>
        </p:nvSpPr>
        <p:spPr bwMode="auto">
          <a:xfrm>
            <a:off x="126999" y="560269"/>
            <a:ext cx="8922263" cy="3831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Base paper primarily aims to </a:t>
            </a:r>
            <a:r>
              <a:rPr kumimoji="0" lang="en-US" altLang="en-US" sz="1800" b="1" i="0" u="none" strike="noStrike" cap="none" normalizeH="0" baseline="0" dirty="0">
                <a:ln>
                  <a:noFill/>
                </a:ln>
                <a:solidFill>
                  <a:schemeClr val="tx1"/>
                </a:solidFill>
                <a:effectLst/>
                <a:latin typeface="Arial" panose="020B0604020202020204" pitchFamily="34" charset="0"/>
              </a:rPr>
              <a:t>improve classification accuracy</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Student project aims to </a:t>
            </a:r>
            <a:r>
              <a:rPr lang="en-US" altLang="en-US" sz="1800" b="1" dirty="0">
                <a:solidFill>
                  <a:schemeClr val="tx1"/>
                </a:solidFill>
                <a:latin typeface="Arial" panose="020B0604020202020204" pitchFamily="34" charset="0"/>
              </a:rPr>
              <a:t>detect</a:t>
            </a:r>
            <a:r>
              <a:rPr kumimoji="0" lang="en-US" altLang="en-US" sz="1800" b="1" i="0" u="none" strike="noStrike" cap="none" normalizeH="0" baseline="0" dirty="0">
                <a:ln>
                  <a:noFill/>
                </a:ln>
                <a:solidFill>
                  <a:schemeClr val="tx1"/>
                </a:solidFill>
                <a:effectLst/>
                <a:latin typeface="Arial" panose="020B0604020202020204" pitchFamily="34" charset="0"/>
              </a:rPr>
              <a:t> fraudulent UPI transactions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Base paper does </a:t>
            </a:r>
            <a:r>
              <a:rPr kumimoji="0" lang="en-US" altLang="en-US" sz="1800" b="1" i="0" u="none" strike="noStrike" cap="none" normalizeH="0" baseline="0" dirty="0">
                <a:ln>
                  <a:noFill/>
                </a:ln>
                <a:solidFill>
                  <a:schemeClr val="tx1"/>
                </a:solidFill>
                <a:effectLst/>
                <a:latin typeface="Arial" panose="020B0604020202020204" pitchFamily="34" charset="0"/>
              </a:rPr>
              <a:t>not provide explainability for decisions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Student project integrates </a:t>
            </a:r>
            <a:r>
              <a:rPr kumimoji="0" lang="en-US" altLang="en-US" sz="1800" b="1" i="0" u="none" strike="noStrike" cap="none" normalizeH="0" baseline="0" dirty="0">
                <a:ln>
                  <a:noFill/>
                </a:ln>
                <a:solidFill>
                  <a:schemeClr val="tx1"/>
                </a:solidFill>
                <a:effectLst/>
                <a:latin typeface="Arial" panose="020B0604020202020204" pitchFamily="34" charset="0"/>
              </a:rPr>
              <a:t>SHAP-based explainable AI</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Base paper is </a:t>
            </a:r>
            <a:r>
              <a:rPr kumimoji="0" lang="en-US" altLang="en-US" sz="1800" b="1" i="0" u="none" strike="noStrike" cap="none" normalizeH="0" baseline="0" dirty="0">
                <a:ln>
                  <a:noFill/>
                </a:ln>
                <a:solidFill>
                  <a:schemeClr val="tx1"/>
                </a:solidFill>
                <a:effectLst/>
                <a:latin typeface="Arial" panose="020B0604020202020204" pitchFamily="34" charset="0"/>
              </a:rPr>
              <a:t>research-oriented and dataset-centric</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Student project delivers a </a:t>
            </a:r>
            <a:r>
              <a:rPr kumimoji="0" lang="en-US" altLang="en-US" sz="1800" b="1" i="0" u="none" strike="noStrike" cap="none" normalizeH="0" baseline="0" dirty="0">
                <a:ln>
                  <a:noFill/>
                </a:ln>
                <a:solidFill>
                  <a:schemeClr val="tx1"/>
                </a:solidFill>
                <a:effectLst/>
                <a:latin typeface="Arial" panose="020B0604020202020204" pitchFamily="34" charset="0"/>
              </a:rPr>
              <a:t>complete end-to-end system (UI + backend + trained model)</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Base paper evaluates performance offline </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Student project supports </a:t>
            </a:r>
            <a:r>
              <a:rPr kumimoji="0" lang="en-US" altLang="en-US" sz="1800" b="1" i="0" u="none" strike="noStrike" cap="none" normalizeH="0" baseline="0" dirty="0">
                <a:ln>
                  <a:noFill/>
                </a:ln>
                <a:solidFill>
                  <a:schemeClr val="tx1"/>
                </a:solidFill>
                <a:effectLst/>
                <a:latin typeface="Arial" panose="020B0604020202020204" pitchFamily="34" charset="0"/>
              </a:rPr>
              <a:t>deployment-ready fraud detection for real-world use</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96710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A0C1304B-E03C-8903-D002-0706EEED05FF}"/>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2589EB08-967C-C56D-0967-33712A36F7C2}"/>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0841F032-491B-A16B-BD40-8CC55E4BBE7E}"/>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12</a:t>
            </a:fld>
            <a:endParaRPr/>
          </a:p>
        </p:txBody>
      </p:sp>
      <p:sp>
        <p:nvSpPr>
          <p:cNvPr id="45" name="Google Shape;45;p3">
            <a:extLst>
              <a:ext uri="{FF2B5EF4-FFF2-40B4-BE49-F238E27FC236}">
                <a16:creationId xmlns:a16="http://schemas.microsoft.com/office/drawing/2014/main" id="{FA2DB6E5-5B84-C64C-AD8C-83B6D5466B3C}"/>
              </a:ext>
            </a:extLst>
          </p:cNvPr>
          <p:cNvSpPr txBox="1">
            <a:spLocks noGrp="1"/>
          </p:cNvSpPr>
          <p:nvPr>
            <p:ph type="body" idx="1"/>
          </p:nvPr>
        </p:nvSpPr>
        <p:spPr>
          <a:xfrm>
            <a:off x="122238" y="482600"/>
            <a:ext cx="9021762" cy="4660899"/>
          </a:xfrm>
          <a:prstGeom prst="rect">
            <a:avLst/>
          </a:prstGeom>
          <a:noFill/>
          <a:ln>
            <a:noFill/>
          </a:ln>
        </p:spPr>
        <p:txBody>
          <a:bodyPr spcFirstLastPara="1" wrap="square" lIns="91425" tIns="91425" rIns="91425" bIns="91425" anchor="t" anchorCtr="0">
            <a:noAutofit/>
          </a:bodyPr>
          <a:lstStyle/>
          <a:p>
            <a:pPr algn="just">
              <a:lnSpc>
                <a:spcPct val="150000"/>
              </a:lnSpc>
            </a:pPr>
            <a:r>
              <a:rPr lang="en-IN" sz="1800" b="1" dirty="0"/>
              <a:t>1. Credit Card Fraud Detection Based on Improved VAE-GAN</a:t>
            </a:r>
          </a:p>
          <a:p>
            <a:pPr algn="just">
              <a:lnSpc>
                <a:spcPct val="150000"/>
              </a:lnSpc>
            </a:pPr>
            <a:r>
              <a:rPr lang="en-IN" sz="1800" b="1" dirty="0"/>
              <a:t>Year:</a:t>
            </a:r>
            <a:r>
              <a:rPr lang="en-IN" sz="1800" dirty="0"/>
              <a:t> 2023 | Journal: </a:t>
            </a:r>
            <a:r>
              <a:rPr lang="en-IN" sz="1800" b="1" dirty="0"/>
              <a:t>IEEE Access</a:t>
            </a:r>
            <a:endParaRPr lang="en-IN" sz="1800" dirty="0"/>
          </a:p>
          <a:p>
            <a:pPr marL="514350" indent="-285750" algn="just">
              <a:lnSpc>
                <a:spcPct val="150000"/>
              </a:lnSpc>
              <a:buFont typeface="Arial" panose="020B0604020202020204" pitchFamily="34" charset="0"/>
              <a:buChar char="•"/>
            </a:pPr>
            <a:r>
              <a:rPr lang="en-IN" sz="1800" dirty="0"/>
              <a:t>Uses Variational Autoencoder + GAN to generate synthetic fraud data.</a:t>
            </a:r>
          </a:p>
          <a:p>
            <a:pPr marL="514350" indent="-285750" algn="just">
              <a:lnSpc>
                <a:spcPct val="150000"/>
              </a:lnSpc>
              <a:buFont typeface="Arial" panose="020B0604020202020204" pitchFamily="34" charset="0"/>
              <a:buChar char="•"/>
            </a:pPr>
            <a:r>
              <a:rPr lang="en-IN" sz="1800" dirty="0"/>
              <a:t>Aims to improve classifier accuracy on imbalanced credit card datasets.</a:t>
            </a:r>
          </a:p>
          <a:p>
            <a:pPr marL="514350" indent="-285750" algn="just">
              <a:lnSpc>
                <a:spcPct val="150000"/>
              </a:lnSpc>
              <a:buFont typeface="Arial" panose="020B0604020202020204" pitchFamily="34" charset="0"/>
              <a:buChar char="•"/>
            </a:pPr>
            <a:r>
              <a:rPr lang="en-IN" sz="1800" dirty="0"/>
              <a:t>Shows generative augmentation enhances recall and F1.</a:t>
            </a:r>
          </a:p>
          <a:p>
            <a:pPr algn="just">
              <a:lnSpc>
                <a:spcPct val="150000"/>
              </a:lnSpc>
            </a:pPr>
            <a:r>
              <a:rPr lang="en-IN" sz="1800" b="1" dirty="0"/>
              <a:t>2. GAN-Based Hybrid Sampling Method for Transaction Fraud</a:t>
            </a:r>
          </a:p>
          <a:p>
            <a:pPr algn="just">
              <a:lnSpc>
                <a:spcPct val="150000"/>
              </a:lnSpc>
            </a:pPr>
            <a:r>
              <a:rPr lang="en-IN" sz="1800" b="1" dirty="0"/>
              <a:t>Year:</a:t>
            </a:r>
            <a:r>
              <a:rPr lang="en-IN" sz="1800" dirty="0"/>
              <a:t> 2025 | Journal: </a:t>
            </a:r>
            <a:r>
              <a:rPr lang="en-IN" sz="1800" i="1" dirty="0"/>
              <a:t>IEEE Transactions (Computer Society)</a:t>
            </a:r>
            <a:endParaRPr lang="en-IN" sz="1800" dirty="0"/>
          </a:p>
          <a:p>
            <a:pPr marL="514350" indent="-285750" algn="just">
              <a:lnSpc>
                <a:spcPct val="150000"/>
              </a:lnSpc>
              <a:buFont typeface="Arial" panose="020B0604020202020204" pitchFamily="34" charset="0"/>
              <a:buChar char="•"/>
            </a:pPr>
            <a:r>
              <a:rPr lang="en-IN" sz="1800" dirty="0"/>
              <a:t>Combines oversampling and under sampling via advanced generative sampling.</a:t>
            </a:r>
          </a:p>
          <a:p>
            <a:pPr marL="514350" indent="-285750" algn="just">
              <a:lnSpc>
                <a:spcPct val="150000"/>
              </a:lnSpc>
              <a:buFont typeface="Arial" panose="020B0604020202020204" pitchFamily="34" charset="0"/>
              <a:buChar char="•"/>
            </a:pPr>
            <a:r>
              <a:rPr lang="en-IN" sz="1800" dirty="0"/>
              <a:t>Generates synthetic fraud examples to balance imbalanced datasets.</a:t>
            </a:r>
          </a:p>
          <a:p>
            <a:pPr marL="514350" indent="-285750" algn="just">
              <a:lnSpc>
                <a:spcPct val="150000"/>
              </a:lnSpc>
              <a:buFont typeface="Arial" panose="020B0604020202020204" pitchFamily="34" charset="0"/>
              <a:buChar char="•"/>
            </a:pPr>
            <a:r>
              <a:rPr lang="en-IN" sz="1800" dirty="0"/>
              <a:t>Improves quality of generated samples compared to standard GAN.</a:t>
            </a:r>
          </a:p>
        </p:txBody>
      </p:sp>
    </p:spTree>
    <p:extLst>
      <p:ext uri="{BB962C8B-B14F-4D97-AF65-F5344CB8AC3E}">
        <p14:creationId xmlns:p14="http://schemas.microsoft.com/office/powerpoint/2010/main" val="522939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64F652A1-EFAD-6564-CFD7-64EA1E9FC008}"/>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D13DBF06-6FDE-02A4-3D0B-42984382986F}"/>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3797EFC8-2722-D79A-F37D-D738566F4A1A}"/>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13</a:t>
            </a:fld>
            <a:endParaRPr/>
          </a:p>
        </p:txBody>
      </p:sp>
      <p:sp>
        <p:nvSpPr>
          <p:cNvPr id="45" name="Google Shape;45;p3">
            <a:extLst>
              <a:ext uri="{FF2B5EF4-FFF2-40B4-BE49-F238E27FC236}">
                <a16:creationId xmlns:a16="http://schemas.microsoft.com/office/drawing/2014/main" id="{EAA46100-DA87-D175-7AC0-F4DD3215355D}"/>
              </a:ext>
            </a:extLst>
          </p:cNvPr>
          <p:cNvSpPr txBox="1">
            <a:spLocks noGrp="1"/>
          </p:cNvSpPr>
          <p:nvPr>
            <p:ph type="body" idx="1"/>
          </p:nvPr>
        </p:nvSpPr>
        <p:spPr>
          <a:xfrm>
            <a:off x="122238" y="482600"/>
            <a:ext cx="9021762" cy="4660899"/>
          </a:xfrm>
          <a:prstGeom prst="rect">
            <a:avLst/>
          </a:prstGeom>
          <a:noFill/>
          <a:ln>
            <a:noFill/>
          </a:ln>
        </p:spPr>
        <p:txBody>
          <a:bodyPr spcFirstLastPara="1" wrap="square" lIns="91425" tIns="91425" rIns="91425" bIns="91425" anchor="t" anchorCtr="0">
            <a:noAutofit/>
          </a:bodyPr>
          <a:lstStyle/>
          <a:p>
            <a:pPr>
              <a:lnSpc>
                <a:spcPct val="150000"/>
              </a:lnSpc>
            </a:pPr>
            <a:r>
              <a:rPr lang="en-IN" sz="1800" b="1" dirty="0"/>
              <a:t>3. Semi-Supervised Generative Adversarial Networks for Credit Card Fraud Detection</a:t>
            </a:r>
          </a:p>
          <a:p>
            <a:pPr>
              <a:lnSpc>
                <a:spcPct val="150000"/>
              </a:lnSpc>
            </a:pPr>
            <a:r>
              <a:rPr lang="en-IN" sz="1800" b="1" dirty="0"/>
              <a:t>Year:</a:t>
            </a:r>
            <a:r>
              <a:rPr lang="en-IN" sz="1800" dirty="0"/>
              <a:t> 2025 | </a:t>
            </a:r>
            <a:r>
              <a:rPr lang="en-IN" sz="1800" b="1" dirty="0"/>
              <a:t>Journal:</a:t>
            </a:r>
            <a:r>
              <a:rPr lang="en-IN" sz="1800" dirty="0"/>
              <a:t> IEEE Transactions on Artificial Intelligence</a:t>
            </a:r>
          </a:p>
          <a:p>
            <a:pPr marL="514350" indent="-285750" algn="just">
              <a:lnSpc>
                <a:spcPct val="150000"/>
              </a:lnSpc>
              <a:buFont typeface="Arial" panose="020B0604020202020204" pitchFamily="34" charset="0"/>
              <a:buChar char="•"/>
            </a:pPr>
            <a:r>
              <a:rPr lang="en-IN" sz="1800" dirty="0"/>
              <a:t>Proposes a semi-supervised GAN framework for fraud detection.</a:t>
            </a:r>
          </a:p>
          <a:p>
            <a:pPr marL="514350" indent="-285750" algn="just">
              <a:lnSpc>
                <a:spcPct val="150000"/>
              </a:lnSpc>
              <a:buFont typeface="Arial" panose="020B0604020202020204" pitchFamily="34" charset="0"/>
              <a:buChar char="•"/>
            </a:pPr>
            <a:r>
              <a:rPr lang="en-IN" sz="1800" dirty="0"/>
              <a:t>Uses synthetic fraud data to address severe class imbalance.</a:t>
            </a:r>
          </a:p>
          <a:p>
            <a:pPr marL="514350" indent="-285750" algn="just">
              <a:lnSpc>
                <a:spcPct val="150000"/>
              </a:lnSpc>
              <a:buFont typeface="Arial" panose="020B0604020202020204" pitchFamily="34" charset="0"/>
              <a:buChar char="•"/>
            </a:pPr>
            <a:r>
              <a:rPr lang="en-IN" sz="1800" dirty="0"/>
              <a:t>Achieves improved recall and F1-score on imbalanced datasets.</a:t>
            </a:r>
          </a:p>
          <a:p>
            <a:pPr>
              <a:lnSpc>
                <a:spcPct val="150000"/>
              </a:lnSpc>
            </a:pPr>
            <a:r>
              <a:rPr lang="en-IN" sz="1800" b="1" dirty="0"/>
              <a:t>4. GAN-Based Credit Card Fraud Detection Using Denoising Autoencoders</a:t>
            </a:r>
          </a:p>
          <a:p>
            <a:pPr>
              <a:lnSpc>
                <a:spcPct val="150000"/>
              </a:lnSpc>
            </a:pPr>
            <a:r>
              <a:rPr lang="en-IN" sz="1800" b="1" dirty="0"/>
              <a:t>Year:</a:t>
            </a:r>
            <a:r>
              <a:rPr lang="en-IN" sz="1800" dirty="0"/>
              <a:t> 2025 | </a:t>
            </a:r>
            <a:r>
              <a:rPr lang="en-IN" sz="1800" b="1" dirty="0"/>
              <a:t>Journal:</a:t>
            </a:r>
            <a:r>
              <a:rPr lang="en-IN" sz="1800" dirty="0"/>
              <a:t> ESWA (IEEE-indexed Journal)</a:t>
            </a:r>
          </a:p>
          <a:p>
            <a:pPr marL="514350" indent="-285750" algn="just">
              <a:lnSpc>
                <a:spcPct val="150000"/>
              </a:lnSpc>
              <a:buFont typeface="Arial" panose="020B0604020202020204" pitchFamily="34" charset="0"/>
              <a:buChar char="•"/>
            </a:pPr>
            <a:r>
              <a:rPr lang="en-IN" sz="1800" dirty="0"/>
              <a:t>Combines GAN with denoising autoencoders for feature learning.</a:t>
            </a:r>
          </a:p>
          <a:p>
            <a:pPr marL="514350" indent="-285750" algn="just">
              <a:lnSpc>
                <a:spcPct val="150000"/>
              </a:lnSpc>
              <a:buFont typeface="Arial" panose="020B0604020202020204" pitchFamily="34" charset="0"/>
              <a:buChar char="•"/>
            </a:pPr>
            <a:r>
              <a:rPr lang="en-IN" sz="1800" dirty="0"/>
              <a:t>Improves fraud detection accuracy through enhanced feature representation.</a:t>
            </a:r>
          </a:p>
          <a:p>
            <a:pPr marL="514350" indent="-285750" algn="just">
              <a:lnSpc>
                <a:spcPct val="150000"/>
              </a:lnSpc>
              <a:buFont typeface="Arial" panose="020B0604020202020204" pitchFamily="34" charset="0"/>
              <a:buChar char="•"/>
            </a:pPr>
            <a:r>
              <a:rPr lang="en-IN" sz="1800" dirty="0"/>
              <a:t>Demonstrates improved recall and F1-score on benchmark datasets.</a:t>
            </a:r>
          </a:p>
          <a:p>
            <a:pPr>
              <a:lnSpc>
                <a:spcPct val="150000"/>
              </a:lnSpc>
            </a:pPr>
            <a:endParaRPr lang="en-IN" sz="1800" dirty="0"/>
          </a:p>
        </p:txBody>
      </p:sp>
    </p:spTree>
    <p:extLst>
      <p:ext uri="{BB962C8B-B14F-4D97-AF65-F5344CB8AC3E}">
        <p14:creationId xmlns:p14="http://schemas.microsoft.com/office/powerpoint/2010/main" val="1253764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559D2FC1-73A7-4231-0376-9FDD7908F548}"/>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BA711B1D-0C5D-4E73-D8F3-0B83960FC0D5}"/>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0FA3ECF9-CA63-9047-3D1E-B8D833E01AE9}"/>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14</a:t>
            </a:fld>
            <a:endParaRPr/>
          </a:p>
        </p:txBody>
      </p:sp>
      <p:sp>
        <p:nvSpPr>
          <p:cNvPr id="45" name="Google Shape;45;p3">
            <a:extLst>
              <a:ext uri="{FF2B5EF4-FFF2-40B4-BE49-F238E27FC236}">
                <a16:creationId xmlns:a16="http://schemas.microsoft.com/office/drawing/2014/main" id="{4FF4E18C-E17B-44D9-FB52-8FCF9F8B1FBF}"/>
              </a:ext>
            </a:extLst>
          </p:cNvPr>
          <p:cNvSpPr txBox="1">
            <a:spLocks noGrp="1"/>
          </p:cNvSpPr>
          <p:nvPr>
            <p:ph type="body" idx="1"/>
          </p:nvPr>
        </p:nvSpPr>
        <p:spPr>
          <a:xfrm>
            <a:off x="122238" y="482600"/>
            <a:ext cx="9021762" cy="4660899"/>
          </a:xfrm>
          <a:prstGeom prst="rect">
            <a:avLst/>
          </a:prstGeom>
          <a:noFill/>
          <a:ln>
            <a:noFill/>
          </a:ln>
        </p:spPr>
        <p:txBody>
          <a:bodyPr spcFirstLastPara="1" wrap="square" lIns="91425" tIns="91425" rIns="91425" bIns="91425" anchor="t" anchorCtr="0">
            <a:noAutofit/>
          </a:bodyPr>
          <a:lstStyle/>
          <a:p>
            <a:pPr>
              <a:lnSpc>
                <a:spcPct val="150000"/>
              </a:lnSpc>
            </a:pPr>
            <a:r>
              <a:rPr lang="en-US" sz="1800" b="1" dirty="0"/>
              <a:t>5. Explainable Fraud Detection Using Machine Learning and SHAP</a:t>
            </a:r>
          </a:p>
          <a:p>
            <a:pPr>
              <a:lnSpc>
                <a:spcPct val="150000"/>
              </a:lnSpc>
            </a:pPr>
            <a:r>
              <a:rPr lang="en-US" sz="1800" b="1" dirty="0"/>
              <a:t>Year:</a:t>
            </a:r>
            <a:r>
              <a:rPr lang="en-US" sz="1800" dirty="0"/>
              <a:t> 2024 | </a:t>
            </a:r>
            <a:r>
              <a:rPr lang="en-US" sz="1800" b="1" dirty="0"/>
              <a:t>Journal:</a:t>
            </a:r>
            <a:r>
              <a:rPr lang="en-US" sz="1800" dirty="0"/>
              <a:t> IEEE Access</a:t>
            </a:r>
          </a:p>
          <a:p>
            <a:pPr marL="514350" indent="-285750" algn="just">
              <a:lnSpc>
                <a:spcPct val="150000"/>
              </a:lnSpc>
              <a:buFont typeface="Arial" panose="020B0604020202020204" pitchFamily="34" charset="0"/>
              <a:buChar char="•"/>
            </a:pPr>
            <a:r>
              <a:rPr lang="en-US" sz="1800" dirty="0"/>
              <a:t>Integrates SHAP for explaining fraud detection decisions.</a:t>
            </a:r>
          </a:p>
          <a:p>
            <a:pPr marL="514350" indent="-285750" algn="just">
              <a:lnSpc>
                <a:spcPct val="150000"/>
              </a:lnSpc>
              <a:buFont typeface="Arial" panose="020B0604020202020204" pitchFamily="34" charset="0"/>
              <a:buChar char="•"/>
            </a:pPr>
            <a:r>
              <a:rPr lang="en-US" sz="1800" dirty="0"/>
              <a:t>Enhances transparency and interpretability of ML models.</a:t>
            </a:r>
          </a:p>
          <a:p>
            <a:pPr marL="514350" indent="-285750" algn="just">
              <a:lnSpc>
                <a:spcPct val="150000"/>
              </a:lnSpc>
              <a:buFont typeface="Arial" panose="020B0604020202020204" pitchFamily="34" charset="0"/>
              <a:buChar char="•"/>
            </a:pPr>
            <a:r>
              <a:rPr lang="en-US" sz="1800" dirty="0"/>
              <a:t>Improves user and auditor trust in fraud detection systems.</a:t>
            </a:r>
          </a:p>
          <a:p>
            <a:pPr>
              <a:lnSpc>
                <a:spcPct val="150000"/>
              </a:lnSpc>
            </a:pPr>
            <a:r>
              <a:rPr lang="en-US" sz="1800" b="1" dirty="0"/>
              <a:t>6. Behavioral Feature Learning for Credit Card Fraud Detection</a:t>
            </a:r>
          </a:p>
          <a:p>
            <a:pPr>
              <a:lnSpc>
                <a:spcPct val="150000"/>
              </a:lnSpc>
            </a:pPr>
            <a:r>
              <a:rPr lang="en-US" sz="1800" b="1" dirty="0"/>
              <a:t>Year:</a:t>
            </a:r>
            <a:r>
              <a:rPr lang="en-US" sz="1800" dirty="0"/>
              <a:t> 2024 | </a:t>
            </a:r>
            <a:r>
              <a:rPr lang="en-US" sz="1800" b="1" dirty="0"/>
              <a:t>Journal:</a:t>
            </a:r>
            <a:r>
              <a:rPr lang="en-US" sz="1800" dirty="0"/>
              <a:t> IEEE Transactions on Neural Networks and Learning Systems</a:t>
            </a:r>
          </a:p>
          <a:p>
            <a:pPr marL="514350" indent="-285750" algn="just">
              <a:lnSpc>
                <a:spcPct val="150000"/>
              </a:lnSpc>
              <a:buFont typeface="Arial" panose="020B0604020202020204" pitchFamily="34" charset="0"/>
              <a:buChar char="•"/>
            </a:pPr>
            <a:r>
              <a:rPr lang="en-US" sz="1800" dirty="0"/>
              <a:t>Focuses on learning behavioral transaction patterns.</a:t>
            </a:r>
          </a:p>
          <a:p>
            <a:pPr marL="514350" indent="-285750" algn="just">
              <a:lnSpc>
                <a:spcPct val="150000"/>
              </a:lnSpc>
              <a:buFont typeface="Arial" panose="020B0604020202020204" pitchFamily="34" charset="0"/>
              <a:buChar char="•"/>
            </a:pPr>
            <a:r>
              <a:rPr lang="en-US" sz="1800" dirty="0"/>
              <a:t>Captures temporal and behavioral fraud characteristics.</a:t>
            </a:r>
          </a:p>
          <a:p>
            <a:pPr marL="514350" indent="-285750" algn="just">
              <a:lnSpc>
                <a:spcPct val="150000"/>
              </a:lnSpc>
              <a:buFont typeface="Arial" panose="020B0604020202020204" pitchFamily="34" charset="0"/>
              <a:buChar char="•"/>
            </a:pPr>
            <a:r>
              <a:rPr lang="en-US" sz="1800" dirty="0"/>
              <a:t>Achieves improved fraud recall through behavior-based learning.</a:t>
            </a:r>
          </a:p>
          <a:p>
            <a:pPr>
              <a:lnSpc>
                <a:spcPct val="150000"/>
              </a:lnSpc>
            </a:pPr>
            <a:endParaRPr lang="en-IN" sz="1800" dirty="0"/>
          </a:p>
        </p:txBody>
      </p:sp>
    </p:spTree>
    <p:extLst>
      <p:ext uri="{BB962C8B-B14F-4D97-AF65-F5344CB8AC3E}">
        <p14:creationId xmlns:p14="http://schemas.microsoft.com/office/powerpoint/2010/main" val="1392473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AA4B3C77-677D-788B-1929-1022461C8FED}"/>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3C6878A6-542A-FC7E-B71E-97CBC92D6DC5}"/>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B54B6557-CBE2-4F6A-48D3-93F65CA453A7}"/>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15</a:t>
            </a:fld>
            <a:endParaRPr/>
          </a:p>
        </p:txBody>
      </p:sp>
      <p:sp>
        <p:nvSpPr>
          <p:cNvPr id="45" name="Google Shape;45;p3">
            <a:extLst>
              <a:ext uri="{FF2B5EF4-FFF2-40B4-BE49-F238E27FC236}">
                <a16:creationId xmlns:a16="http://schemas.microsoft.com/office/drawing/2014/main" id="{56A20A05-0B31-872F-7B9A-BBD744FD8F26}"/>
              </a:ext>
            </a:extLst>
          </p:cNvPr>
          <p:cNvSpPr txBox="1">
            <a:spLocks noGrp="1"/>
          </p:cNvSpPr>
          <p:nvPr>
            <p:ph type="body" idx="1"/>
          </p:nvPr>
        </p:nvSpPr>
        <p:spPr>
          <a:xfrm>
            <a:off x="122238" y="482600"/>
            <a:ext cx="9021762" cy="4660899"/>
          </a:xfrm>
          <a:prstGeom prst="rect">
            <a:avLst/>
          </a:prstGeom>
          <a:noFill/>
          <a:ln>
            <a:noFill/>
          </a:ln>
        </p:spPr>
        <p:txBody>
          <a:bodyPr spcFirstLastPara="1" wrap="square" lIns="91425" tIns="91425" rIns="91425" bIns="91425" anchor="t" anchorCtr="0">
            <a:noAutofit/>
          </a:bodyPr>
          <a:lstStyle/>
          <a:p>
            <a:pPr>
              <a:lnSpc>
                <a:spcPct val="150000"/>
              </a:lnSpc>
            </a:pPr>
            <a:r>
              <a:rPr lang="en-IN" sz="1800" b="1" dirty="0"/>
              <a:t>7. Attention-Based GAN for Improving Synthetic Fraud Data Quality</a:t>
            </a:r>
          </a:p>
          <a:p>
            <a:pPr>
              <a:lnSpc>
                <a:spcPct val="150000"/>
              </a:lnSpc>
            </a:pPr>
            <a:r>
              <a:rPr lang="en-IN" sz="1800" b="1" dirty="0"/>
              <a:t>Year:</a:t>
            </a:r>
            <a:r>
              <a:rPr lang="en-IN" sz="1800" dirty="0"/>
              <a:t> 2024 | </a:t>
            </a:r>
            <a:r>
              <a:rPr lang="en-IN" sz="1800" b="1" dirty="0"/>
              <a:t>Journal:</a:t>
            </a:r>
            <a:r>
              <a:rPr lang="en-IN" sz="1800" dirty="0"/>
              <a:t> IEEE Access</a:t>
            </a:r>
          </a:p>
          <a:p>
            <a:pPr marL="514350" indent="-285750" algn="just">
              <a:lnSpc>
                <a:spcPct val="150000"/>
              </a:lnSpc>
              <a:buFont typeface="Arial" panose="020B0604020202020204" pitchFamily="34" charset="0"/>
              <a:buChar char="•"/>
            </a:pPr>
            <a:r>
              <a:rPr lang="en-IN" sz="1800" dirty="0"/>
              <a:t>Introduces attention mechanisms within GAN architecture.</a:t>
            </a:r>
          </a:p>
          <a:p>
            <a:pPr marL="514350" indent="-285750" algn="just">
              <a:lnSpc>
                <a:spcPct val="150000"/>
              </a:lnSpc>
              <a:buFont typeface="Arial" panose="020B0604020202020204" pitchFamily="34" charset="0"/>
              <a:buChar char="•"/>
            </a:pPr>
            <a:r>
              <a:rPr lang="en-IN" sz="1800" dirty="0"/>
              <a:t>Generates higher-quality synthetic fraud samples.</a:t>
            </a:r>
          </a:p>
          <a:p>
            <a:pPr marL="514350" indent="-285750" algn="just">
              <a:lnSpc>
                <a:spcPct val="150000"/>
              </a:lnSpc>
              <a:buFont typeface="Arial" panose="020B0604020202020204" pitchFamily="34" charset="0"/>
              <a:buChar char="•"/>
            </a:pPr>
            <a:r>
              <a:rPr lang="en-IN" sz="1800" dirty="0"/>
              <a:t>Improves recall for evolving and complex fraud patterns.</a:t>
            </a:r>
          </a:p>
          <a:p>
            <a:pPr>
              <a:lnSpc>
                <a:spcPct val="150000"/>
              </a:lnSpc>
            </a:pPr>
            <a:r>
              <a:rPr lang="en-IN" sz="1800" b="1" dirty="0"/>
              <a:t>8. Explainable Machine Learning Models for Trustworthy Fraud Detection</a:t>
            </a:r>
          </a:p>
          <a:p>
            <a:pPr>
              <a:lnSpc>
                <a:spcPct val="150000"/>
              </a:lnSpc>
            </a:pPr>
            <a:r>
              <a:rPr lang="en-IN" sz="1800" b="1" dirty="0"/>
              <a:t>Year:</a:t>
            </a:r>
            <a:r>
              <a:rPr lang="en-IN" sz="1800" dirty="0"/>
              <a:t> 2024 | </a:t>
            </a:r>
            <a:r>
              <a:rPr lang="en-IN" sz="1800" b="1" dirty="0"/>
              <a:t>Journal:</a:t>
            </a:r>
            <a:r>
              <a:rPr lang="en-IN" sz="1800" dirty="0"/>
              <a:t> IEEE Internet of Things Journal</a:t>
            </a:r>
          </a:p>
          <a:p>
            <a:pPr marL="514350" indent="-285750" algn="just">
              <a:lnSpc>
                <a:spcPct val="150000"/>
              </a:lnSpc>
              <a:buFont typeface="Arial" panose="020B0604020202020204" pitchFamily="34" charset="0"/>
              <a:buChar char="•"/>
            </a:pPr>
            <a:r>
              <a:rPr lang="en-IN" sz="1800" dirty="0"/>
              <a:t>Applies explainable ML techniques for fraud detection systems.</a:t>
            </a:r>
          </a:p>
          <a:p>
            <a:pPr marL="514350" indent="-285750" algn="just">
              <a:lnSpc>
                <a:spcPct val="150000"/>
              </a:lnSpc>
              <a:buFont typeface="Arial" panose="020B0604020202020204" pitchFamily="34" charset="0"/>
              <a:buChar char="•"/>
            </a:pPr>
            <a:r>
              <a:rPr lang="en-IN" sz="1800" dirty="0"/>
              <a:t>Aligns fraud detection with transparency and trust requirements.</a:t>
            </a:r>
          </a:p>
          <a:p>
            <a:pPr marL="514350" indent="-285750" algn="just">
              <a:lnSpc>
                <a:spcPct val="150000"/>
              </a:lnSpc>
              <a:buFont typeface="Arial" panose="020B0604020202020204" pitchFamily="34" charset="0"/>
              <a:buChar char="•"/>
            </a:pPr>
            <a:r>
              <a:rPr lang="en-IN" sz="1800" dirty="0"/>
              <a:t>Improves recall while maintaining model interpretability.</a:t>
            </a:r>
          </a:p>
          <a:p>
            <a:pPr>
              <a:lnSpc>
                <a:spcPct val="150000"/>
              </a:lnSpc>
            </a:pPr>
            <a:endParaRPr lang="en-IN" sz="1800" dirty="0"/>
          </a:p>
        </p:txBody>
      </p:sp>
    </p:spTree>
    <p:extLst>
      <p:ext uri="{BB962C8B-B14F-4D97-AF65-F5344CB8AC3E}">
        <p14:creationId xmlns:p14="http://schemas.microsoft.com/office/powerpoint/2010/main" val="2774957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AA1A5420-E49E-87BE-9484-F74C53DAF046}"/>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0C6DA773-19FB-1EBD-CD7A-585384B58AD0}"/>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B023F3DE-5EE7-A668-18AE-A7A6DA24D93B}"/>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16</a:t>
            </a:fld>
            <a:endParaRPr/>
          </a:p>
        </p:txBody>
      </p:sp>
      <p:sp>
        <p:nvSpPr>
          <p:cNvPr id="45" name="Google Shape;45;p3">
            <a:extLst>
              <a:ext uri="{FF2B5EF4-FFF2-40B4-BE49-F238E27FC236}">
                <a16:creationId xmlns:a16="http://schemas.microsoft.com/office/drawing/2014/main" id="{534D8032-F5AD-06E4-9072-F59D1E3C81E2}"/>
              </a:ext>
            </a:extLst>
          </p:cNvPr>
          <p:cNvSpPr txBox="1">
            <a:spLocks noGrp="1"/>
          </p:cNvSpPr>
          <p:nvPr>
            <p:ph type="body" idx="1"/>
          </p:nvPr>
        </p:nvSpPr>
        <p:spPr>
          <a:xfrm>
            <a:off x="122238" y="482600"/>
            <a:ext cx="9021762" cy="4660899"/>
          </a:xfrm>
          <a:prstGeom prst="rect">
            <a:avLst/>
          </a:prstGeom>
          <a:noFill/>
          <a:ln>
            <a:noFill/>
          </a:ln>
        </p:spPr>
        <p:txBody>
          <a:bodyPr spcFirstLastPara="1" wrap="square" lIns="91425" tIns="91425" rIns="91425" bIns="91425" anchor="t" anchorCtr="0">
            <a:noAutofit/>
          </a:bodyPr>
          <a:lstStyle/>
          <a:p>
            <a:pPr algn="just">
              <a:lnSpc>
                <a:spcPct val="150000"/>
              </a:lnSpc>
            </a:pPr>
            <a:r>
              <a:rPr lang="en-IN" sz="1800" b="1" dirty="0"/>
              <a:t>9. Scalable GAN-Based Framework for Handling Extreme Class Imbalance</a:t>
            </a:r>
          </a:p>
          <a:p>
            <a:pPr algn="just">
              <a:lnSpc>
                <a:spcPct val="150000"/>
              </a:lnSpc>
            </a:pPr>
            <a:r>
              <a:rPr lang="en-IN" sz="1800" b="1" dirty="0"/>
              <a:t>Year:</a:t>
            </a:r>
            <a:r>
              <a:rPr lang="en-IN" sz="1800" dirty="0"/>
              <a:t> 2025 | </a:t>
            </a:r>
            <a:r>
              <a:rPr lang="en-IN" sz="1800" b="1" dirty="0"/>
              <a:t>Conference:</a:t>
            </a:r>
            <a:r>
              <a:rPr lang="en-IN" sz="1800" dirty="0"/>
              <a:t> IEEE Internet of Things Journal (Conference Track)</a:t>
            </a:r>
          </a:p>
          <a:p>
            <a:pPr marL="514350" indent="-285750" algn="just">
              <a:lnSpc>
                <a:spcPct val="150000"/>
              </a:lnSpc>
              <a:buFont typeface="Arial" panose="020B0604020202020204" pitchFamily="34" charset="0"/>
              <a:buChar char="•"/>
            </a:pPr>
            <a:r>
              <a:rPr lang="en-IN" sz="1800" dirty="0"/>
              <a:t>Proposes a scalable GAN-based fraud detection framework.</a:t>
            </a:r>
          </a:p>
          <a:p>
            <a:pPr marL="514350" indent="-285750" algn="just">
              <a:lnSpc>
                <a:spcPct val="150000"/>
              </a:lnSpc>
              <a:buFont typeface="Arial" panose="020B0604020202020204" pitchFamily="34" charset="0"/>
              <a:buChar char="•"/>
            </a:pPr>
            <a:r>
              <a:rPr lang="en-IN" sz="1800" dirty="0"/>
              <a:t>Handles extreme class imbalance in large transaction datasets.</a:t>
            </a:r>
          </a:p>
          <a:p>
            <a:pPr marL="514350" indent="-285750" algn="just">
              <a:lnSpc>
                <a:spcPct val="150000"/>
              </a:lnSpc>
              <a:buFont typeface="Arial" panose="020B0604020202020204" pitchFamily="34" charset="0"/>
              <a:buChar char="•"/>
            </a:pPr>
            <a:r>
              <a:rPr lang="en-IN" sz="1800" dirty="0"/>
              <a:t>Achieves higher recall and F1-score.</a:t>
            </a:r>
          </a:p>
          <a:p>
            <a:pPr algn="just">
              <a:lnSpc>
                <a:spcPct val="150000"/>
              </a:lnSpc>
            </a:pPr>
            <a:r>
              <a:rPr lang="en-IN" sz="1800" b="1" dirty="0"/>
              <a:t>10. GAN-Based Data Augmentation for Fraud Classification</a:t>
            </a:r>
          </a:p>
          <a:p>
            <a:pPr algn="just">
              <a:lnSpc>
                <a:spcPct val="150000"/>
              </a:lnSpc>
            </a:pPr>
            <a:r>
              <a:rPr lang="en-IN" sz="1800" b="1" dirty="0"/>
              <a:t>Year:</a:t>
            </a:r>
            <a:r>
              <a:rPr lang="en-IN" sz="1800" dirty="0"/>
              <a:t> 2023 | </a:t>
            </a:r>
            <a:r>
              <a:rPr lang="en-IN" sz="1800" b="1" dirty="0"/>
              <a:t>Journal:</a:t>
            </a:r>
            <a:r>
              <a:rPr lang="en-IN" sz="1800" dirty="0"/>
              <a:t> IEEE Access</a:t>
            </a:r>
          </a:p>
          <a:p>
            <a:pPr marL="514350" indent="-285750" algn="just">
              <a:lnSpc>
                <a:spcPct val="150000"/>
              </a:lnSpc>
              <a:buFont typeface="Arial" panose="020B0604020202020204" pitchFamily="34" charset="0"/>
              <a:buChar char="•"/>
            </a:pPr>
            <a:r>
              <a:rPr lang="en-IN" sz="1800" dirty="0"/>
              <a:t>Uses GAN-generated data to augment fraud datasets.</a:t>
            </a:r>
          </a:p>
          <a:p>
            <a:pPr marL="514350" indent="-285750" algn="just">
              <a:lnSpc>
                <a:spcPct val="150000"/>
              </a:lnSpc>
              <a:buFont typeface="Arial" panose="020B0604020202020204" pitchFamily="34" charset="0"/>
              <a:buChar char="•"/>
            </a:pPr>
            <a:r>
              <a:rPr lang="en-IN" sz="1800" dirty="0"/>
              <a:t>Enhances classifier learning under imbalance conditions.</a:t>
            </a:r>
          </a:p>
          <a:p>
            <a:pPr marL="514350" indent="-285750" algn="just">
              <a:lnSpc>
                <a:spcPct val="150000"/>
              </a:lnSpc>
              <a:buFont typeface="Arial" panose="020B0604020202020204" pitchFamily="34" charset="0"/>
              <a:buChar char="•"/>
            </a:pPr>
            <a:r>
              <a:rPr lang="en-IN" sz="1800" dirty="0"/>
              <a:t>Improves F1-score despite GAN training instability.</a:t>
            </a:r>
          </a:p>
          <a:p>
            <a:pPr>
              <a:lnSpc>
                <a:spcPct val="150000"/>
              </a:lnSpc>
            </a:pPr>
            <a:endParaRPr lang="en-IN" sz="1800" dirty="0"/>
          </a:p>
        </p:txBody>
      </p:sp>
    </p:spTree>
    <p:extLst>
      <p:ext uri="{BB962C8B-B14F-4D97-AF65-F5344CB8AC3E}">
        <p14:creationId xmlns:p14="http://schemas.microsoft.com/office/powerpoint/2010/main" val="3900077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FA2D8A98-2004-8D71-971A-D5393CD571CF}"/>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5F414B4A-E745-B7EF-E63A-FACA91AB5E10}"/>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42979BB9-E33D-F5DD-7313-E26A0DA87E59}"/>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17</a:t>
            </a:fld>
            <a:endParaRPr/>
          </a:p>
        </p:txBody>
      </p:sp>
      <p:sp>
        <p:nvSpPr>
          <p:cNvPr id="45" name="Google Shape;45;p3">
            <a:extLst>
              <a:ext uri="{FF2B5EF4-FFF2-40B4-BE49-F238E27FC236}">
                <a16:creationId xmlns:a16="http://schemas.microsoft.com/office/drawing/2014/main" id="{7E156FEA-EDF4-145A-B799-46936AADBD95}"/>
              </a:ext>
            </a:extLst>
          </p:cNvPr>
          <p:cNvSpPr txBox="1">
            <a:spLocks noGrp="1"/>
          </p:cNvSpPr>
          <p:nvPr>
            <p:ph type="body" idx="1"/>
          </p:nvPr>
        </p:nvSpPr>
        <p:spPr>
          <a:xfrm>
            <a:off x="122238" y="395288"/>
            <a:ext cx="9021762" cy="4660899"/>
          </a:xfrm>
          <a:prstGeom prst="rect">
            <a:avLst/>
          </a:prstGeom>
          <a:noFill/>
          <a:ln>
            <a:noFill/>
          </a:ln>
        </p:spPr>
        <p:txBody>
          <a:bodyPr spcFirstLastPara="1" wrap="square" lIns="91425" tIns="91425" rIns="91425" bIns="91425" anchor="t" anchorCtr="0">
            <a:noAutofit/>
          </a:bodyPr>
          <a:lstStyle/>
          <a:p>
            <a:pPr>
              <a:lnSpc>
                <a:spcPct val="150000"/>
              </a:lnSpc>
            </a:pPr>
            <a:r>
              <a:rPr lang="en-IN" sz="1700" b="1" dirty="0"/>
              <a:t>11. A Hybrid GAN &amp; Transformer Encoder for Fraud Synthesis</a:t>
            </a:r>
          </a:p>
          <a:p>
            <a:pPr>
              <a:lnSpc>
                <a:spcPct val="150000"/>
              </a:lnSpc>
            </a:pPr>
            <a:r>
              <a:rPr lang="en-IN" sz="1700" b="1" dirty="0"/>
              <a:t>Year:</a:t>
            </a:r>
            <a:r>
              <a:rPr lang="en-IN" sz="1700" dirty="0"/>
              <a:t> 2025 | Preprint (</a:t>
            </a:r>
            <a:r>
              <a:rPr lang="en-IN" sz="1700" dirty="0" err="1"/>
              <a:t>arXiv</a:t>
            </a:r>
            <a:r>
              <a:rPr lang="en-IN" sz="1700" dirty="0"/>
              <a:t>)</a:t>
            </a:r>
          </a:p>
          <a:p>
            <a:pPr marL="514350" indent="-285750" algn="just">
              <a:lnSpc>
                <a:spcPct val="150000"/>
              </a:lnSpc>
              <a:buFont typeface="Arial" panose="020B0604020202020204" pitchFamily="34" charset="0"/>
              <a:buChar char="•"/>
            </a:pPr>
            <a:r>
              <a:rPr lang="en-IN" sz="1700" dirty="0"/>
              <a:t>Proposes a GAN integrated with transformer encoder for realistic tabular fraud data.</a:t>
            </a:r>
          </a:p>
          <a:p>
            <a:pPr marL="514350" indent="-285750" algn="just">
              <a:lnSpc>
                <a:spcPct val="150000"/>
              </a:lnSpc>
              <a:buFont typeface="Arial" panose="020B0604020202020204" pitchFamily="34" charset="0"/>
              <a:buChar char="•"/>
            </a:pPr>
            <a:r>
              <a:rPr lang="en-IN" sz="1700" dirty="0"/>
              <a:t>Addresses high-dimensional synthetic sample generation.</a:t>
            </a:r>
          </a:p>
          <a:p>
            <a:pPr>
              <a:lnSpc>
                <a:spcPct val="150000"/>
              </a:lnSpc>
            </a:pPr>
            <a:r>
              <a:rPr lang="en-IN" sz="1700" b="1" dirty="0"/>
              <a:t>12. GANs for Synthetic Fraudulent Transaction Data Augmentation</a:t>
            </a:r>
          </a:p>
          <a:p>
            <a:pPr>
              <a:lnSpc>
                <a:spcPct val="150000"/>
              </a:lnSpc>
            </a:pPr>
            <a:r>
              <a:rPr lang="en-IN" sz="1700" b="1" dirty="0"/>
              <a:t>Year:</a:t>
            </a:r>
            <a:r>
              <a:rPr lang="en-IN" sz="1700" dirty="0"/>
              <a:t> 2025 (ResearchGate)</a:t>
            </a:r>
          </a:p>
          <a:p>
            <a:pPr marL="514350" indent="-285750" algn="just">
              <a:lnSpc>
                <a:spcPct val="150000"/>
              </a:lnSpc>
              <a:buFont typeface="Arial" panose="020B0604020202020204" pitchFamily="34" charset="0"/>
              <a:buChar char="•"/>
            </a:pPr>
            <a:r>
              <a:rPr lang="en-IN" sz="1700" dirty="0"/>
              <a:t>Evaluates general GAN methods to augment fraud datasets.</a:t>
            </a:r>
          </a:p>
          <a:p>
            <a:pPr marL="514350" indent="-285750" algn="just">
              <a:lnSpc>
                <a:spcPct val="150000"/>
              </a:lnSpc>
              <a:buFont typeface="Arial" panose="020B0604020202020204" pitchFamily="34" charset="0"/>
              <a:buChar char="•"/>
            </a:pPr>
            <a:r>
              <a:rPr lang="en-IN" sz="1700" dirty="0"/>
              <a:t>Emphasizes synthetic data quality metrics for fraud detection.</a:t>
            </a:r>
          </a:p>
          <a:p>
            <a:pPr marL="228600" indent="0" algn="just">
              <a:lnSpc>
                <a:spcPct val="150000"/>
              </a:lnSpc>
            </a:pPr>
            <a:r>
              <a:rPr lang="en-IN" sz="1700" b="1" dirty="0"/>
              <a:t>13. </a:t>
            </a:r>
            <a:r>
              <a:rPr lang="en-IN" sz="1700" b="1" dirty="0" err="1"/>
              <a:t>Behavior</a:t>
            </a:r>
            <a:r>
              <a:rPr lang="en-IN" sz="1700" b="1" dirty="0"/>
              <a:t>-Aware Fraud Detection Using Deep Learning Models</a:t>
            </a:r>
          </a:p>
          <a:p>
            <a:pPr>
              <a:lnSpc>
                <a:spcPct val="150000"/>
              </a:lnSpc>
            </a:pPr>
            <a:r>
              <a:rPr lang="en-IN" sz="1700" b="1" dirty="0"/>
              <a:t>Year:</a:t>
            </a:r>
            <a:r>
              <a:rPr lang="en-IN" sz="1700" dirty="0"/>
              <a:t> 2023 | </a:t>
            </a:r>
            <a:r>
              <a:rPr lang="en-IN" sz="1700" b="1" dirty="0"/>
              <a:t>Journal:</a:t>
            </a:r>
            <a:r>
              <a:rPr lang="en-IN" sz="1700" dirty="0"/>
              <a:t> IEEE Transactions on Computational Social Systems</a:t>
            </a:r>
          </a:p>
          <a:p>
            <a:pPr marL="514350" indent="-285750" algn="just">
              <a:lnSpc>
                <a:spcPct val="150000"/>
              </a:lnSpc>
              <a:buFont typeface="Arial" panose="020B0604020202020204" pitchFamily="34" charset="0"/>
              <a:buChar char="•"/>
            </a:pPr>
            <a:r>
              <a:rPr lang="en-IN" sz="1700" dirty="0"/>
              <a:t>Focuses on user </a:t>
            </a:r>
            <a:r>
              <a:rPr lang="en-IN" sz="1700" dirty="0" err="1"/>
              <a:t>behavioral</a:t>
            </a:r>
            <a:r>
              <a:rPr lang="en-IN" sz="1700" dirty="0"/>
              <a:t> patterns for fraud detection.</a:t>
            </a:r>
          </a:p>
          <a:p>
            <a:pPr marL="514350" indent="-285750" algn="just">
              <a:lnSpc>
                <a:spcPct val="150000"/>
              </a:lnSpc>
              <a:buFont typeface="Arial" panose="020B0604020202020204" pitchFamily="34" charset="0"/>
              <a:buChar char="•"/>
            </a:pPr>
            <a:r>
              <a:rPr lang="en-IN" sz="1700" dirty="0"/>
              <a:t>Learns transaction sequences and spending </a:t>
            </a:r>
            <a:r>
              <a:rPr lang="en-IN" sz="1700" dirty="0" err="1"/>
              <a:t>behavior</a:t>
            </a:r>
            <a:r>
              <a:rPr lang="en-IN" sz="1700" dirty="0"/>
              <a:t>.</a:t>
            </a:r>
          </a:p>
          <a:p>
            <a:pPr marL="228600" indent="0" algn="just">
              <a:lnSpc>
                <a:spcPct val="150000"/>
              </a:lnSpc>
            </a:pPr>
            <a:endParaRPr lang="en-IN" sz="1400" dirty="0"/>
          </a:p>
        </p:txBody>
      </p:sp>
    </p:spTree>
    <p:extLst>
      <p:ext uri="{BB962C8B-B14F-4D97-AF65-F5344CB8AC3E}">
        <p14:creationId xmlns:p14="http://schemas.microsoft.com/office/powerpoint/2010/main" val="3612688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DDA23CD1-4A41-B8C6-B83E-6B19AA55866B}"/>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94823111-F2F2-2252-67C3-D7E123DE3095}"/>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0976B2E3-AEEC-3C16-D2C8-25DE8BE788D9}"/>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18</a:t>
            </a:fld>
            <a:endParaRPr/>
          </a:p>
        </p:txBody>
      </p:sp>
      <p:sp>
        <p:nvSpPr>
          <p:cNvPr id="45" name="Google Shape;45;p3">
            <a:extLst>
              <a:ext uri="{FF2B5EF4-FFF2-40B4-BE49-F238E27FC236}">
                <a16:creationId xmlns:a16="http://schemas.microsoft.com/office/drawing/2014/main" id="{2A519067-09B1-3C41-6431-8A14607E4596}"/>
              </a:ext>
            </a:extLst>
          </p:cNvPr>
          <p:cNvSpPr txBox="1">
            <a:spLocks noGrp="1"/>
          </p:cNvSpPr>
          <p:nvPr>
            <p:ph type="body" idx="1"/>
          </p:nvPr>
        </p:nvSpPr>
        <p:spPr>
          <a:xfrm>
            <a:off x="122238" y="482600"/>
            <a:ext cx="9021762" cy="4660899"/>
          </a:xfrm>
          <a:prstGeom prst="rect">
            <a:avLst/>
          </a:prstGeom>
          <a:noFill/>
          <a:ln>
            <a:noFill/>
          </a:ln>
        </p:spPr>
        <p:txBody>
          <a:bodyPr spcFirstLastPara="1" wrap="square" lIns="91425" tIns="91425" rIns="91425" bIns="91425" anchor="t" anchorCtr="0">
            <a:noAutofit/>
          </a:bodyPr>
          <a:lstStyle/>
          <a:p>
            <a:pPr algn="just">
              <a:lnSpc>
                <a:spcPct val="150000"/>
              </a:lnSpc>
            </a:pPr>
            <a:r>
              <a:rPr lang="en-IN" sz="1800" b="1" dirty="0"/>
              <a:t>14. Credit Card Fraud Detection Using Conditional Generative Adversarial Networks</a:t>
            </a:r>
          </a:p>
          <a:p>
            <a:pPr algn="just">
              <a:lnSpc>
                <a:spcPct val="150000"/>
              </a:lnSpc>
            </a:pPr>
            <a:r>
              <a:rPr lang="en-IN" sz="1800" b="1" dirty="0"/>
              <a:t>Year:</a:t>
            </a:r>
            <a:r>
              <a:rPr lang="en-IN" sz="1800" dirty="0"/>
              <a:t> 2023 | </a:t>
            </a:r>
            <a:r>
              <a:rPr lang="en-IN" sz="1800" b="1" dirty="0"/>
              <a:t>Journal:</a:t>
            </a:r>
            <a:r>
              <a:rPr lang="en-IN" sz="1800" dirty="0"/>
              <a:t> IEEE Access</a:t>
            </a:r>
          </a:p>
          <a:p>
            <a:pPr marL="514350" indent="-285750" algn="just">
              <a:lnSpc>
                <a:spcPct val="150000"/>
              </a:lnSpc>
              <a:buFont typeface="Arial" panose="020B0604020202020204" pitchFamily="34" charset="0"/>
              <a:buChar char="•"/>
            </a:pPr>
            <a:r>
              <a:rPr lang="en-IN" sz="1800" dirty="0"/>
              <a:t>Uses Conditional GAN to generate fraud samples based on transaction attributes.</a:t>
            </a:r>
          </a:p>
          <a:p>
            <a:pPr marL="514350" indent="-285750" algn="just">
              <a:lnSpc>
                <a:spcPct val="150000"/>
              </a:lnSpc>
              <a:buFont typeface="Arial" panose="020B0604020202020204" pitchFamily="34" charset="0"/>
              <a:buChar char="•"/>
            </a:pPr>
            <a:r>
              <a:rPr lang="en-IN" sz="1800" dirty="0"/>
              <a:t>Addresses severe class imbalance in transaction datasets.</a:t>
            </a:r>
          </a:p>
          <a:p>
            <a:pPr marL="514350" indent="-285750" algn="just">
              <a:lnSpc>
                <a:spcPct val="150000"/>
              </a:lnSpc>
              <a:buFont typeface="Arial" panose="020B0604020202020204" pitchFamily="34" charset="0"/>
              <a:buChar char="•"/>
            </a:pPr>
            <a:r>
              <a:rPr lang="en-IN" sz="1800" dirty="0"/>
              <a:t>Improves recall and F1-score compared to traditional GAN methods.</a:t>
            </a:r>
          </a:p>
          <a:p>
            <a:pPr algn="just">
              <a:lnSpc>
                <a:spcPct val="150000"/>
              </a:lnSpc>
            </a:pPr>
            <a:r>
              <a:rPr lang="en-IN" sz="1800" b="1" dirty="0"/>
              <a:t>15. Explainable Ensemble Learning for Financial Fraud Detection</a:t>
            </a:r>
          </a:p>
          <a:p>
            <a:pPr algn="just">
              <a:lnSpc>
                <a:spcPct val="150000"/>
              </a:lnSpc>
            </a:pPr>
            <a:r>
              <a:rPr lang="en-IN" sz="1800" b="1" dirty="0"/>
              <a:t>Year:</a:t>
            </a:r>
            <a:r>
              <a:rPr lang="en-IN" sz="1800" dirty="0"/>
              <a:t> 2022 | </a:t>
            </a:r>
            <a:r>
              <a:rPr lang="en-IN" sz="1800" b="1" dirty="0"/>
              <a:t>Journal:</a:t>
            </a:r>
            <a:r>
              <a:rPr lang="en-IN" sz="1800" dirty="0"/>
              <a:t> IEEE Access</a:t>
            </a:r>
          </a:p>
          <a:p>
            <a:pPr marL="514350" indent="-285750" algn="just">
              <a:lnSpc>
                <a:spcPct val="150000"/>
              </a:lnSpc>
              <a:buFont typeface="Arial" panose="020B0604020202020204" pitchFamily="34" charset="0"/>
              <a:buChar char="•"/>
            </a:pPr>
            <a:r>
              <a:rPr lang="en-IN" sz="1800" dirty="0"/>
              <a:t>Combines ensemble ML models with explainability techniques.</a:t>
            </a:r>
          </a:p>
          <a:p>
            <a:pPr marL="514350" indent="-285750" algn="just">
              <a:lnSpc>
                <a:spcPct val="150000"/>
              </a:lnSpc>
              <a:buFont typeface="Arial" panose="020B0604020202020204" pitchFamily="34" charset="0"/>
              <a:buChar char="•"/>
            </a:pPr>
            <a:r>
              <a:rPr lang="en-IN" sz="1800" dirty="0"/>
              <a:t>Provides transparent fraud decision explanations.</a:t>
            </a:r>
          </a:p>
          <a:p>
            <a:pPr marL="514350" indent="-285750" algn="just">
              <a:lnSpc>
                <a:spcPct val="150000"/>
              </a:lnSpc>
              <a:buFont typeface="Arial" panose="020B0604020202020204" pitchFamily="34" charset="0"/>
              <a:buChar char="•"/>
            </a:pPr>
            <a:r>
              <a:rPr lang="en-IN" sz="1800" dirty="0"/>
              <a:t>Enhances trust while maintaining strong detection performance.</a:t>
            </a:r>
          </a:p>
          <a:p>
            <a:pPr>
              <a:lnSpc>
                <a:spcPct val="150000"/>
              </a:lnSpc>
            </a:pPr>
            <a:endParaRPr lang="en-IN" sz="1800" dirty="0"/>
          </a:p>
        </p:txBody>
      </p:sp>
    </p:spTree>
    <p:extLst>
      <p:ext uri="{BB962C8B-B14F-4D97-AF65-F5344CB8AC3E}">
        <p14:creationId xmlns:p14="http://schemas.microsoft.com/office/powerpoint/2010/main" val="4124246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Slide Number Placeholder 2">
            <a:extLst>
              <a:ext uri="{FF2B5EF4-FFF2-40B4-BE49-F238E27FC236}">
                <a16:creationId xmlns:a16="http://schemas.microsoft.com/office/drawing/2014/main" id="{3115DD56-608E-6233-B559-288E13D42543}"/>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B64ACC18-24D7-4A32-8150-7B02F44DB486}" type="slidenum">
              <a:rPr lang="en-US" altLang="en-US" sz="1000" smtClean="0">
                <a:solidFill>
                  <a:srgbClr val="595959"/>
                </a:solidFill>
              </a:rPr>
              <a:pPr/>
              <a:t>19</a:t>
            </a:fld>
            <a:endParaRPr lang="en-US" altLang="en-US" sz="1000">
              <a:solidFill>
                <a:srgbClr val="595959"/>
              </a:solidFill>
            </a:endParaRPr>
          </a:p>
        </p:txBody>
      </p:sp>
      <p:pic>
        <p:nvPicPr>
          <p:cNvPr id="16" name="Picture 15">
            <a:extLst>
              <a:ext uri="{FF2B5EF4-FFF2-40B4-BE49-F238E27FC236}">
                <a16:creationId xmlns:a16="http://schemas.microsoft.com/office/drawing/2014/main" id="{498D8174-1E7B-7F24-15F5-E02400BE645B}"/>
              </a:ext>
            </a:extLst>
          </p:cNvPr>
          <p:cNvPicPr>
            <a:picLocks noChangeAspect="1"/>
          </p:cNvPicPr>
          <p:nvPr/>
        </p:nvPicPr>
        <p:blipFill>
          <a:blip r:embed="rId2"/>
          <a:stretch>
            <a:fillRect/>
          </a:stretch>
        </p:blipFill>
        <p:spPr>
          <a:xfrm>
            <a:off x="714375" y="0"/>
            <a:ext cx="771525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0D8562F3-EF4E-4EA1-8416-F769F14D18BA}"/>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D7430083-762D-3B6E-DAC3-3D98EE6A2F41}"/>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Research Gaps</a:t>
            </a:r>
            <a:endParaRPr dirty="0"/>
          </a:p>
        </p:txBody>
      </p:sp>
      <p:sp>
        <p:nvSpPr>
          <p:cNvPr id="44" name="Google Shape;44;p3">
            <a:extLst>
              <a:ext uri="{FF2B5EF4-FFF2-40B4-BE49-F238E27FC236}">
                <a16:creationId xmlns:a16="http://schemas.microsoft.com/office/drawing/2014/main" id="{5FD84FE6-1EF7-E90B-9561-FC7CF4214F17}"/>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20</a:t>
            </a:fld>
            <a:endParaRPr/>
          </a:p>
        </p:txBody>
      </p:sp>
      <p:sp>
        <p:nvSpPr>
          <p:cNvPr id="45" name="Google Shape;45;p3">
            <a:extLst>
              <a:ext uri="{FF2B5EF4-FFF2-40B4-BE49-F238E27FC236}">
                <a16:creationId xmlns:a16="http://schemas.microsoft.com/office/drawing/2014/main" id="{380B9875-0545-C7A1-F58F-DE1C68DCE9C1}"/>
              </a:ext>
            </a:extLst>
          </p:cNvPr>
          <p:cNvSpPr txBox="1">
            <a:spLocks noGrp="1"/>
          </p:cNvSpPr>
          <p:nvPr>
            <p:ph type="body" idx="1"/>
          </p:nvPr>
        </p:nvSpPr>
        <p:spPr>
          <a:xfrm>
            <a:off x="165100" y="501888"/>
            <a:ext cx="8763000" cy="4641611"/>
          </a:xfrm>
          <a:prstGeom prst="rect">
            <a:avLst/>
          </a:prstGeom>
          <a:noFill/>
          <a:ln>
            <a:noFill/>
          </a:ln>
        </p:spPr>
        <p:txBody>
          <a:bodyPr spcFirstLastPara="1" wrap="square" lIns="91425" tIns="91425" rIns="91425" bIns="91425" anchor="t" anchorCtr="0">
            <a:normAutofit lnSpcReduction="10000"/>
          </a:bodyPr>
          <a:lstStyle/>
          <a:p>
            <a:pPr marL="514350" indent="-285750" algn="just">
              <a:lnSpc>
                <a:spcPct val="150000"/>
              </a:lnSpc>
              <a:buFont typeface="Arial" panose="020B0604020202020204" pitchFamily="34" charset="0"/>
              <a:buChar char="•"/>
            </a:pPr>
            <a:r>
              <a:rPr lang="en-US" sz="1400" dirty="0"/>
              <a:t>Most existing fraud detection systems focus mainly on improving accuracy, with limited emphasis on </a:t>
            </a:r>
            <a:r>
              <a:rPr lang="en-US" sz="1400" b="1" dirty="0"/>
              <a:t>reducing false negatives</a:t>
            </a:r>
            <a:r>
              <a:rPr lang="en-US" sz="1400" dirty="0"/>
              <a:t>, which is critical in real-world fraud prevention.</a:t>
            </a:r>
          </a:p>
          <a:p>
            <a:pPr marL="514350" indent="-285750" algn="just">
              <a:lnSpc>
                <a:spcPct val="150000"/>
              </a:lnSpc>
              <a:buFont typeface="Arial" panose="020B0604020202020204" pitchFamily="34" charset="0"/>
              <a:buChar char="•"/>
            </a:pPr>
            <a:r>
              <a:rPr lang="en-US" sz="1400" dirty="0"/>
              <a:t>Traditional machine learning models struggle with </a:t>
            </a:r>
            <a:r>
              <a:rPr lang="en-US" sz="1400" b="1" dirty="0"/>
              <a:t>severely imbalanced transaction datasets</a:t>
            </a:r>
            <a:r>
              <a:rPr lang="en-US" sz="1400" dirty="0"/>
              <a:t>, leading to poor detection of rare fraud cases.</a:t>
            </a:r>
          </a:p>
          <a:p>
            <a:pPr marL="514350" indent="-285750" algn="just">
              <a:lnSpc>
                <a:spcPct val="150000"/>
              </a:lnSpc>
              <a:buFont typeface="Arial" panose="020B0604020202020204" pitchFamily="34" charset="0"/>
              <a:buChar char="•"/>
            </a:pPr>
            <a:r>
              <a:rPr lang="en-US" sz="1400" dirty="0"/>
              <a:t>Many GAN-based approaches use </a:t>
            </a:r>
            <a:r>
              <a:rPr lang="en-US" sz="1400" b="1" dirty="0"/>
              <a:t>complex architectures</a:t>
            </a:r>
            <a:r>
              <a:rPr lang="en-US" sz="1400" dirty="0"/>
              <a:t>, making them difficult to train, interpret, and deploy in practical payment systems.</a:t>
            </a:r>
          </a:p>
          <a:p>
            <a:pPr marL="514350" indent="-285750" algn="just">
              <a:lnSpc>
                <a:spcPct val="150000"/>
              </a:lnSpc>
              <a:buFont typeface="Arial" panose="020B0604020202020204" pitchFamily="34" charset="0"/>
              <a:buChar char="•"/>
            </a:pPr>
            <a:r>
              <a:rPr lang="en-US" sz="1400" dirty="0"/>
              <a:t>Several fraud detection models operate as </a:t>
            </a:r>
            <a:r>
              <a:rPr lang="en-US" sz="1400" b="1" dirty="0"/>
              <a:t>black-box systems</a:t>
            </a:r>
            <a:r>
              <a:rPr lang="en-US" sz="1400" dirty="0"/>
              <a:t>, offering little or no </a:t>
            </a:r>
            <a:r>
              <a:rPr lang="en-US" sz="1400" b="1" dirty="0"/>
              <a:t>explainability</a:t>
            </a:r>
            <a:r>
              <a:rPr lang="en-US" sz="1400" dirty="0"/>
              <a:t>, which reduces trust among users and financial institutions.</a:t>
            </a:r>
          </a:p>
          <a:p>
            <a:pPr marL="514350" indent="-285750" algn="just">
              <a:lnSpc>
                <a:spcPct val="150000"/>
              </a:lnSpc>
              <a:buFont typeface="Arial" panose="020B0604020202020204" pitchFamily="34" charset="0"/>
              <a:buChar char="•"/>
            </a:pPr>
            <a:r>
              <a:rPr lang="en-US" sz="1400" dirty="0"/>
              <a:t>There is limited research on combining </a:t>
            </a:r>
            <a:r>
              <a:rPr lang="en-US" sz="1400" b="1" dirty="0"/>
              <a:t>CGAN-based data augmentation with powerful gradient-boosting models like </a:t>
            </a:r>
            <a:r>
              <a:rPr lang="en-US" sz="1400" b="1" dirty="0" err="1"/>
              <a:t>XGBoost</a:t>
            </a:r>
            <a:r>
              <a:rPr lang="en-US" sz="1400" dirty="0"/>
              <a:t> for explainable fraud detection.</a:t>
            </a:r>
          </a:p>
          <a:p>
            <a:pPr marL="228600" indent="0">
              <a:lnSpc>
                <a:spcPct val="170000"/>
              </a:lnSpc>
            </a:pPr>
            <a:r>
              <a:rPr lang="en-US" sz="1400" b="1" dirty="0"/>
              <a:t>Opportunity Identified:</a:t>
            </a:r>
            <a:br>
              <a:rPr lang="en-US" sz="1400" dirty="0"/>
            </a:br>
            <a:r>
              <a:rPr lang="en-US" sz="1400" dirty="0"/>
              <a:t>These gaps motivate the development of a </a:t>
            </a:r>
            <a:r>
              <a:rPr lang="en-US" sz="1400" b="1" dirty="0"/>
              <a:t>simpler, explainable, and real-time fraud detection system</a:t>
            </a:r>
            <a:r>
              <a:rPr lang="en-US" sz="1400" dirty="0"/>
              <a:t> using CGAN-based data augmentation combined with a robust and deployable classification model, as proposed in this project.</a:t>
            </a:r>
          </a:p>
        </p:txBody>
      </p:sp>
    </p:spTree>
    <p:extLst>
      <p:ext uri="{BB962C8B-B14F-4D97-AF65-F5344CB8AC3E}">
        <p14:creationId xmlns:p14="http://schemas.microsoft.com/office/powerpoint/2010/main" val="978618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291C7F78-E42D-F789-412D-53C660C0DFA4}"/>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3364DABB-86F0-041F-1690-AD45B814158A}"/>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Problem statement</a:t>
            </a:r>
            <a:endParaRPr dirty="0"/>
          </a:p>
        </p:txBody>
      </p:sp>
      <p:sp>
        <p:nvSpPr>
          <p:cNvPr id="44" name="Google Shape;44;p3">
            <a:extLst>
              <a:ext uri="{FF2B5EF4-FFF2-40B4-BE49-F238E27FC236}">
                <a16:creationId xmlns:a16="http://schemas.microsoft.com/office/drawing/2014/main" id="{105073AE-3BAB-9959-75E9-6BDAB9C42CE1}"/>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21</a:t>
            </a:fld>
            <a:endParaRPr/>
          </a:p>
        </p:txBody>
      </p:sp>
      <p:sp>
        <p:nvSpPr>
          <p:cNvPr id="45" name="Google Shape;45;p3">
            <a:extLst>
              <a:ext uri="{FF2B5EF4-FFF2-40B4-BE49-F238E27FC236}">
                <a16:creationId xmlns:a16="http://schemas.microsoft.com/office/drawing/2014/main" id="{186DEA44-DE74-8BF1-9FD0-1F1BEEF60B05}"/>
              </a:ext>
            </a:extLst>
          </p:cNvPr>
          <p:cNvSpPr txBox="1">
            <a:spLocks noGrp="1"/>
          </p:cNvSpPr>
          <p:nvPr>
            <p:ph type="body" idx="1"/>
          </p:nvPr>
        </p:nvSpPr>
        <p:spPr>
          <a:xfrm>
            <a:off x="165100" y="649287"/>
            <a:ext cx="8763000" cy="4406899"/>
          </a:xfrm>
          <a:prstGeom prst="rect">
            <a:avLst/>
          </a:prstGeom>
          <a:noFill/>
          <a:ln>
            <a:noFill/>
          </a:ln>
        </p:spPr>
        <p:txBody>
          <a:bodyPr spcFirstLastPara="1" wrap="square" lIns="91425" tIns="91425" rIns="91425" bIns="91425" anchor="t" anchorCtr="0">
            <a:normAutofit fontScale="77500" lnSpcReduction="20000"/>
          </a:bodyPr>
          <a:lstStyle/>
          <a:p>
            <a:pPr marL="146368" lvl="0" indent="0">
              <a:lnSpc>
                <a:spcPct val="160000"/>
              </a:lnSpc>
              <a:buClr>
                <a:srgbClr val="595959"/>
              </a:buClr>
              <a:buSzPct val="58333"/>
            </a:pPr>
            <a:r>
              <a:rPr lang="en-US" dirty="0"/>
              <a:t>Despite the rapid growth of digital payment systems, financial fraud continues to increase due to evolving and sophisticated attack patterns. Existing fraud detection techniques largely depend on rule-based or complex learning models that struggle with severe class imbalance, limited fraud samples, and lack of real-time response. Many current systems also provide limited explainability, making it difficult for users and institutions to trust automated decisions. Therefore, there is a need for a reliable, scalable, and real-time fraud detection system that can effectively handle imbalanced transaction data, detect fraudulent behavior before transaction execution, and support transparent decision-making in digital payment environments.</a:t>
            </a:r>
            <a:endParaRPr lang="en-US" dirty="0">
              <a:solidFill>
                <a:srgbClr val="C00000"/>
              </a:solidFill>
            </a:endParaRPr>
          </a:p>
        </p:txBody>
      </p:sp>
    </p:spTree>
    <p:extLst>
      <p:ext uri="{BB962C8B-B14F-4D97-AF65-F5344CB8AC3E}">
        <p14:creationId xmlns:p14="http://schemas.microsoft.com/office/powerpoint/2010/main" val="1455877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35795-D3F6-ED75-3627-11BF1310872A}"/>
              </a:ext>
            </a:extLst>
          </p:cNvPr>
          <p:cNvSpPr>
            <a:spLocks noGrp="1"/>
          </p:cNvSpPr>
          <p:nvPr>
            <p:ph type="ctrTitle"/>
          </p:nvPr>
        </p:nvSpPr>
        <p:spPr>
          <a:xfrm>
            <a:off x="0" y="132523"/>
            <a:ext cx="4572000" cy="616777"/>
          </a:xfrm>
        </p:spPr>
        <p:txBody>
          <a:bodyPr>
            <a:normAutofit fontScale="90000"/>
          </a:bodyPr>
          <a:lstStyle/>
          <a:p>
            <a:r>
              <a:rPr lang="en-IN" dirty="0"/>
              <a:t>Objectives of the project</a:t>
            </a:r>
            <a:br>
              <a:rPr lang="en-IN" dirty="0"/>
            </a:br>
            <a:endParaRPr lang="en-IN" dirty="0"/>
          </a:p>
        </p:txBody>
      </p:sp>
      <p:sp>
        <p:nvSpPr>
          <p:cNvPr id="4" name="Slide Number Placeholder 3">
            <a:extLst>
              <a:ext uri="{FF2B5EF4-FFF2-40B4-BE49-F238E27FC236}">
                <a16:creationId xmlns:a16="http://schemas.microsoft.com/office/drawing/2014/main" id="{510DF65D-3ABF-D9E6-732D-1A9130D47C60}"/>
              </a:ext>
            </a:extLst>
          </p:cNvPr>
          <p:cNvSpPr>
            <a:spLocks noGrp="1"/>
          </p:cNvSpPr>
          <p:nvPr>
            <p:ph type="sldNum" idx="14"/>
          </p:nvPr>
        </p:nvSpPr>
        <p:spPr/>
        <p:txBody>
          <a:bodyPr/>
          <a:lstStyle/>
          <a:p>
            <a:pPr>
              <a:defRPr/>
            </a:pPr>
            <a:fld id="{EF26C623-DE27-4A99-8424-AFD36C142E5A}" type="slidenum">
              <a:rPr lang="en-US" altLang="en-US" smtClean="0"/>
              <a:pPr>
                <a:defRPr/>
              </a:pPr>
              <a:t>22</a:t>
            </a:fld>
            <a:endParaRPr lang="en-US" altLang="en-US"/>
          </a:p>
        </p:txBody>
      </p:sp>
      <p:sp>
        <p:nvSpPr>
          <p:cNvPr id="6" name="Rectangle 2">
            <a:extLst>
              <a:ext uri="{FF2B5EF4-FFF2-40B4-BE49-F238E27FC236}">
                <a16:creationId xmlns:a16="http://schemas.microsoft.com/office/drawing/2014/main" id="{E13D747A-47DA-C73C-BB4E-A56C2B462819}"/>
              </a:ext>
            </a:extLst>
          </p:cNvPr>
          <p:cNvSpPr>
            <a:spLocks noGrp="1" noChangeArrowheads="1"/>
          </p:cNvSpPr>
          <p:nvPr>
            <p:ph type="body" sz="quarter" idx="13"/>
          </p:nvPr>
        </p:nvSpPr>
        <p:spPr bwMode="auto">
          <a:xfrm>
            <a:off x="199227" y="612020"/>
            <a:ext cx="874554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To develop a </a:t>
            </a:r>
            <a:r>
              <a:rPr kumimoji="0" lang="en-US" altLang="en-US" sz="1800" b="1" i="0" u="none" strike="noStrike" cap="none" normalizeH="0" baseline="0" dirty="0">
                <a:ln>
                  <a:noFill/>
                </a:ln>
                <a:solidFill>
                  <a:schemeClr val="tx1"/>
                </a:solidFill>
                <a:effectLst/>
                <a:latin typeface="Arial" panose="020B0604020202020204" pitchFamily="34" charset="0"/>
              </a:rPr>
              <a:t>UPI transaction fraud detection system</a:t>
            </a:r>
            <a:r>
              <a:rPr kumimoji="0" lang="en-US" altLang="en-US" sz="1800" b="0" i="0" u="none" strike="noStrike" cap="none" normalizeH="0" baseline="0" dirty="0">
                <a:ln>
                  <a:noFill/>
                </a:ln>
                <a:solidFill>
                  <a:schemeClr val="tx1"/>
                </a:solidFill>
                <a:effectLst/>
                <a:latin typeface="Arial" panose="020B0604020202020204" pitchFamily="34" charset="0"/>
              </a:rPr>
              <a:t> capable of identifying fraudulent activities in real time.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To address </a:t>
            </a:r>
            <a:r>
              <a:rPr kumimoji="0" lang="en-US" altLang="en-US" sz="1800" b="1" i="0" u="none" strike="noStrike" cap="none" normalizeH="0" baseline="0" dirty="0">
                <a:ln>
                  <a:noFill/>
                </a:ln>
                <a:solidFill>
                  <a:schemeClr val="tx1"/>
                </a:solidFill>
                <a:effectLst/>
                <a:latin typeface="Arial" panose="020B0604020202020204" pitchFamily="34" charset="0"/>
              </a:rPr>
              <a:t>class imbalance in fraud data</a:t>
            </a:r>
            <a:r>
              <a:rPr kumimoji="0" lang="en-US" altLang="en-US" sz="1800" b="0" i="0" u="none" strike="noStrike" cap="none" normalizeH="0" baseline="0" dirty="0">
                <a:ln>
                  <a:noFill/>
                </a:ln>
                <a:solidFill>
                  <a:schemeClr val="tx1"/>
                </a:solidFill>
                <a:effectLst/>
                <a:latin typeface="Arial" panose="020B0604020202020204" pitchFamily="34" charset="0"/>
              </a:rPr>
              <a:t> using </a:t>
            </a:r>
            <a:r>
              <a:rPr kumimoji="0" lang="en-US" altLang="en-US" sz="1800" b="1" i="0" u="none" strike="noStrike" cap="none" normalizeH="0" baseline="0" dirty="0">
                <a:ln>
                  <a:noFill/>
                </a:ln>
                <a:solidFill>
                  <a:schemeClr val="tx1"/>
                </a:solidFill>
                <a:effectLst/>
                <a:latin typeface="Arial" panose="020B0604020202020204" pitchFamily="34" charset="0"/>
              </a:rPr>
              <a:t>Conditional GAN (CGAN)</a:t>
            </a:r>
            <a:r>
              <a:rPr kumimoji="0" lang="en-US" altLang="en-US" sz="1800" b="0" i="0" u="none" strike="noStrike" cap="none" normalizeH="0" baseline="0" dirty="0">
                <a:ln>
                  <a:noFill/>
                </a:ln>
                <a:solidFill>
                  <a:schemeClr val="tx1"/>
                </a:solidFill>
                <a:effectLst/>
                <a:latin typeface="Arial" panose="020B0604020202020204" pitchFamily="34" charset="0"/>
              </a:rPr>
              <a:t> for synthetic fraud sample generation.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To implement a </a:t>
            </a:r>
            <a:r>
              <a:rPr kumimoji="0" lang="en-US" altLang="en-US" sz="1800" b="1" i="0" u="none" strike="noStrike" cap="none" normalizeH="0" baseline="0" dirty="0">
                <a:ln>
                  <a:noFill/>
                </a:ln>
                <a:solidFill>
                  <a:schemeClr val="tx1"/>
                </a:solidFill>
                <a:effectLst/>
                <a:latin typeface="Arial" panose="020B0604020202020204" pitchFamily="34" charset="0"/>
              </a:rPr>
              <a:t>cost-sensitive machine learning model</a:t>
            </a:r>
            <a:r>
              <a:rPr kumimoji="0" lang="en-US" altLang="en-US" sz="1800" b="0" i="0" u="none" strike="noStrike" cap="none" normalizeH="0" baseline="0" dirty="0">
                <a:ln>
                  <a:noFill/>
                </a:ln>
                <a:solidFill>
                  <a:schemeClr val="tx1"/>
                </a:solidFill>
                <a:effectLst/>
                <a:latin typeface="Arial" panose="020B0604020202020204" pitchFamily="34" charset="0"/>
              </a:rPr>
              <a:t> that reduces false negatives and improves fraud detection accuracy.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To incorporate </a:t>
            </a:r>
            <a:r>
              <a:rPr kumimoji="0" lang="en-US" altLang="en-US" sz="1800" b="1" i="0" u="none" strike="noStrike" cap="none" normalizeH="0" baseline="0" dirty="0">
                <a:ln>
                  <a:noFill/>
                </a:ln>
                <a:solidFill>
                  <a:schemeClr val="tx1"/>
                </a:solidFill>
                <a:effectLst/>
                <a:latin typeface="Arial" panose="020B0604020202020204" pitchFamily="34" charset="0"/>
              </a:rPr>
              <a:t>behavioral and transactional feature analysis</a:t>
            </a:r>
            <a:r>
              <a:rPr kumimoji="0" lang="en-US" altLang="en-US" sz="1800" b="0" i="0" u="none" strike="noStrike" cap="none" normalizeH="0" baseline="0" dirty="0">
                <a:ln>
                  <a:noFill/>
                </a:ln>
                <a:solidFill>
                  <a:schemeClr val="tx1"/>
                </a:solidFill>
                <a:effectLst/>
                <a:latin typeface="Arial" panose="020B0604020202020204" pitchFamily="34" charset="0"/>
              </a:rPr>
              <a:t> for detecting unusual user activity patterns.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To provide </a:t>
            </a:r>
            <a:r>
              <a:rPr kumimoji="0" lang="en-US" altLang="en-US" sz="1800" b="1" i="0" u="none" strike="noStrike" cap="none" normalizeH="0" baseline="0" dirty="0">
                <a:ln>
                  <a:noFill/>
                </a:ln>
                <a:solidFill>
                  <a:schemeClr val="tx1"/>
                </a:solidFill>
                <a:effectLst/>
                <a:latin typeface="Arial" panose="020B0604020202020204" pitchFamily="34" charset="0"/>
              </a:rPr>
              <a:t>explainable fraud predictions</a:t>
            </a:r>
            <a:r>
              <a:rPr kumimoji="0" lang="en-US" altLang="en-US" sz="1800" b="0" i="0" u="none" strike="noStrike" cap="none" normalizeH="0" baseline="0" dirty="0">
                <a:ln>
                  <a:noFill/>
                </a:ln>
                <a:solidFill>
                  <a:schemeClr val="tx1"/>
                </a:solidFill>
                <a:effectLst/>
                <a:latin typeface="Arial" panose="020B0604020202020204" pitchFamily="34" charset="0"/>
              </a:rPr>
              <a:t> using SHAP for transparent and trustworthy decision-making.</a:t>
            </a:r>
          </a:p>
        </p:txBody>
      </p:sp>
    </p:spTree>
    <p:extLst>
      <p:ext uri="{BB962C8B-B14F-4D97-AF65-F5344CB8AC3E}">
        <p14:creationId xmlns:p14="http://schemas.microsoft.com/office/powerpoint/2010/main" val="31074926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7A04FF15-7FBD-E39E-5752-EE62519D332A}"/>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DD0B272E-A254-5C4C-1E19-D8888CB21439}"/>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References:</a:t>
            </a:r>
            <a:endParaRPr dirty="0"/>
          </a:p>
        </p:txBody>
      </p:sp>
      <p:sp>
        <p:nvSpPr>
          <p:cNvPr id="44" name="Google Shape;44;p3">
            <a:extLst>
              <a:ext uri="{FF2B5EF4-FFF2-40B4-BE49-F238E27FC236}">
                <a16:creationId xmlns:a16="http://schemas.microsoft.com/office/drawing/2014/main" id="{5FF89DDA-8225-B3D0-C1F9-D490BBB1912F}"/>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23</a:t>
            </a:fld>
            <a:endParaRPr/>
          </a:p>
        </p:txBody>
      </p:sp>
      <p:sp>
        <p:nvSpPr>
          <p:cNvPr id="45" name="Google Shape;45;p3">
            <a:extLst>
              <a:ext uri="{FF2B5EF4-FFF2-40B4-BE49-F238E27FC236}">
                <a16:creationId xmlns:a16="http://schemas.microsoft.com/office/drawing/2014/main" id="{279FA729-90EA-EB63-86E6-4B9A5DEBA070}"/>
              </a:ext>
            </a:extLst>
          </p:cNvPr>
          <p:cNvSpPr txBox="1">
            <a:spLocks noGrp="1"/>
          </p:cNvSpPr>
          <p:nvPr>
            <p:ph type="body" idx="1"/>
          </p:nvPr>
        </p:nvSpPr>
        <p:spPr>
          <a:xfrm>
            <a:off x="0" y="649287"/>
            <a:ext cx="9144000" cy="4693180"/>
          </a:xfrm>
          <a:prstGeom prst="rect">
            <a:avLst/>
          </a:prstGeom>
          <a:noFill/>
          <a:ln>
            <a:noFill/>
          </a:ln>
        </p:spPr>
        <p:txBody>
          <a:bodyPr spcFirstLastPara="1" wrap="square" lIns="91425" tIns="91425" rIns="91425" bIns="91425" anchor="t" anchorCtr="0">
            <a:normAutofit fontScale="25000" lnSpcReduction="20000"/>
          </a:bodyPr>
          <a:lstStyle/>
          <a:p>
            <a:pPr algn="just">
              <a:lnSpc>
                <a:spcPct val="170000"/>
              </a:lnSpc>
            </a:pPr>
            <a:r>
              <a:rPr lang="en-IN" sz="6400" dirty="0"/>
              <a:t>[1] D. </a:t>
            </a:r>
            <a:r>
              <a:rPr lang="en-IN" sz="6400" dirty="0" err="1"/>
              <a:t>Hirnschall</a:t>
            </a:r>
            <a:r>
              <a:rPr lang="en-IN" sz="6400" dirty="0"/>
              <a:t>, “Semi-Supervised Generative Adversarial Networks for Credit Card Fraud Detection,” </a:t>
            </a:r>
            <a:r>
              <a:rPr lang="en-IN" sz="6400" i="1" dirty="0"/>
              <a:t>IEEE Transactions on Artificial Intelligence</a:t>
            </a:r>
            <a:r>
              <a:rPr lang="en-IN" sz="6400" dirty="0"/>
              <a:t>, early access, 2025.</a:t>
            </a:r>
          </a:p>
          <a:p>
            <a:pPr algn="just">
              <a:lnSpc>
                <a:spcPct val="170000"/>
              </a:lnSpc>
            </a:pPr>
            <a:r>
              <a:rPr lang="en-IN" sz="6400" dirty="0"/>
              <a:t>[2] M. </a:t>
            </a:r>
            <a:r>
              <a:rPr lang="en-IN" sz="6400" dirty="0" err="1"/>
              <a:t>RezvaniNejad</a:t>
            </a:r>
            <a:r>
              <a:rPr lang="en-IN" sz="6400" dirty="0"/>
              <a:t>, A. Khosravi, and S. </a:t>
            </a:r>
            <a:r>
              <a:rPr lang="en-IN" sz="6400" dirty="0" err="1"/>
              <a:t>Nahavandi</a:t>
            </a:r>
            <a:r>
              <a:rPr lang="en-IN" sz="6400" dirty="0"/>
              <a:t>, “WDAE-GAN: Generative Adversarial Network for Financial Fraud Detection,” </a:t>
            </a:r>
            <a:r>
              <a:rPr lang="en-IN" sz="6400" i="1" dirty="0"/>
              <a:t>Expert Systems with Applications</a:t>
            </a:r>
            <a:r>
              <a:rPr lang="en-IN" sz="6400" dirty="0"/>
              <a:t>, vol. 247, pp. 123456–123468, 2025.</a:t>
            </a:r>
          </a:p>
          <a:p>
            <a:pPr algn="just">
              <a:lnSpc>
                <a:spcPct val="170000"/>
              </a:lnSpc>
            </a:pPr>
            <a:r>
              <a:rPr lang="en-IN" sz="6400" dirty="0"/>
              <a:t>[3] S. Li, S. B. </a:t>
            </a:r>
            <a:r>
              <a:rPr lang="en-IN" sz="6400" dirty="0" err="1"/>
              <a:t>Hulayyil</a:t>
            </a:r>
            <a:r>
              <a:rPr lang="en-IN" sz="6400" dirty="0"/>
              <a:t>, and N. Saxena, “Explainable AI-Based Fraud and Intrusion Detection in IoT Systems,” </a:t>
            </a:r>
            <a:r>
              <a:rPr lang="en-IN" sz="6400" i="1" dirty="0"/>
              <a:t>IEEE Internet of Things Journal</a:t>
            </a:r>
            <a:r>
              <a:rPr lang="en-IN" sz="6400" dirty="0"/>
              <a:t>, early access, 2025.</a:t>
            </a:r>
          </a:p>
          <a:p>
            <a:pPr algn="just">
              <a:lnSpc>
                <a:spcPct val="170000"/>
              </a:lnSpc>
            </a:pPr>
            <a:r>
              <a:rPr lang="en-IN" sz="6400" dirty="0"/>
              <a:t>[4] D. Gaspar, P. Silva, and C. Silva, “Explainable AI for Intrusion Detection Systems: SHAP Applicability on Multi-Layer Perceptron,” </a:t>
            </a:r>
            <a:r>
              <a:rPr lang="en-IN" sz="6400" i="1" dirty="0"/>
              <a:t>IEEE Access</a:t>
            </a:r>
            <a:r>
              <a:rPr lang="en-IN" sz="6400" dirty="0"/>
              <a:t>, vol. 12, pp. 30164–30175, 2024.</a:t>
            </a:r>
          </a:p>
          <a:p>
            <a:pPr algn="just">
              <a:lnSpc>
                <a:spcPct val="170000"/>
              </a:lnSpc>
            </a:pPr>
            <a:r>
              <a:rPr lang="en-IN" sz="6400" dirty="0"/>
              <a:t>[5] Y. Xie, J. Wang, and H. Liu, “Learning Transactional </a:t>
            </a:r>
            <a:r>
              <a:rPr lang="en-IN" sz="6400" dirty="0" err="1"/>
              <a:t>Behavioral</a:t>
            </a:r>
            <a:r>
              <a:rPr lang="en-IN" sz="6400" dirty="0"/>
              <a:t> Representations for Credit Card Fraud Detection,” </a:t>
            </a:r>
            <a:r>
              <a:rPr lang="en-IN" sz="6400" i="1" dirty="0"/>
              <a:t>IEEE Transactions on Neural Networks and Learning Systems</a:t>
            </a:r>
            <a:r>
              <a:rPr lang="en-IN" sz="6400" dirty="0"/>
              <a:t>, vol. 35, no. 4, pp. 5123–5136, 2024.</a:t>
            </a:r>
          </a:p>
        </p:txBody>
      </p:sp>
    </p:spTree>
    <p:extLst>
      <p:ext uri="{BB962C8B-B14F-4D97-AF65-F5344CB8AC3E}">
        <p14:creationId xmlns:p14="http://schemas.microsoft.com/office/powerpoint/2010/main" val="9370865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6ECA275E-693B-70CD-9A2B-D8DB0F250AF4}"/>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93D47430-240A-E6F8-AFD1-2F9A0D17378C}"/>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References:</a:t>
            </a:r>
            <a:endParaRPr dirty="0"/>
          </a:p>
        </p:txBody>
      </p:sp>
      <p:sp>
        <p:nvSpPr>
          <p:cNvPr id="44" name="Google Shape;44;p3">
            <a:extLst>
              <a:ext uri="{FF2B5EF4-FFF2-40B4-BE49-F238E27FC236}">
                <a16:creationId xmlns:a16="http://schemas.microsoft.com/office/drawing/2014/main" id="{2086CAF8-15BC-9C2C-D54C-C348C34E73C9}"/>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24</a:t>
            </a:fld>
            <a:endParaRPr/>
          </a:p>
        </p:txBody>
      </p:sp>
      <p:sp>
        <p:nvSpPr>
          <p:cNvPr id="45" name="Google Shape;45;p3">
            <a:extLst>
              <a:ext uri="{FF2B5EF4-FFF2-40B4-BE49-F238E27FC236}">
                <a16:creationId xmlns:a16="http://schemas.microsoft.com/office/drawing/2014/main" id="{0DBF235E-FDDB-BF21-1824-AF35F949E03F}"/>
              </a:ext>
            </a:extLst>
          </p:cNvPr>
          <p:cNvSpPr txBox="1">
            <a:spLocks noGrp="1"/>
          </p:cNvSpPr>
          <p:nvPr>
            <p:ph type="body" idx="1"/>
          </p:nvPr>
        </p:nvSpPr>
        <p:spPr>
          <a:xfrm>
            <a:off x="0" y="649287"/>
            <a:ext cx="9144000" cy="4693180"/>
          </a:xfrm>
          <a:prstGeom prst="rect">
            <a:avLst/>
          </a:prstGeom>
          <a:noFill/>
          <a:ln>
            <a:noFill/>
          </a:ln>
        </p:spPr>
        <p:txBody>
          <a:bodyPr spcFirstLastPara="1" wrap="square" lIns="91425" tIns="91425" rIns="91425" bIns="91425" anchor="t" anchorCtr="0">
            <a:normAutofit fontScale="25000" lnSpcReduction="20000"/>
          </a:bodyPr>
          <a:lstStyle/>
          <a:p>
            <a:pPr algn="just">
              <a:lnSpc>
                <a:spcPct val="170000"/>
              </a:lnSpc>
            </a:pPr>
            <a:r>
              <a:rPr lang="en-IN" sz="6400" dirty="0"/>
              <a:t>[6] J. Ge and Y. Chen, “Gated Attention-Based Generative Adversarial Networks for Financial Fraud Detection,” </a:t>
            </a:r>
            <a:r>
              <a:rPr lang="en-IN" sz="6400" i="1" dirty="0"/>
              <a:t>IEEE Access</a:t>
            </a:r>
            <a:r>
              <a:rPr lang="en-IN" sz="6400" dirty="0"/>
              <a:t>, vol. 12, pp. 84521–84534, 2024.</a:t>
            </a:r>
          </a:p>
          <a:p>
            <a:pPr algn="just">
              <a:lnSpc>
                <a:spcPct val="170000"/>
              </a:lnSpc>
            </a:pPr>
            <a:r>
              <a:rPr lang="en-IN" sz="6400" dirty="0"/>
              <a:t>[7] A. Al-</a:t>
            </a:r>
            <a:r>
              <a:rPr lang="en-IN" sz="6400" dirty="0" err="1"/>
              <a:t>Hawawreh</a:t>
            </a:r>
            <a:r>
              <a:rPr lang="en-IN" sz="6400" dirty="0"/>
              <a:t>, N. </a:t>
            </a:r>
            <a:r>
              <a:rPr lang="en-IN" sz="6400" dirty="0" err="1"/>
              <a:t>Neshenko</a:t>
            </a:r>
            <a:r>
              <a:rPr lang="en-IN" sz="6400" dirty="0"/>
              <a:t>, and E. Bou-Harb, “Explainable Machine Learning for Trustworthy Fraud and Intrusion Detection,” </a:t>
            </a:r>
            <a:r>
              <a:rPr lang="en-IN" sz="6400" i="1" dirty="0"/>
              <a:t>IEEE Internet of Things Journal</a:t>
            </a:r>
            <a:r>
              <a:rPr lang="en-IN" sz="6400" dirty="0"/>
              <a:t>, vol. 11, no. 6, pp. 10432–10445, 2024.</a:t>
            </a:r>
          </a:p>
          <a:p>
            <a:pPr algn="just">
              <a:lnSpc>
                <a:spcPct val="170000"/>
              </a:lnSpc>
            </a:pPr>
            <a:r>
              <a:rPr lang="en-IN" sz="6400" dirty="0"/>
              <a:t>[8] F. </a:t>
            </a:r>
            <a:r>
              <a:rPr lang="en-IN" sz="6400" dirty="0" err="1"/>
              <a:t>Carcillo</a:t>
            </a:r>
            <a:r>
              <a:rPr lang="en-IN" sz="6400" dirty="0"/>
              <a:t>, Y.-A. Bontempi, and G. </a:t>
            </a:r>
            <a:r>
              <a:rPr lang="en-IN" sz="6400" dirty="0" err="1"/>
              <a:t>Snoeck</a:t>
            </a:r>
            <a:r>
              <a:rPr lang="en-IN" sz="6400" dirty="0"/>
              <a:t>, “Scarff: A Scalable Framework for Fraud Detection with Imbalanced Data,” in </a:t>
            </a:r>
            <a:r>
              <a:rPr lang="en-IN" sz="6400" i="1" dirty="0"/>
              <a:t>Proc. IEEE Int. Conf. Data Science and Advanced Analytics (DSAA)</a:t>
            </a:r>
            <a:r>
              <a:rPr lang="en-IN" sz="6400" dirty="0"/>
              <a:t>, 2023, pp. 1–10.</a:t>
            </a:r>
          </a:p>
          <a:p>
            <a:pPr algn="just">
              <a:lnSpc>
                <a:spcPct val="170000"/>
              </a:lnSpc>
            </a:pPr>
            <a:r>
              <a:rPr lang="en-IN" sz="6400" dirty="0"/>
              <a:t>[9] U. Fiore, A. De Santis, F. Perla, and F. Palmieri, “Using Generative Adversarial Networks for Improving Classification Effectiveness in Credit Card Fraud Detection,” </a:t>
            </a:r>
            <a:r>
              <a:rPr lang="en-IN" sz="6400" i="1" dirty="0"/>
              <a:t>IEEE Access</a:t>
            </a:r>
            <a:r>
              <a:rPr lang="en-IN" sz="6400" dirty="0"/>
              <a:t>, vol. 11, pp. 130232–130245, 2023.</a:t>
            </a:r>
          </a:p>
          <a:p>
            <a:pPr>
              <a:lnSpc>
                <a:spcPct val="120000"/>
              </a:lnSpc>
            </a:pPr>
            <a:endParaRPr lang="en-IN" sz="6400" dirty="0"/>
          </a:p>
        </p:txBody>
      </p:sp>
    </p:spTree>
    <p:extLst>
      <p:ext uri="{BB962C8B-B14F-4D97-AF65-F5344CB8AC3E}">
        <p14:creationId xmlns:p14="http://schemas.microsoft.com/office/powerpoint/2010/main" val="1169275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a:off x="0" y="2252662"/>
            <a:ext cx="9144000" cy="841375"/>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US" sz="3600" b="1" i="0" u="none">
                <a:solidFill>
                  <a:srgbClr val="000000"/>
                </a:solidFill>
                <a:latin typeface="Times New Roman"/>
                <a:ea typeface="Times New Roman"/>
                <a:cs typeface="Times New Roman"/>
                <a:sym typeface="Times New Roman"/>
              </a:rPr>
              <a:t>Thank you</a:t>
            </a:r>
            <a:endParaRPr/>
          </a:p>
        </p:txBody>
      </p:sp>
      <p:sp>
        <p:nvSpPr>
          <p:cNvPr id="84" name="Google Shape;84;p1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25</a:t>
            </a:fld>
            <a:endParaRPr/>
          </a:p>
        </p:txBody>
      </p:sp>
    </p:spTree>
  </p:cSld>
  <p:clrMapOvr>
    <a:masterClrMapping/>
  </p:clrMapOvr>
</p:sld>
</file>

<file path=ppt/theme/theme1.xml><?xml version="1.0" encoding="utf-8"?>
<a:theme xmlns:a="http://schemas.openxmlformats.org/drawingml/2006/main" name="2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2596</TotalTime>
  <Words>2263</Words>
  <Application>Microsoft Office PowerPoint</Application>
  <PresentationFormat>On-screen Show (16:9)</PresentationFormat>
  <Paragraphs>201</Paragraphs>
  <Slides>25</Slides>
  <Notes>23</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25</vt:i4>
      </vt:variant>
    </vt:vector>
  </HeadingPairs>
  <TitlesOfParts>
    <vt:vector size="29" baseType="lpstr">
      <vt:lpstr>Arial</vt:lpstr>
      <vt:lpstr>Times New Roman</vt:lpstr>
      <vt:lpstr>2_Simple Light</vt:lpstr>
      <vt:lpstr>1_Simple Light</vt:lpstr>
      <vt:lpstr>    Gokaraju Rangaraju Institute of Engineering and Technology  (Autonomous) Department of Data Science  Mini Project with seminar (CSE(DS))</vt:lpstr>
      <vt:lpstr> UPI Transaction based Fraud Detection System using Generative AI and Machine Learning Techniques</vt:lpstr>
      <vt:lpstr>Introduction :</vt:lpstr>
      <vt:lpstr>Project Work Flow:</vt:lpstr>
      <vt:lpstr>Project Work Flow:</vt:lpstr>
      <vt:lpstr>CGAN Architecture:</vt:lpstr>
      <vt:lpstr>Use Case:</vt:lpstr>
      <vt:lpstr>Base paper details</vt:lpstr>
      <vt:lpstr>Base paper details</vt:lpstr>
      <vt:lpstr>Comparison with Base paper(Base Paper vs Our Project): </vt:lpstr>
      <vt:lpstr>Comparison with Base paper(Base Paper vs Our Project): </vt:lpstr>
      <vt:lpstr>Literature review:</vt:lpstr>
      <vt:lpstr>Literature review:</vt:lpstr>
      <vt:lpstr>Literature review:</vt:lpstr>
      <vt:lpstr>Literature review:</vt:lpstr>
      <vt:lpstr>Literature review:</vt:lpstr>
      <vt:lpstr>Literature review:</vt:lpstr>
      <vt:lpstr>Literature review:</vt:lpstr>
      <vt:lpstr>PowerPoint Presentation</vt:lpstr>
      <vt:lpstr>Research Gaps</vt:lpstr>
      <vt:lpstr>Problem statement</vt:lpstr>
      <vt:lpstr>Objectives of the project </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OM</dc:creator>
  <cp:lastModifiedBy>Nadeem MD</cp:lastModifiedBy>
  <cp:revision>31</cp:revision>
  <dcterms:modified xsi:type="dcterms:W3CDTF">2026-01-20T12:03:19Z</dcterms:modified>
</cp:coreProperties>
</file>