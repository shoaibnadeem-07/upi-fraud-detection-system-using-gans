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27"/>
  </p:notesMasterIdLst>
  <p:sldIdLst>
    <p:sldId id="256" r:id="rId3"/>
    <p:sldId id="257" r:id="rId4"/>
    <p:sldId id="265" r:id="rId5"/>
    <p:sldId id="269" r:id="rId6"/>
    <p:sldId id="270" r:id="rId7"/>
    <p:sldId id="272" r:id="rId8"/>
    <p:sldId id="273" r:id="rId9"/>
    <p:sldId id="298" r:id="rId10"/>
    <p:sldId id="274" r:id="rId11"/>
    <p:sldId id="282" r:id="rId12"/>
    <p:sldId id="283" r:id="rId13"/>
    <p:sldId id="284" r:id="rId14"/>
    <p:sldId id="285" r:id="rId15"/>
    <p:sldId id="286" r:id="rId16"/>
    <p:sldId id="296" r:id="rId17"/>
    <p:sldId id="297" r:id="rId18"/>
    <p:sldId id="275" r:id="rId19"/>
    <p:sldId id="276" r:id="rId20"/>
    <p:sldId id="277" r:id="rId21"/>
    <p:sldId id="278" r:id="rId22"/>
    <p:sldId id="279" r:id="rId23"/>
    <p:sldId id="287" r:id="rId24"/>
    <p:sldId id="288" r:id="rId25"/>
    <p:sldId id="264"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F25F09-62AD-4CC3-B45D-3A098FCA4B77}" v="13" dt="2025-12-18T04:52:15.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slide" Target="slides/slide19.xml"/><Relationship Id="rId34"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9093127E-21CE-E8AC-9202-CE073418E672}"/>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9702AF09-5ACF-B1F1-14AB-84649CF39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48999F61-3461-DD42-1AD7-C20C67A37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06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A7DEA139-707D-9A25-9E97-DD3507A8F1B1}"/>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97CA9A6C-FB29-9C84-D26F-8560139996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B401F99-7310-CF7C-C310-C3DA4EAC8A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4002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0DAD139B-E08A-5461-3E0D-8D9F907D66D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737C211-36AE-DC3A-842B-24FAA08868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12E3DB2-CB2D-DB1E-9F73-613B2C13B1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711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A1937E7-EF46-6491-A10B-8350E66D29B4}"/>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26BFDFB7-C9F7-9A72-AFED-67C2251C4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6FECE31B-9D8B-4D1A-E548-3CA2924D3D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25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CC509BC-4AB7-E087-2ECD-F691BE10DD4B}"/>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42D1B72-197E-4969-EBCE-54F43F1288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1D376FF-8709-6B91-1A08-D23267017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843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7E72078-FFBF-FDB2-FE2D-3B12533F201B}"/>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7E20FA2E-A21C-59DE-0E6C-02A9E2BB89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3E384E3B-034D-79CC-CD23-3B558839A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2054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D10BE7E7-B8DC-DCA3-1028-0BC5B96C808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50F97ACF-BFD0-432E-66D8-A2CCACC46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3EB4445-4726-48AE-36E0-A9283B8B68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3128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5901580A-626D-13C1-D320-E6C03A7F21DD}"/>
            </a:ext>
          </a:extLst>
        </p:cNvPr>
        <p:cNvGrpSpPr/>
        <p:nvPr/>
      </p:nvGrpSpPr>
      <p:grpSpPr>
        <a:xfrm>
          <a:off x="0" y="0"/>
          <a:ext cx="0" cy="0"/>
          <a:chOff x="0" y="0"/>
          <a:chExt cx="0" cy="0"/>
        </a:xfrm>
      </p:grpSpPr>
      <p:sp>
        <p:nvSpPr>
          <p:cNvPr id="34" name="Google Shape;34;p2:notes">
            <a:extLst>
              <a:ext uri="{FF2B5EF4-FFF2-40B4-BE49-F238E27FC236}">
                <a16:creationId xmlns:a16="http://schemas.microsoft.com/office/drawing/2014/main" id="{E009D499-26FC-F2E3-3991-25B4C168A2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a:extLst>
              <a:ext uri="{FF2B5EF4-FFF2-40B4-BE49-F238E27FC236}">
                <a16:creationId xmlns:a16="http://schemas.microsoft.com/office/drawing/2014/main" id="{67489211-3192-1D2D-55A2-BA43B2ACDC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1751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BCB18387-2AA9-9EED-C0E6-B059E109680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E090F88F-D30C-7AE0-FAE4-180E0695E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1E485C1-D6CD-B14D-DB9C-DBA24C6C8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0364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5542513-4E73-5E3D-0AEE-E85126E522B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B2A6B871-8B9E-4CF7-6C2B-52889A97E7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7FA8C58-34FC-5998-2EFC-DDF1F9A9DA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301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7ACF6497-A675-740F-2265-E5EDC7CA2B3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A9FDED69-012F-0428-C018-FBF2A308F0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8812363B-B398-D623-EC8D-FCD2B8F6DA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6579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B13BFBE6-3B5D-446F-C94B-92E74ED06AAC}"/>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63D7415-BB24-71C4-F0A5-DE18501D9B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D33C143A-AFE8-880F-58DE-9F9B246E58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8838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84B349E1-C934-39E3-776C-4EB82F56173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3358D028-D7D1-BDF3-6A4A-067E5D2BA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2F25060-D0BE-6A9B-06C1-C4EB22A012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85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7BE3E88-0432-928F-C512-D5551F1CC49A}"/>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DF8FD63-D4CB-F090-70B5-2B83E66720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C8F5296-3749-7D96-72F6-669BDA3ED1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51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7FCEBDBF-85FA-3762-1199-F412F75C3188}"/>
            </a:ext>
          </a:extLst>
        </p:cNvPr>
        <p:cNvGrpSpPr/>
        <p:nvPr/>
      </p:nvGrpSpPr>
      <p:grpSpPr>
        <a:xfrm>
          <a:off x="0" y="0"/>
          <a:ext cx="0" cy="0"/>
          <a:chOff x="0" y="0"/>
          <a:chExt cx="0" cy="0"/>
        </a:xfrm>
      </p:grpSpPr>
      <p:sp>
        <p:nvSpPr>
          <p:cNvPr id="34" name="Google Shape;34;p2:notes">
            <a:extLst>
              <a:ext uri="{FF2B5EF4-FFF2-40B4-BE49-F238E27FC236}">
                <a16:creationId xmlns:a16="http://schemas.microsoft.com/office/drawing/2014/main" id="{FCE4F027-DCAE-A831-9EE3-CD6F4F092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a:extLst>
              <a:ext uri="{FF2B5EF4-FFF2-40B4-BE49-F238E27FC236}">
                <a16:creationId xmlns:a16="http://schemas.microsoft.com/office/drawing/2014/main" id="{81E9C6D7-B4B3-11B0-42DC-0868EEF685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1539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5644609-7C41-7EEF-3A0A-07EC80D75DAA}"/>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F57FDEDA-3018-2121-93CB-27695E6882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04868F5-5D3C-6128-3869-BDDEE28186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5082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80BAE0FE-BC0A-8DF9-33F6-A29E2A2A4AC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5F9B5145-8CB5-3F39-6826-92142DFBA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7B58F4C2-CF31-4F1E-EE7D-D28939CFD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6462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108193A0-0118-5BE9-BD56-993E8D85E310}"/>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8DAF9588-4DCC-0B33-5275-4D648BEF03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4CFBEE0-5E18-ECB1-A519-B918894941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996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AA7D23F6-56C1-56AC-0D73-FE5E1DE0036C}"/>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C4BE8C9-E0C4-3E3B-4161-B2D0CD0EF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C826C893-216C-C49C-0893-E035C516A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867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84B349E1-C934-39E3-776C-4EB82F56173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3358D028-D7D1-BDF3-6A4A-067E5D2BA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2F25060-D0BE-6A9B-06C1-C4EB22A012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853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7BE3E88-0432-928F-C512-D5551F1CC49A}"/>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DF8FD63-D4CB-F090-70B5-2B83E66720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C8F5296-3749-7D96-72F6-669BDA3ED1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515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86477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046155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cpeterson/choices13k?utm_source=chatgpt.com"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hyperlink" Target="https://studentlife.cs.dartmouth.edu/dataset.html" TargetMode="External"/><Relationship Id="rId4" Type="http://schemas.openxmlformats.org/officeDocument/2006/relationships/hyperlink" Target="https://www.worldvaluessurvey.org/?utm_source=chatgpt.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a:t>
            </a:r>
            <a:r>
              <a:rPr lang="en-US" sz="1800" b="1" i="0" u="none">
                <a:solidFill>
                  <a:schemeClr val="dk1"/>
                </a:solidFill>
                <a:latin typeface="Times New Roman"/>
                <a:ea typeface="Times New Roman"/>
                <a:cs typeface="Times New Roman"/>
                <a:sym typeface="Times New Roman"/>
              </a:rPr>
              <a:t>Project </a:t>
            </a:r>
            <a:r>
              <a:rPr lang="en-US" sz="1800">
                <a:solidFill>
                  <a:schemeClr val="dk1"/>
                </a:solidFill>
              </a:rPr>
              <a:t>with seminar</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US" sz="2200" b="1" i="0" u="none" strike="noStrike" cap="none" dirty="0">
                <a:solidFill>
                  <a:srgbClr val="0D5BDC"/>
                </a:solidFill>
                <a:latin typeface="Times New Roman"/>
                <a:ea typeface="Times New Roman"/>
                <a:cs typeface="Times New Roman"/>
                <a:sym typeface="Times New Roman"/>
              </a:rPr>
              <a:t>Review </a:t>
            </a:r>
            <a:r>
              <a:rPr lang="en-US" sz="2200" b="1" dirty="0">
                <a:solidFill>
                  <a:srgbClr val="0D5BDC"/>
                </a:solidFill>
                <a:latin typeface="Times New Roman"/>
                <a:ea typeface="Times New Roman"/>
                <a:cs typeface="Times New Roman"/>
                <a:sym typeface="Times New Roman"/>
              </a:rPr>
              <a:t>0</a:t>
            </a:r>
            <a:r>
              <a:rPr lang="en-US" sz="2200" b="1" i="0" u="none" strike="noStrike" cap="none" dirty="0">
                <a:solidFill>
                  <a:srgbClr val="0D5BDC"/>
                </a:solidFill>
                <a:latin typeface="Times New Roman"/>
                <a:ea typeface="Times New Roman"/>
                <a:cs typeface="Times New Roman"/>
                <a:sym typeface="Times New Roman"/>
              </a:rPr>
              <a:t>:</a:t>
            </a:r>
            <a:r>
              <a:rPr lang="en-US" sz="2200" b="1" dirty="0">
                <a:solidFill>
                  <a:srgbClr val="0D5BDC"/>
                </a:solidFill>
                <a:latin typeface="Times New Roman"/>
                <a:ea typeface="Times New Roman"/>
                <a:cs typeface="Times New Roman"/>
                <a:sym typeface="Times New Roman"/>
              </a:rPr>
              <a:t> </a:t>
            </a:r>
            <a:r>
              <a:rPr lang="en-US" sz="2200" b="1" i="0" u="none" strike="noStrike" cap="none" dirty="0">
                <a:solidFill>
                  <a:srgbClr val="0D5BDC"/>
                </a:solidFill>
                <a:latin typeface="Times New Roman"/>
                <a:ea typeface="Times New Roman"/>
                <a:cs typeface="Times New Roman"/>
                <a:sym typeface="Times New Roman"/>
              </a:rPr>
              <a:t>Project </a:t>
            </a:r>
            <a:r>
              <a:rPr lang="en-US" sz="2200" b="1" dirty="0">
                <a:solidFill>
                  <a:srgbClr val="0D5BDC"/>
                </a:solidFill>
                <a:latin typeface="Times New Roman"/>
                <a:ea typeface="Times New Roman"/>
                <a:cs typeface="Times New Roman"/>
                <a:sym typeface="Times New Roman"/>
              </a:rPr>
              <a:t>S</a:t>
            </a:r>
            <a:r>
              <a:rPr lang="en-US" sz="2200" b="1" i="0" u="none" strike="noStrike" cap="none" dirty="0">
                <a:solidFill>
                  <a:srgbClr val="0D5BDC"/>
                </a:solidFill>
                <a:latin typeface="Times New Roman"/>
                <a:ea typeface="Times New Roman"/>
                <a:cs typeface="Times New Roman"/>
                <a:sym typeface="Times New Roman"/>
              </a:rPr>
              <a:t>election</a:t>
            </a:r>
            <a:endParaRPr dirty="0"/>
          </a:p>
          <a:p>
            <a:pPr marL="0" marR="0" lvl="0" indent="0" algn="ctr" rtl="0">
              <a:lnSpc>
                <a:spcPct val="115000"/>
              </a:lnSpc>
              <a:spcBef>
                <a:spcPts val="0"/>
              </a:spcBef>
              <a:spcAft>
                <a:spcPts val="0"/>
              </a:spcAft>
              <a:buClr>
                <a:srgbClr val="000000"/>
              </a:buClr>
              <a:buSzPts val="2200"/>
              <a:buFont typeface="Arial"/>
              <a:buNone/>
            </a:pPr>
            <a:endParaRPr sz="2200" b="1" i="0" u="none" strike="noStrike" cap="none" dirty="0">
              <a:solidFill>
                <a:srgbClr val="0D5BDC"/>
              </a:solidFill>
              <a:latin typeface="Times New Roman"/>
              <a:ea typeface="Times New Roman"/>
              <a:cs typeface="Times New Roman"/>
              <a:sym typeface="Times New Roman"/>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sp>
        <p:nvSpPr>
          <p:cNvPr id="30" name="Google Shape;30;p1"/>
          <p:cNvSpPr txBox="1"/>
          <p:nvPr/>
        </p:nvSpPr>
        <p:spPr>
          <a:xfrm>
            <a:off x="301625" y="3568700"/>
            <a:ext cx="4260900" cy="11892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 Mr. Md. Shoaib Nadeem (2324167A0)</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2. Mr. Vishal Abhishek (23241A6774)</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3. Mr. Shiva Kumar (23241A6797)</a:t>
            </a:r>
            <a:endParaRPr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4876800" y="3441700"/>
            <a:ext cx="4106862" cy="144145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Name :Dr. M. Kiran Kumar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Designation :Associate Professor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Department : DS</a:t>
            </a: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US" sz="3200" b="1" dirty="0" err="1">
                <a:solidFill>
                  <a:srgbClr val="C00000"/>
                </a:solidFill>
                <a:latin typeface="Times New Roman"/>
                <a:cs typeface="Times New Roman"/>
                <a:sym typeface="Times New Roman"/>
              </a:rPr>
              <a:t>SafePay</a:t>
            </a:r>
            <a:r>
              <a:rPr lang="en-US" sz="3200" b="1" dirty="0">
                <a:solidFill>
                  <a:srgbClr val="C00000"/>
                </a:solidFill>
                <a:latin typeface="Times New Roman"/>
                <a:cs typeface="Times New Roman"/>
                <a:sym typeface="Times New Roman"/>
              </a:rPr>
              <a:t> AI</a:t>
            </a:r>
            <a:endParaRPr dirty="0">
              <a:solidFill>
                <a:srgbClr val="C00000"/>
              </a:solidFill>
            </a:endParaRPr>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A620F4D-DC79-E79F-0CDF-170DE2A66563}"/>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D2D41973-01D0-486B-B8F0-65EFE0BA0E1B}"/>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FBCBD7B1-A8F5-2AA3-23C2-8B8E1DC4A599}"/>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58" name="Google Shape;58;g32a3e1ea9ea_0_31">
            <a:extLst>
              <a:ext uri="{FF2B5EF4-FFF2-40B4-BE49-F238E27FC236}">
                <a16:creationId xmlns:a16="http://schemas.microsoft.com/office/drawing/2014/main" id="{07EBEB25-FC88-7B87-7DAD-851E38363032}"/>
              </a:ext>
            </a:extLst>
          </p:cNvPr>
          <p:cNvSpPr txBox="1">
            <a:spLocks noGrp="1"/>
          </p:cNvSpPr>
          <p:nvPr>
            <p:ph type="body" idx="1"/>
          </p:nvPr>
        </p:nvSpPr>
        <p:spPr>
          <a:xfrm>
            <a:off x="53588" y="728546"/>
            <a:ext cx="8763000" cy="4414954"/>
          </a:xfrm>
          <a:prstGeom prst="rect">
            <a:avLst/>
          </a:prstGeom>
          <a:noFill/>
          <a:ln>
            <a:noFill/>
          </a:ln>
        </p:spPr>
        <p:txBody>
          <a:bodyPr spcFirstLastPara="1" wrap="square" lIns="91425" tIns="91425" rIns="91425" bIns="91425" anchor="t" anchorCtr="0">
            <a:normAutofit fontScale="92500"/>
          </a:bodyPr>
          <a:lstStyle/>
          <a:p>
            <a:pPr algn="just"/>
            <a:r>
              <a:rPr lang="en-US" sz="2000" dirty="0"/>
              <a:t>This project addresses the challenge of detecting online payment fraud in </a:t>
            </a:r>
            <a:r>
              <a:rPr lang="en-US" sz="2000" b="1" dirty="0"/>
              <a:t>highly</a:t>
            </a:r>
          </a:p>
          <a:p>
            <a:pPr algn="just"/>
            <a:r>
              <a:rPr lang="en-US" sz="2000" b="1" dirty="0"/>
              <a:t>imbalanced and dynamically evolving transaction data</a:t>
            </a:r>
            <a:r>
              <a:rPr lang="en-US" sz="2000" dirty="0"/>
              <a:t> by employing a</a:t>
            </a:r>
          </a:p>
          <a:p>
            <a:pPr algn="just"/>
            <a:r>
              <a:rPr lang="en-US" sz="2000" b="1" dirty="0"/>
              <a:t>Conditional Generative Adversarial Network (CGAN)</a:t>
            </a:r>
            <a:r>
              <a:rPr lang="en-US" sz="2000" dirty="0"/>
              <a:t> to generate realistic</a:t>
            </a:r>
          </a:p>
          <a:p>
            <a:pPr algn="just"/>
            <a:r>
              <a:rPr lang="en-US" sz="2000" dirty="0"/>
              <a:t>synthetic fraud samples conditioned on key transaction characteristics such as amount</a:t>
            </a:r>
          </a:p>
          <a:p>
            <a:pPr algn="just"/>
            <a:r>
              <a:rPr lang="en-US" sz="2000" dirty="0"/>
              <a:t>and frequency. The augmented dataset is used to train a </a:t>
            </a:r>
            <a:r>
              <a:rPr lang="en-US" sz="2000" b="1" dirty="0"/>
              <a:t>cost-sensitive Random</a:t>
            </a:r>
          </a:p>
          <a:p>
            <a:pPr algn="just"/>
            <a:r>
              <a:rPr lang="en-US" sz="2000" b="1" dirty="0"/>
              <a:t>Forest classifier</a:t>
            </a:r>
            <a:r>
              <a:rPr lang="en-US" sz="2000" dirty="0"/>
              <a:t>, which prioritizes the correct identification of fraudulent transactions</a:t>
            </a:r>
          </a:p>
          <a:p>
            <a:pPr algn="just"/>
            <a:r>
              <a:rPr lang="en-US" sz="2000" dirty="0"/>
              <a:t>while reducing false negatives. To address real-world deployment challenges, the</a:t>
            </a:r>
          </a:p>
          <a:p>
            <a:pPr algn="just"/>
            <a:r>
              <a:rPr lang="en-US" sz="2000" dirty="0"/>
              <a:t>system incorporates </a:t>
            </a:r>
            <a:r>
              <a:rPr lang="en-US" sz="2000" b="1" dirty="0"/>
              <a:t>drift-aware fraud detection</a:t>
            </a:r>
            <a:r>
              <a:rPr lang="en-US" sz="2000" dirty="0"/>
              <a:t>, continuously monitoring changes</a:t>
            </a:r>
          </a:p>
          <a:p>
            <a:pPr algn="just"/>
            <a:r>
              <a:rPr lang="en-US" sz="2000" dirty="0"/>
              <a:t>in transaction behavior and enabling adaptive model updates when fraud patterns</a:t>
            </a:r>
          </a:p>
          <a:p>
            <a:pPr algn="just"/>
            <a:r>
              <a:rPr lang="en-US" sz="2000" dirty="0"/>
              <a:t>evolve. To improve transparency and user trust, </a:t>
            </a:r>
            <a:r>
              <a:rPr lang="en-US" sz="2000" b="1" dirty="0"/>
              <a:t>SHAP-based explainability</a:t>
            </a:r>
            <a:r>
              <a:rPr lang="en-US" sz="2000" dirty="0"/>
              <a:t> is</a:t>
            </a:r>
          </a:p>
          <a:p>
            <a:pPr algn="just"/>
            <a:r>
              <a:rPr lang="en-US" sz="2000" dirty="0"/>
              <a:t>integrated to provide transaction-level insights into model decisions. Additionally, the</a:t>
            </a:r>
          </a:p>
          <a:p>
            <a:pPr algn="just"/>
            <a:r>
              <a:rPr lang="en-US" sz="2000" dirty="0"/>
              <a:t>trained model is saved together with its preprocessing pipeline to ensure consistent</a:t>
            </a:r>
          </a:p>
          <a:p>
            <a:pPr algn="just"/>
            <a:r>
              <a:rPr lang="en-US" sz="2000" dirty="0"/>
              <a:t>and reliable predictions during real-time deployment. </a:t>
            </a:r>
          </a:p>
        </p:txBody>
      </p:sp>
    </p:spTree>
    <p:extLst>
      <p:ext uri="{BB962C8B-B14F-4D97-AF65-F5344CB8AC3E}">
        <p14:creationId xmlns:p14="http://schemas.microsoft.com/office/powerpoint/2010/main" val="290429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648B70F3-7857-5143-C7B9-94AA9CA5D646}"/>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904B768C-220E-AE34-CB82-16131DD28519}"/>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Significance or importance or novelty</a:t>
            </a:r>
            <a:endParaRPr dirty="0"/>
          </a:p>
        </p:txBody>
      </p:sp>
      <p:sp>
        <p:nvSpPr>
          <p:cNvPr id="57" name="Google Shape;57;g32a3e1ea9ea_0_31">
            <a:extLst>
              <a:ext uri="{FF2B5EF4-FFF2-40B4-BE49-F238E27FC236}">
                <a16:creationId xmlns:a16="http://schemas.microsoft.com/office/drawing/2014/main" id="{C7E11FF5-926F-C3C2-F253-2C5EE10F306A}"/>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a:t>
            </a:fld>
            <a:endParaRPr/>
          </a:p>
        </p:txBody>
      </p:sp>
      <p:sp>
        <p:nvSpPr>
          <p:cNvPr id="58" name="Google Shape;58;g32a3e1ea9ea_0_31">
            <a:extLst>
              <a:ext uri="{FF2B5EF4-FFF2-40B4-BE49-F238E27FC236}">
                <a16:creationId xmlns:a16="http://schemas.microsoft.com/office/drawing/2014/main" id="{ED655660-3574-B14E-5364-A35AE0904EE5}"/>
              </a:ext>
            </a:extLst>
          </p:cNvPr>
          <p:cNvSpPr txBox="1">
            <a:spLocks noGrp="1"/>
          </p:cNvSpPr>
          <p:nvPr>
            <p:ph type="body" idx="1"/>
          </p:nvPr>
        </p:nvSpPr>
        <p:spPr>
          <a:xfrm>
            <a:off x="185635" y="579863"/>
            <a:ext cx="8763000" cy="4563637"/>
          </a:xfrm>
          <a:prstGeom prst="rect">
            <a:avLst/>
          </a:prstGeom>
          <a:noFill/>
          <a:ln>
            <a:noFill/>
          </a:ln>
        </p:spPr>
        <p:txBody>
          <a:bodyPr spcFirstLastPara="1" wrap="square" lIns="91425" tIns="91425" rIns="91425" bIns="91425" anchor="t" anchorCtr="0">
            <a:noAutofit/>
          </a:bodyPr>
          <a:lstStyle/>
          <a:p>
            <a:r>
              <a:rPr lang="en-US" sz="1800" b="1" dirty="0"/>
              <a:t>Significance</a:t>
            </a:r>
          </a:p>
          <a:p>
            <a:pPr marL="514350" indent="-285750">
              <a:buFont typeface="Arial" panose="020B0604020202020204" pitchFamily="34" charset="0"/>
              <a:buChar char="•"/>
            </a:pPr>
            <a:r>
              <a:rPr lang="en-US" sz="1800" dirty="0"/>
              <a:t>Addresses fraud detection in </a:t>
            </a:r>
            <a:r>
              <a:rPr lang="en-US" sz="1800" b="1" dirty="0"/>
              <a:t>imbalanced and evolving transaction data</a:t>
            </a:r>
          </a:p>
          <a:p>
            <a:pPr marL="514350" indent="-285750">
              <a:buFont typeface="Arial" panose="020B0604020202020204" pitchFamily="34" charset="0"/>
              <a:buChar char="•"/>
            </a:pPr>
            <a:r>
              <a:rPr lang="en-US" sz="1800" dirty="0"/>
              <a:t>Improves </a:t>
            </a:r>
            <a:r>
              <a:rPr lang="en-US" sz="1800" b="1" dirty="0"/>
              <a:t>long-term reliability</a:t>
            </a:r>
            <a:r>
              <a:rPr lang="en-US" sz="1800" dirty="0"/>
              <a:t> and real-time applicability of fraud detection systems</a:t>
            </a:r>
          </a:p>
          <a:p>
            <a:pPr marL="514350" indent="-285750">
              <a:buFont typeface="Arial" panose="020B0604020202020204" pitchFamily="34" charset="0"/>
              <a:buChar char="•"/>
            </a:pPr>
            <a:r>
              <a:rPr lang="en-US" sz="1800" dirty="0"/>
              <a:t>Enhances </a:t>
            </a:r>
            <a:r>
              <a:rPr lang="en-US" sz="1800" b="1" dirty="0"/>
              <a:t>reliability and trust</a:t>
            </a:r>
            <a:r>
              <a:rPr lang="en-US" sz="1800" dirty="0"/>
              <a:t> through explainable AI, which is essential for</a:t>
            </a:r>
          </a:p>
          <a:p>
            <a:pPr marL="514350" indent="-285750">
              <a:buFont typeface="Arial" panose="020B0604020202020204" pitchFamily="34" charset="0"/>
              <a:buChar char="•"/>
            </a:pPr>
            <a:r>
              <a:rPr lang="en-US" sz="1800" dirty="0"/>
              <a:t>financial decision-making systems.</a:t>
            </a:r>
          </a:p>
          <a:p>
            <a:r>
              <a:rPr lang="en-IN" sz="1800" b="1" dirty="0"/>
              <a:t>Novelty</a:t>
            </a:r>
          </a:p>
          <a:p>
            <a:pPr marL="514350" indent="-285750">
              <a:buFont typeface="Arial" panose="020B0604020202020204" pitchFamily="34" charset="0"/>
              <a:buChar char="•"/>
            </a:pPr>
            <a:r>
              <a:rPr lang="en-IN" sz="1800" dirty="0"/>
              <a:t>Utilizes a </a:t>
            </a:r>
            <a:r>
              <a:rPr lang="en-IN" sz="1800" b="1" dirty="0"/>
              <a:t>Conditional Generative Adversarial Network (CGAN)</a:t>
            </a:r>
            <a:r>
              <a:rPr lang="en-IN" sz="1800" dirty="0"/>
              <a:t> to generate synthetic fraud data conditioned on transaction </a:t>
            </a:r>
            <a:r>
              <a:rPr lang="en-IN" sz="1800" dirty="0" err="1"/>
              <a:t>behavior</a:t>
            </a:r>
            <a:r>
              <a:rPr lang="en-IN" sz="1800" dirty="0"/>
              <a:t>.</a:t>
            </a:r>
          </a:p>
          <a:p>
            <a:pPr marL="514350" indent="-285750">
              <a:buFont typeface="Arial" panose="020B0604020202020204" pitchFamily="34" charset="0"/>
              <a:buChar char="•"/>
            </a:pPr>
            <a:r>
              <a:rPr lang="en-IN" sz="1800" dirty="0"/>
              <a:t>Introduces </a:t>
            </a:r>
            <a:r>
              <a:rPr lang="en-IN" sz="1800" b="1" dirty="0"/>
              <a:t>drift-aware fraud detection</a:t>
            </a:r>
            <a:r>
              <a:rPr lang="en-IN" sz="1800" dirty="0"/>
              <a:t> to handle changing fraud patterns</a:t>
            </a:r>
          </a:p>
          <a:p>
            <a:pPr marL="514350" indent="-285750">
              <a:buFont typeface="Arial" panose="020B0604020202020204" pitchFamily="34" charset="0"/>
              <a:buChar char="•"/>
            </a:pPr>
            <a:r>
              <a:rPr lang="en-IN" sz="1800" dirty="0"/>
              <a:t>Separates </a:t>
            </a:r>
            <a:r>
              <a:rPr lang="en-IN" sz="1800" b="1" dirty="0"/>
              <a:t>data augmentation and classification</a:t>
            </a:r>
            <a:r>
              <a:rPr lang="en-IN" sz="1800" dirty="0"/>
              <a:t>, avoiding over-complex deep learning</a:t>
            </a:r>
          </a:p>
          <a:p>
            <a:pPr marL="514350" indent="-285750">
              <a:buFont typeface="Arial" panose="020B0604020202020204" pitchFamily="34" charset="0"/>
              <a:buChar char="•"/>
            </a:pPr>
            <a:r>
              <a:rPr lang="en-IN" sz="1800" dirty="0"/>
              <a:t>classifiers.</a:t>
            </a:r>
          </a:p>
          <a:p>
            <a:pPr marL="514350" indent="-285750">
              <a:buFont typeface="Arial" panose="020B0604020202020204" pitchFamily="34" charset="0"/>
              <a:buChar char="•"/>
            </a:pPr>
            <a:r>
              <a:rPr lang="en-IN" sz="1800" dirty="0"/>
              <a:t>Employs a </a:t>
            </a:r>
            <a:r>
              <a:rPr lang="en-IN" sz="1800" b="1" dirty="0"/>
              <a:t>cost-sensitive Random Forest</a:t>
            </a:r>
            <a:r>
              <a:rPr lang="en-IN" sz="1800" dirty="0"/>
              <a:t> to reduce false negatives in fraud detection.</a:t>
            </a:r>
          </a:p>
          <a:p>
            <a:pPr marL="514350" indent="-285750">
              <a:buFont typeface="Arial" panose="020B0604020202020204" pitchFamily="34" charset="0"/>
              <a:buChar char="•"/>
            </a:pPr>
            <a:r>
              <a:rPr lang="en-IN" sz="1800" dirty="0"/>
              <a:t>Integrates </a:t>
            </a:r>
            <a:r>
              <a:rPr lang="en-IN" sz="1800" b="1" dirty="0"/>
              <a:t>SHAP-based explainability</a:t>
            </a:r>
            <a:r>
              <a:rPr lang="en-IN" sz="1800" dirty="0"/>
              <a:t> for transaction-level interpretation of predictions.</a:t>
            </a:r>
          </a:p>
        </p:txBody>
      </p:sp>
    </p:spTree>
    <p:extLst>
      <p:ext uri="{BB962C8B-B14F-4D97-AF65-F5344CB8AC3E}">
        <p14:creationId xmlns:p14="http://schemas.microsoft.com/office/powerpoint/2010/main" val="134020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65FA6E7F-F0ED-E37C-9C1D-5B1C47E1AC45}"/>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A87F96C-C964-8252-CADE-912C3588E67C}"/>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2B4110DC-92CE-8719-F2D3-84D76E4904A0}"/>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4" name="Text Placeholder 3">
            <a:extLst>
              <a:ext uri="{FF2B5EF4-FFF2-40B4-BE49-F238E27FC236}">
                <a16:creationId xmlns:a16="http://schemas.microsoft.com/office/drawing/2014/main" id="{D48FB195-1685-31E5-2159-5E675FB8B579}"/>
              </a:ext>
            </a:extLst>
          </p:cNvPr>
          <p:cNvSpPr>
            <a:spLocks noGrp="1"/>
          </p:cNvSpPr>
          <p:nvPr>
            <p:ph type="body" idx="1"/>
          </p:nvPr>
        </p:nvSpPr>
        <p:spPr>
          <a:xfrm>
            <a:off x="165100" y="649201"/>
            <a:ext cx="8763000" cy="4093784"/>
          </a:xfrm>
        </p:spPr>
        <p:txBody>
          <a:bodyPr/>
          <a:lstStyle/>
          <a:p>
            <a:r>
              <a:rPr lang="en-IN" sz="2000" b="1" dirty="0"/>
              <a:t>Preprocessing &amp; Feature Engineering:</a:t>
            </a:r>
            <a:r>
              <a:rPr lang="en-IN" sz="2000" dirty="0"/>
              <a:t> </a:t>
            </a:r>
          </a:p>
          <a:p>
            <a:r>
              <a:rPr lang="en-IN" sz="2000" dirty="0"/>
              <a:t>Transaction data standardization, encoding, and normalization</a:t>
            </a:r>
          </a:p>
          <a:p>
            <a:r>
              <a:rPr lang="en-IN" sz="2000" b="1" dirty="0"/>
              <a:t>Drift-Aware CGAN Augmentation:</a:t>
            </a:r>
            <a:r>
              <a:rPr lang="en-IN" sz="2000" dirty="0"/>
              <a:t> Conditional GAN generates fraud samples and adapts to evolving transaction patterns</a:t>
            </a:r>
          </a:p>
          <a:p>
            <a:r>
              <a:rPr lang="en-IN" sz="2000" b="1" dirty="0"/>
              <a:t>Fraud Classification:</a:t>
            </a:r>
          </a:p>
          <a:p>
            <a:r>
              <a:rPr lang="en-IN" sz="2000" dirty="0"/>
              <a:t> Cost-sensitive Random Forest reduces false negatives</a:t>
            </a:r>
          </a:p>
          <a:p>
            <a:r>
              <a:rPr lang="en-IN" sz="2000" b="1" dirty="0"/>
              <a:t>Model Persistence &amp; Inference:</a:t>
            </a:r>
            <a:r>
              <a:rPr lang="en-IN" sz="2000" dirty="0"/>
              <a:t> </a:t>
            </a:r>
          </a:p>
          <a:p>
            <a:r>
              <a:rPr lang="en-IN" sz="2000" dirty="0"/>
              <a:t>Saved model with aligned preprocessing ensures reliable deployment</a:t>
            </a:r>
          </a:p>
          <a:p>
            <a:r>
              <a:rPr lang="en-IN" sz="2000" b="1" dirty="0"/>
              <a:t>Explainability:</a:t>
            </a:r>
            <a:r>
              <a:rPr lang="en-IN" sz="2000" dirty="0"/>
              <a:t> </a:t>
            </a:r>
          </a:p>
          <a:p>
            <a:r>
              <a:rPr lang="en-IN" sz="2000" dirty="0"/>
              <a:t>SHAP provides transaction-level fraud explanations</a:t>
            </a:r>
          </a:p>
          <a:p>
            <a:endParaRPr lang="en-IN" dirty="0"/>
          </a:p>
        </p:txBody>
      </p:sp>
    </p:spTree>
    <p:extLst>
      <p:ext uri="{BB962C8B-B14F-4D97-AF65-F5344CB8AC3E}">
        <p14:creationId xmlns:p14="http://schemas.microsoft.com/office/powerpoint/2010/main" val="78276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AD995263-B24C-4484-763C-34464CD1CEEC}"/>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10CB759-B066-CC7F-27AB-46A065CA2367}"/>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Tools and Data sets (include SDG category)</a:t>
            </a:r>
            <a:endParaRPr dirty="0"/>
          </a:p>
        </p:txBody>
      </p:sp>
      <p:sp>
        <p:nvSpPr>
          <p:cNvPr id="57" name="Google Shape;57;g32a3e1ea9ea_0_31">
            <a:extLst>
              <a:ext uri="{FF2B5EF4-FFF2-40B4-BE49-F238E27FC236}">
                <a16:creationId xmlns:a16="http://schemas.microsoft.com/office/drawing/2014/main" id="{01C0F25E-673F-AE93-14CF-AB79D7FD2AF2}"/>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6</a:t>
            </a:fld>
            <a:endParaRPr/>
          </a:p>
        </p:txBody>
      </p:sp>
      <p:sp>
        <p:nvSpPr>
          <p:cNvPr id="58" name="Google Shape;58;g32a3e1ea9ea_0_31">
            <a:extLst>
              <a:ext uri="{FF2B5EF4-FFF2-40B4-BE49-F238E27FC236}">
                <a16:creationId xmlns:a16="http://schemas.microsoft.com/office/drawing/2014/main" id="{2C9C98A4-4ADD-3505-6801-2093B1C8E756}"/>
              </a:ext>
            </a:extLst>
          </p:cNvPr>
          <p:cNvSpPr txBox="1">
            <a:spLocks noGrp="1"/>
          </p:cNvSpPr>
          <p:nvPr>
            <p:ph type="body" idx="1"/>
          </p:nvPr>
        </p:nvSpPr>
        <p:spPr>
          <a:xfrm>
            <a:off x="165100" y="505522"/>
            <a:ext cx="8763000" cy="4637977"/>
          </a:xfrm>
          <a:prstGeom prst="rect">
            <a:avLst/>
          </a:prstGeom>
          <a:noFill/>
          <a:ln>
            <a:noFill/>
          </a:ln>
        </p:spPr>
        <p:txBody>
          <a:bodyPr spcFirstLastPara="1" wrap="square" lIns="91425" tIns="91425" rIns="91425" bIns="91425" anchor="t" anchorCtr="0">
            <a:normAutofit fontScale="55000" lnSpcReduction="20000"/>
          </a:bodyPr>
          <a:lstStyle/>
          <a:p>
            <a:r>
              <a:rPr lang="en-IN" sz="3300" b="1" dirty="0"/>
              <a:t>Tools Used</a:t>
            </a:r>
          </a:p>
          <a:p>
            <a:pPr marL="571500" indent="-342900">
              <a:buFont typeface="Arial" panose="020B0604020202020204" pitchFamily="34" charset="0"/>
              <a:buChar char="•"/>
            </a:pPr>
            <a:r>
              <a:rPr lang="en-IN" sz="3300" dirty="0"/>
              <a:t>Python – Core programming language</a:t>
            </a:r>
          </a:p>
          <a:p>
            <a:pPr marL="571500" indent="-342900">
              <a:buFont typeface="Arial" panose="020B0604020202020204" pitchFamily="34" charset="0"/>
              <a:buChar char="•"/>
            </a:pPr>
            <a:r>
              <a:rPr lang="en-IN" sz="3300" dirty="0"/>
              <a:t>Pandas &amp; NumPy – Data manipulation and numerical computation</a:t>
            </a:r>
          </a:p>
          <a:p>
            <a:pPr marL="571500" indent="-342900">
              <a:buFont typeface="Arial" panose="020B0604020202020204" pitchFamily="34" charset="0"/>
              <a:buChar char="•"/>
            </a:pPr>
            <a:r>
              <a:rPr lang="en-IN" sz="3300" dirty="0"/>
              <a:t>Scikit-learn – Random Forest, preprocessing, model evaluation</a:t>
            </a:r>
          </a:p>
          <a:p>
            <a:pPr marL="571500" indent="-342900">
              <a:buFont typeface="Arial" panose="020B0604020202020204" pitchFamily="34" charset="0"/>
              <a:buChar char="•"/>
            </a:pPr>
            <a:r>
              <a:rPr lang="en-IN" sz="3300" dirty="0"/>
              <a:t>TensorFlow / </a:t>
            </a:r>
            <a:r>
              <a:rPr lang="en-IN" sz="3300" dirty="0" err="1"/>
              <a:t>Keras</a:t>
            </a:r>
            <a:r>
              <a:rPr lang="en-IN" sz="3300" dirty="0"/>
              <a:t> – Implementation of GAN (Generator &amp; Discriminator)</a:t>
            </a:r>
          </a:p>
          <a:p>
            <a:pPr marL="571500" indent="-342900">
              <a:buFont typeface="Arial" panose="020B0604020202020204" pitchFamily="34" charset="0"/>
              <a:buChar char="•"/>
            </a:pPr>
            <a:r>
              <a:rPr lang="en-IN" sz="3300" dirty="0"/>
              <a:t>Matplotlib &amp; Seaborn – Data visualization and performance analysis</a:t>
            </a:r>
          </a:p>
          <a:p>
            <a:pPr marL="571500" indent="-342900">
              <a:buFont typeface="Arial" panose="020B0604020202020204" pitchFamily="34" charset="0"/>
              <a:buChar char="•"/>
            </a:pPr>
            <a:r>
              <a:rPr lang="en-IN" sz="3300" dirty="0"/>
              <a:t>Google </a:t>
            </a:r>
            <a:r>
              <a:rPr lang="en-IN" sz="3300" dirty="0" err="1"/>
              <a:t>Colab</a:t>
            </a:r>
            <a:r>
              <a:rPr lang="en-IN" sz="3300" dirty="0"/>
              <a:t> / </a:t>
            </a:r>
            <a:r>
              <a:rPr lang="en-IN" sz="3300" dirty="0" err="1"/>
              <a:t>Jupyter</a:t>
            </a:r>
            <a:r>
              <a:rPr lang="en-IN" sz="3300" dirty="0"/>
              <a:t> Notebook – Model development and execution</a:t>
            </a:r>
          </a:p>
          <a:p>
            <a:r>
              <a:rPr lang="en-IN" sz="3300" b="1" dirty="0"/>
              <a:t>Dataset Used</a:t>
            </a:r>
          </a:p>
          <a:p>
            <a:pPr marL="571500" indent="-342900">
              <a:buFont typeface="Arial" panose="020B0604020202020204" pitchFamily="34" charset="0"/>
              <a:buChar char="•"/>
            </a:pPr>
            <a:r>
              <a:rPr lang="en-IN" sz="3300" dirty="0"/>
              <a:t>Fraud Transaction Dataset (CSV format)</a:t>
            </a:r>
          </a:p>
          <a:p>
            <a:pPr marL="571500" indent="-342900">
              <a:buFont typeface="Arial" panose="020B0604020202020204" pitchFamily="34" charset="0"/>
              <a:buChar char="•"/>
            </a:pPr>
            <a:r>
              <a:rPr lang="en-IN" sz="3300" dirty="0"/>
              <a:t>Contains transaction amount, transaction type, location, device details.</a:t>
            </a:r>
          </a:p>
          <a:p>
            <a:pPr marL="571500" indent="-342900">
              <a:buFont typeface="Arial" panose="020B0604020202020204" pitchFamily="34" charset="0"/>
              <a:buChar char="•"/>
            </a:pPr>
            <a:r>
              <a:rPr lang="en-IN" sz="3300" dirty="0"/>
              <a:t>Includes imbalanced classes with labels:</a:t>
            </a:r>
          </a:p>
          <a:p>
            <a:pPr marL="1028700" lvl="1" indent="-342900">
              <a:buFont typeface="Arial" panose="020B0604020202020204" pitchFamily="34" charset="0"/>
              <a:buChar char="•"/>
            </a:pPr>
            <a:r>
              <a:rPr lang="en-IN" sz="3300" dirty="0"/>
              <a:t>0 → Legitimate transaction</a:t>
            </a:r>
          </a:p>
          <a:p>
            <a:pPr marL="1028700" lvl="1" indent="-342900">
              <a:buFont typeface="Arial" panose="020B0604020202020204" pitchFamily="34" charset="0"/>
              <a:buChar char="•"/>
            </a:pPr>
            <a:r>
              <a:rPr lang="en-IN" sz="3300" dirty="0"/>
              <a:t>1 → Fraudulent transaction</a:t>
            </a:r>
          </a:p>
          <a:p>
            <a:pPr marL="571500" indent="-342900">
              <a:buFont typeface="Arial" panose="020B0604020202020204" pitchFamily="34" charset="0"/>
              <a:buChar char="•"/>
            </a:pPr>
            <a:r>
              <a:rPr lang="en-IN" sz="3300" dirty="0"/>
              <a:t>Dataset is </a:t>
            </a:r>
            <a:r>
              <a:rPr lang="en-IN" sz="3300" dirty="0" err="1"/>
              <a:t>preprocessed</a:t>
            </a:r>
            <a:r>
              <a:rPr lang="en-IN" sz="3300" dirty="0"/>
              <a:t> and augmented using GAN-generated synthetic fraud data</a:t>
            </a:r>
          </a:p>
          <a:p>
            <a:r>
              <a:rPr lang="en-IN" sz="3300" b="1" dirty="0"/>
              <a:t>SDG Categories:</a:t>
            </a:r>
          </a:p>
          <a:p>
            <a:r>
              <a:rPr lang="en-IN" sz="3300" dirty="0"/>
              <a:t>SDG 9 – Industry, Innovation &amp; Infrastructure</a:t>
            </a:r>
            <a:br>
              <a:rPr lang="en-IN" sz="3300" dirty="0"/>
            </a:br>
            <a:r>
              <a:rPr lang="en-IN" sz="3300" dirty="0"/>
              <a:t>→ Improves security and innovation in digital payment systems.</a:t>
            </a:r>
          </a:p>
          <a:p>
            <a:r>
              <a:rPr lang="en-IN" sz="3300" dirty="0"/>
              <a:t>SDG 16 – Peace, Justice &amp; Strong Institutions</a:t>
            </a:r>
            <a:br>
              <a:rPr lang="en-IN" sz="3300" dirty="0"/>
            </a:br>
            <a:r>
              <a:rPr lang="en-IN" sz="3300" dirty="0"/>
              <a:t>→ Helps prevent financial fraud and builds trust in institutions.</a:t>
            </a:r>
          </a:p>
          <a:p>
            <a:pPr marL="571500" indent="-342900" algn="just">
              <a:buFont typeface="Arial" panose="020B0604020202020204" pitchFamily="34" charset="0"/>
              <a:buChar char="•"/>
            </a:pPr>
            <a:endParaRPr lang="en-IN" sz="3300" dirty="0"/>
          </a:p>
          <a:p>
            <a:endParaRPr lang="en-IN" b="1" dirty="0"/>
          </a:p>
        </p:txBody>
      </p:sp>
    </p:spTree>
    <p:extLst>
      <p:ext uri="{BB962C8B-B14F-4D97-AF65-F5344CB8AC3E}">
        <p14:creationId xmlns:p14="http://schemas.microsoft.com/office/powerpoint/2010/main" val="2141345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E792BA24-28B1-C55D-EB49-069F428727F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F42FD0D-EF76-D16A-D131-B51E7B90A4E6}"/>
              </a:ext>
            </a:extLst>
          </p:cNvPr>
          <p:cNvSpPr txBox="1">
            <a:spLocks noGrp="1"/>
          </p:cNvSpPr>
          <p:nvPr>
            <p:ph type="ctrTitle"/>
          </p:nvPr>
        </p:nvSpPr>
        <p:spPr>
          <a:xfrm>
            <a:off x="0" y="0"/>
            <a:ext cx="9144000" cy="535259"/>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88EB541B-5B75-AC3A-12E6-04B06F2B08B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7</a:t>
            </a:fld>
            <a:endParaRPr/>
          </a:p>
        </p:txBody>
      </p:sp>
      <p:sp>
        <p:nvSpPr>
          <p:cNvPr id="58" name="Google Shape;58;g32a3e1ea9ea_0_31">
            <a:extLst>
              <a:ext uri="{FF2B5EF4-FFF2-40B4-BE49-F238E27FC236}">
                <a16:creationId xmlns:a16="http://schemas.microsoft.com/office/drawing/2014/main" id="{5BEE6672-2B98-4C12-F921-6D37AC2CC218}"/>
              </a:ext>
            </a:extLst>
          </p:cNvPr>
          <p:cNvSpPr txBox="1">
            <a:spLocks noGrp="1"/>
          </p:cNvSpPr>
          <p:nvPr>
            <p:ph type="body" idx="1"/>
          </p:nvPr>
        </p:nvSpPr>
        <p:spPr>
          <a:xfrm>
            <a:off x="44605" y="460917"/>
            <a:ext cx="8763000" cy="4682583"/>
          </a:xfrm>
          <a:prstGeom prst="rect">
            <a:avLst/>
          </a:prstGeom>
          <a:noFill/>
          <a:ln>
            <a:noFill/>
          </a:ln>
        </p:spPr>
        <p:txBody>
          <a:bodyPr spcFirstLastPara="1" wrap="square" lIns="91425" tIns="91425" rIns="91425" bIns="91425" anchor="t" anchorCtr="0">
            <a:normAutofit fontScale="25000" lnSpcReduction="20000"/>
          </a:bodyPr>
          <a:lstStyle/>
          <a:p>
            <a:r>
              <a:rPr lang="en-IN" sz="7200" b="1" dirty="0"/>
              <a:t>Title: </a:t>
            </a:r>
            <a:r>
              <a:rPr lang="en-IN" sz="7200" i="1" dirty="0"/>
              <a:t>A GAN-Based Hybrid Sampling Method for Transaction Fraud Detection</a:t>
            </a:r>
            <a:endParaRPr lang="en-IN" sz="7200" dirty="0"/>
          </a:p>
          <a:p>
            <a:r>
              <a:rPr lang="en-IN" sz="7200" b="1" dirty="0"/>
              <a:t>Authors: </a:t>
            </a:r>
            <a:r>
              <a:rPr lang="en-IN" sz="7200" dirty="0"/>
              <a:t>Y. Xie, J. Shan, M. Zhou et al.</a:t>
            </a:r>
          </a:p>
          <a:p>
            <a:r>
              <a:rPr lang="en-IN" sz="7200" b="1" dirty="0"/>
              <a:t>Journal: </a:t>
            </a:r>
            <a:r>
              <a:rPr lang="en-IN" sz="7200" dirty="0"/>
              <a:t>IEEE Transactions on Knowledge and Data Engineering (IEEE Xplore)</a:t>
            </a:r>
          </a:p>
          <a:p>
            <a:r>
              <a:rPr lang="en-IN" sz="7200" b="1" dirty="0"/>
              <a:t>Year:</a:t>
            </a:r>
            <a:r>
              <a:rPr lang="en-IN" sz="7200" dirty="0"/>
              <a:t>2025</a:t>
            </a:r>
          </a:p>
          <a:p>
            <a:r>
              <a:rPr lang="en-IN" sz="7200" b="1" dirty="0"/>
              <a:t>Problem Addressed:</a:t>
            </a:r>
          </a:p>
          <a:p>
            <a:r>
              <a:rPr lang="en-IN" sz="7200" dirty="0"/>
              <a:t>Severe </a:t>
            </a:r>
            <a:r>
              <a:rPr lang="en-IN" sz="7200" b="1" dirty="0"/>
              <a:t>class imbalance</a:t>
            </a:r>
            <a:r>
              <a:rPr lang="en-IN" sz="7200" dirty="0"/>
              <a:t> in transaction fraud datasets reduces the effectiveness of</a:t>
            </a:r>
          </a:p>
          <a:p>
            <a:r>
              <a:rPr lang="en-IN" sz="7200" dirty="0"/>
              <a:t>traditional machine learning classifiers.</a:t>
            </a:r>
          </a:p>
          <a:p>
            <a:r>
              <a:rPr lang="en-IN" sz="7200" b="1" dirty="0"/>
              <a:t>Proposed Method:</a:t>
            </a:r>
            <a:endParaRPr lang="en-IN" sz="7200" dirty="0"/>
          </a:p>
          <a:p>
            <a:r>
              <a:rPr lang="en-IN" sz="7200" dirty="0"/>
              <a:t>Uses a </a:t>
            </a:r>
            <a:r>
              <a:rPr lang="en-IN" sz="7200" b="1" dirty="0"/>
              <a:t>Generative Adversarial Network (GAN)</a:t>
            </a:r>
            <a:r>
              <a:rPr lang="en-IN" sz="7200" dirty="0"/>
              <a:t> to generate synthetic fraud samples</a:t>
            </a:r>
          </a:p>
          <a:p>
            <a:r>
              <a:rPr lang="en-IN" sz="7200" dirty="0"/>
              <a:t>Combines </a:t>
            </a:r>
            <a:r>
              <a:rPr lang="en-IN" sz="7200" b="1" dirty="0"/>
              <a:t>GAN-based oversampling</a:t>
            </a:r>
            <a:r>
              <a:rPr lang="en-IN" sz="7200" dirty="0"/>
              <a:t> with adaptive </a:t>
            </a:r>
            <a:r>
              <a:rPr lang="en-IN" sz="7200" dirty="0" err="1"/>
              <a:t>undersampling</a:t>
            </a:r>
            <a:endParaRPr lang="en-IN" sz="7200" dirty="0"/>
          </a:p>
          <a:p>
            <a:r>
              <a:rPr lang="en-IN" sz="7200" dirty="0"/>
              <a:t>Produces a balanced and informative training dataset for fraud detection</a:t>
            </a:r>
          </a:p>
          <a:p>
            <a:r>
              <a:rPr lang="en-IN" sz="7200" b="1" dirty="0"/>
              <a:t>Key Contributions:</a:t>
            </a:r>
            <a:endParaRPr lang="en-IN" sz="7200" dirty="0"/>
          </a:p>
          <a:p>
            <a:r>
              <a:rPr lang="en-IN" sz="7200" dirty="0"/>
              <a:t>Effective handling of </a:t>
            </a:r>
            <a:r>
              <a:rPr lang="en-IN" sz="7200" b="1" dirty="0"/>
              <a:t>imbalanced transaction data</a:t>
            </a:r>
            <a:endParaRPr lang="en-IN" sz="7200" dirty="0"/>
          </a:p>
          <a:p>
            <a:r>
              <a:rPr lang="en-IN" sz="7200" dirty="0"/>
              <a:t>Improved fraud detection accuracy compared to conventional sampling methods</a:t>
            </a:r>
          </a:p>
          <a:p>
            <a:r>
              <a:rPr lang="en-IN" sz="7200" dirty="0"/>
              <a:t>Demonstrates GANs as a robust alternative to traditional oversampling techniques</a:t>
            </a:r>
          </a:p>
          <a:p>
            <a:r>
              <a:rPr lang="en-IN" sz="7200" b="1" dirty="0"/>
              <a:t>Relevance to Our Project:</a:t>
            </a:r>
            <a:endParaRPr lang="en-IN" sz="7200" dirty="0"/>
          </a:p>
          <a:p>
            <a:r>
              <a:rPr lang="en-IN" sz="7200" dirty="0"/>
              <a:t>Our project also uses </a:t>
            </a:r>
            <a:r>
              <a:rPr lang="en-IN" sz="7200" b="1" dirty="0"/>
              <a:t>GAN-based synthetic fraud data generation</a:t>
            </a:r>
            <a:endParaRPr lang="en-IN" sz="7200" dirty="0"/>
          </a:p>
          <a:p>
            <a:r>
              <a:rPr lang="en-IN" sz="7200" dirty="0"/>
              <a:t>Focuses on improving fraud detection performance under class imbalance</a:t>
            </a:r>
          </a:p>
          <a:p>
            <a:r>
              <a:rPr lang="en-IN" sz="7200" dirty="0"/>
              <a:t>Extends the idea by using </a:t>
            </a:r>
            <a:r>
              <a:rPr lang="en-IN" sz="7200" b="1" dirty="0"/>
              <a:t>Conditional GAN, cost-sensitive classification, and</a:t>
            </a:r>
          </a:p>
          <a:p>
            <a:r>
              <a:rPr lang="en-IN" sz="7200" b="1" dirty="0"/>
              <a:t>explainable AI</a:t>
            </a:r>
            <a:endParaRPr lang="en-IN" sz="7200" dirty="0"/>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86574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E4E9F813-AB04-2E2D-A1E4-BAFB2EC46644}"/>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0D8AFF7C-FB41-3953-62F5-071CE7D29098}"/>
              </a:ext>
            </a:extLst>
          </p:cNvPr>
          <p:cNvSpPr txBox="1">
            <a:spLocks noGrp="1"/>
          </p:cNvSpPr>
          <p:nvPr>
            <p:ph type="ctrTitle"/>
          </p:nvPr>
        </p:nvSpPr>
        <p:spPr>
          <a:xfrm>
            <a:off x="0" y="0"/>
            <a:ext cx="9143999" cy="561786"/>
          </a:xfrm>
          <a:prstGeom prst="rect">
            <a:avLst/>
          </a:prstGeom>
          <a:noFill/>
          <a:ln>
            <a:noFill/>
          </a:ln>
        </p:spPr>
        <p:txBody>
          <a:bodyPr spcFirstLastPara="1" wrap="square" lIns="91425" tIns="91425" rIns="91425" bIns="91425" anchor="t" anchorCtr="0">
            <a:normAutofit fontScale="90000"/>
          </a:bodyPr>
          <a:lstStyle/>
          <a:p>
            <a:pPr lvl="0" algn="l"/>
            <a:r>
              <a:rPr lang="en-IN" dirty="0"/>
              <a:t>Limitations in Paper:</a:t>
            </a:r>
            <a:endParaRPr dirty="0"/>
          </a:p>
        </p:txBody>
      </p:sp>
      <p:sp>
        <p:nvSpPr>
          <p:cNvPr id="57" name="Google Shape;57;g32a3e1ea9ea_0_31">
            <a:extLst>
              <a:ext uri="{FF2B5EF4-FFF2-40B4-BE49-F238E27FC236}">
                <a16:creationId xmlns:a16="http://schemas.microsoft.com/office/drawing/2014/main" id="{93FAD0A5-382A-D066-0BF6-24F98B5DD26C}"/>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8</a:t>
            </a:fld>
            <a:endParaRPr/>
          </a:p>
        </p:txBody>
      </p:sp>
      <p:sp>
        <p:nvSpPr>
          <p:cNvPr id="58" name="Google Shape;58;g32a3e1ea9ea_0_31">
            <a:extLst>
              <a:ext uri="{FF2B5EF4-FFF2-40B4-BE49-F238E27FC236}">
                <a16:creationId xmlns:a16="http://schemas.microsoft.com/office/drawing/2014/main" id="{A36FEC3E-1597-5F6A-DF40-93E81EB1A5B7}"/>
              </a:ext>
            </a:extLst>
          </p:cNvPr>
          <p:cNvSpPr txBox="1">
            <a:spLocks noGrp="1"/>
          </p:cNvSpPr>
          <p:nvPr>
            <p:ph type="body" idx="1"/>
          </p:nvPr>
        </p:nvSpPr>
        <p:spPr>
          <a:xfrm>
            <a:off x="-118946" y="561787"/>
            <a:ext cx="9210906" cy="4581714"/>
          </a:xfrm>
          <a:prstGeom prst="rect">
            <a:avLst/>
          </a:prstGeom>
          <a:noFill/>
          <a:ln>
            <a:noFill/>
          </a:ln>
        </p:spPr>
        <p:txBody>
          <a:bodyPr spcFirstLastPara="1" wrap="square" lIns="91425" tIns="91425" rIns="91425" bIns="91425" anchor="t" anchorCtr="0">
            <a:normAutofit fontScale="85000" lnSpcReduction="20000"/>
          </a:bodyPr>
          <a:lstStyle/>
          <a:p>
            <a:r>
              <a:rPr lang="en-US" sz="2100" b="1" dirty="0"/>
              <a:t>Limitations in Base Paper &amp; Our Improvements</a:t>
            </a:r>
          </a:p>
          <a:p>
            <a:r>
              <a:rPr lang="en-US" sz="2100" b="1" dirty="0"/>
              <a:t>Limitations in Base Paper</a:t>
            </a:r>
          </a:p>
          <a:p>
            <a:pPr marL="571500" indent="-342900" algn="just">
              <a:buFont typeface="Arial" panose="020B0604020202020204" pitchFamily="34" charset="0"/>
              <a:buChar char="•"/>
            </a:pPr>
            <a:r>
              <a:rPr lang="en-US" sz="2100" dirty="0"/>
              <a:t>Focuses mainly on </a:t>
            </a:r>
            <a:r>
              <a:rPr lang="en-US" sz="2100" b="1" dirty="0"/>
              <a:t>GAN-based data sampling</a:t>
            </a:r>
            <a:r>
              <a:rPr lang="en-US" sz="2100" dirty="0"/>
              <a:t>, with limited emphasis on classifier robustness.</a:t>
            </a:r>
          </a:p>
          <a:p>
            <a:pPr marL="571500" indent="-342900" algn="just">
              <a:buFont typeface="Arial" panose="020B0604020202020204" pitchFamily="34" charset="0"/>
              <a:buChar char="•"/>
            </a:pPr>
            <a:r>
              <a:rPr lang="en-US" sz="2100" dirty="0"/>
              <a:t>Uses </a:t>
            </a:r>
            <a:r>
              <a:rPr lang="en-US" sz="2100" b="1" dirty="0"/>
              <a:t>standard GAN architecture</a:t>
            </a:r>
            <a:r>
              <a:rPr lang="en-US" sz="2100" dirty="0"/>
              <a:t> without conditioning on transaction behavior.</a:t>
            </a:r>
          </a:p>
          <a:p>
            <a:pPr marL="571500" indent="-342900" algn="just">
              <a:buFont typeface="Arial" panose="020B0604020202020204" pitchFamily="34" charset="0"/>
              <a:buChar char="•"/>
            </a:pPr>
            <a:r>
              <a:rPr lang="en-US" sz="2100" dirty="0"/>
              <a:t>Does not provide </a:t>
            </a:r>
            <a:r>
              <a:rPr lang="en-US" sz="2100" b="1" dirty="0"/>
              <a:t>model explainability</a:t>
            </a:r>
            <a:r>
              <a:rPr lang="en-US" sz="2100" dirty="0"/>
              <a:t>, making fraud decisions difficult to interpret.</a:t>
            </a:r>
          </a:p>
          <a:p>
            <a:pPr marL="571500" indent="-342900" algn="just">
              <a:buFont typeface="Arial" panose="020B0604020202020204" pitchFamily="34" charset="0"/>
              <a:buChar char="•"/>
            </a:pPr>
            <a:r>
              <a:rPr lang="en-US" sz="2100" dirty="0"/>
              <a:t>Limited discussion on </a:t>
            </a:r>
            <a:r>
              <a:rPr lang="en-US" sz="2100" b="1" dirty="0"/>
              <a:t>deployment consistency</a:t>
            </a:r>
            <a:r>
              <a:rPr lang="en-US" sz="2100" dirty="0"/>
              <a:t> and real-time inference.</a:t>
            </a:r>
          </a:p>
          <a:p>
            <a:pPr algn="just"/>
            <a:r>
              <a:rPr lang="en-US" sz="2100" b="1" dirty="0"/>
              <a:t>Our Improvements</a:t>
            </a:r>
          </a:p>
          <a:p>
            <a:pPr marL="571500" indent="-342900" algn="just">
              <a:buFont typeface="Arial" panose="020B0604020202020204" pitchFamily="34" charset="0"/>
              <a:buChar char="•"/>
            </a:pPr>
            <a:r>
              <a:rPr lang="en-US" sz="2100" dirty="0"/>
              <a:t>Introduce a </a:t>
            </a:r>
            <a:r>
              <a:rPr lang="en-US" sz="2100" b="1" dirty="0"/>
              <a:t>Conditional GAN (CGAN)</a:t>
            </a:r>
            <a:r>
              <a:rPr lang="en-US" sz="2100" dirty="0"/>
              <a:t> to generate fraud samples conditioned on transaction amount</a:t>
            </a:r>
          </a:p>
          <a:p>
            <a:pPr marL="571500" indent="-342900" algn="just">
              <a:buFont typeface="Arial" panose="020B0604020202020204" pitchFamily="34" charset="0"/>
              <a:buChar char="•"/>
            </a:pPr>
            <a:r>
              <a:rPr lang="en-US" sz="2100" dirty="0"/>
              <a:t>and frequency.</a:t>
            </a:r>
          </a:p>
          <a:p>
            <a:pPr marL="571500" indent="-342900" algn="just">
              <a:buFont typeface="Arial" panose="020B0604020202020204" pitchFamily="34" charset="0"/>
              <a:buChar char="•"/>
            </a:pPr>
            <a:r>
              <a:rPr lang="en-US" sz="2100" dirty="0"/>
              <a:t>Employ a </a:t>
            </a:r>
            <a:r>
              <a:rPr lang="en-US" sz="2100" b="1" dirty="0"/>
              <a:t>cost-sensitive Random Forest classifier</a:t>
            </a:r>
            <a:r>
              <a:rPr lang="en-US" sz="2100" dirty="0"/>
              <a:t> to reduce false negatives in fraud detection.</a:t>
            </a:r>
          </a:p>
          <a:p>
            <a:pPr marL="571500" indent="-342900" algn="just">
              <a:buFont typeface="Arial" panose="020B0604020202020204" pitchFamily="34" charset="0"/>
              <a:buChar char="•"/>
            </a:pPr>
            <a:r>
              <a:rPr lang="en-US" sz="2100" dirty="0"/>
              <a:t>Integrate </a:t>
            </a:r>
            <a:r>
              <a:rPr lang="en-US" sz="2100" b="1" dirty="0"/>
              <a:t>SHAP-based explainable AI</a:t>
            </a:r>
            <a:r>
              <a:rPr lang="en-US" sz="2100" dirty="0"/>
              <a:t> for transparent, transaction-level decision interpretation.</a:t>
            </a:r>
          </a:p>
          <a:p>
            <a:pPr marL="571500" indent="-342900" algn="just">
              <a:buFont typeface="Arial" panose="020B0604020202020204" pitchFamily="34" charset="0"/>
              <a:buChar char="•"/>
            </a:pPr>
            <a:r>
              <a:rPr lang="en-US" sz="2100" dirty="0"/>
              <a:t>Implement </a:t>
            </a:r>
            <a:r>
              <a:rPr lang="en-US" sz="2100" b="1" dirty="0"/>
              <a:t>model persistence with preprocessing alignment</a:t>
            </a:r>
            <a:r>
              <a:rPr lang="en-US" sz="2100" dirty="0"/>
              <a:t>, ensuring consistent predictions</a:t>
            </a:r>
          </a:p>
          <a:p>
            <a:pPr marL="571500" indent="-342900" algn="just">
              <a:buFont typeface="Arial" panose="020B0604020202020204" pitchFamily="34" charset="0"/>
              <a:buChar char="•"/>
            </a:pPr>
            <a:r>
              <a:rPr lang="en-US" sz="2100" dirty="0"/>
              <a:t>during deployment.</a:t>
            </a:r>
          </a:p>
          <a:p>
            <a:pPr marL="571500" indent="-342900" algn="just">
              <a:buFont typeface="Arial" panose="020B0604020202020204" pitchFamily="34" charset="0"/>
              <a:buChar char="•"/>
            </a:pPr>
            <a:r>
              <a:rPr lang="en-US" sz="2100" dirty="0"/>
              <a:t>Improves transparency for financial decision support</a:t>
            </a:r>
          </a:p>
          <a:p>
            <a:pPr marL="146368" lvl="0" indent="0" algn="l" rtl="0">
              <a:lnSpc>
                <a:spcPct val="115000"/>
              </a:lnSpc>
              <a:spcBef>
                <a:spcPts val="0"/>
              </a:spcBef>
              <a:spcAft>
                <a:spcPts val="0"/>
              </a:spcAft>
              <a:buClr>
                <a:srgbClr val="595959"/>
              </a:buClr>
              <a:buSzPct val="58333"/>
            </a:pPr>
            <a:endParaRPr lang="en-IN"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1809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54658BD3-DA20-49CB-0891-DA940891230E}"/>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B7A58B4D-7174-B418-60CC-DB57303596BC}"/>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3F8B5782-616E-8DBC-BF30-29B2D3B2C26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9</a:t>
            </a:fld>
            <a:endParaRPr/>
          </a:p>
        </p:txBody>
      </p:sp>
      <p:sp>
        <p:nvSpPr>
          <p:cNvPr id="58" name="Google Shape;58;g32a3e1ea9ea_0_31">
            <a:extLst>
              <a:ext uri="{FF2B5EF4-FFF2-40B4-BE49-F238E27FC236}">
                <a16:creationId xmlns:a16="http://schemas.microsoft.com/office/drawing/2014/main" id="{21159BB8-67D0-670E-9330-7182C62EDF49}"/>
              </a:ext>
            </a:extLst>
          </p:cNvPr>
          <p:cNvSpPr txBox="1">
            <a:spLocks noGrp="1"/>
          </p:cNvSpPr>
          <p:nvPr>
            <p:ph type="body" idx="1"/>
          </p:nvPr>
        </p:nvSpPr>
        <p:spPr>
          <a:xfrm>
            <a:off x="-118946" y="649199"/>
            <a:ext cx="9210906" cy="4101221"/>
          </a:xfrm>
          <a:prstGeom prst="rect">
            <a:avLst/>
          </a:prstGeom>
          <a:noFill/>
          <a:ln>
            <a:noFill/>
          </a:ln>
        </p:spPr>
        <p:txBody>
          <a:bodyPr spcFirstLastPara="1" wrap="square" lIns="91425" tIns="91425" rIns="91425" bIns="91425" anchor="t" anchorCtr="0">
            <a:normAutofit lnSpcReduction="10000"/>
          </a:bodyPr>
          <a:lstStyle/>
          <a:p>
            <a:pPr algn="just"/>
            <a:r>
              <a:rPr lang="en-IN" sz="2000" dirty="0"/>
              <a:t>[1] M. </a:t>
            </a:r>
            <a:r>
              <a:rPr lang="en-IN" sz="2000" dirty="0" err="1"/>
              <a:t>RezvaniNejad</a:t>
            </a:r>
            <a:r>
              <a:rPr lang="en-IN" sz="2000" dirty="0"/>
              <a:t>, A. Khosravi, and S. </a:t>
            </a:r>
            <a:r>
              <a:rPr lang="en-IN" sz="2000" dirty="0" err="1"/>
              <a:t>Nahavandi</a:t>
            </a:r>
            <a:r>
              <a:rPr lang="en-IN" sz="2000" dirty="0"/>
              <a:t>, “WDAE-GAN: Generative adversarial network for fraud detection,” </a:t>
            </a:r>
            <a:r>
              <a:rPr lang="en-IN" sz="2000" i="1" dirty="0"/>
              <a:t>Expert Systems with Applications</a:t>
            </a:r>
            <a:r>
              <a:rPr lang="en-IN" sz="2000" dirty="0"/>
              <a:t>, vol. 247, pp. 123456–123468, 2025.</a:t>
            </a:r>
          </a:p>
          <a:p>
            <a:pPr algn="just"/>
            <a:r>
              <a:rPr lang="en-IN" sz="2000" dirty="0"/>
              <a:t>[2] D. </a:t>
            </a:r>
            <a:r>
              <a:rPr lang="en-IN" sz="2000" dirty="0" err="1"/>
              <a:t>Hirnschall</a:t>
            </a:r>
            <a:r>
              <a:rPr lang="en-IN" sz="2000" dirty="0"/>
              <a:t>, “Semi-supervised generative adversarial networks for credit card fraud detection,” </a:t>
            </a:r>
            <a:r>
              <a:rPr lang="en-IN" sz="2000" i="1" dirty="0"/>
              <a:t>IEEE Transactions on Artificial Intelligence</a:t>
            </a:r>
            <a:r>
              <a:rPr lang="en-IN" sz="2000" dirty="0"/>
              <a:t>, early access, 2025.</a:t>
            </a:r>
          </a:p>
          <a:p>
            <a:pPr algn="just"/>
            <a:r>
              <a:rPr lang="en-IN" sz="2000" dirty="0"/>
              <a:t>[3] J. Ge and Y. Chen, “Gated attention-based generative adversarial networks for financial fraud detection,” </a:t>
            </a:r>
            <a:r>
              <a:rPr lang="en-IN" sz="2000" i="1" dirty="0" err="1"/>
              <a:t>PeerJ</a:t>
            </a:r>
            <a:r>
              <a:rPr lang="en-IN" sz="2000" i="1" dirty="0"/>
              <a:t> Computer Science</a:t>
            </a:r>
            <a:r>
              <a:rPr lang="en-IN" sz="2000" dirty="0"/>
              <a:t>, vol. 11, e2972, 2025.</a:t>
            </a:r>
          </a:p>
          <a:p>
            <a:pPr algn="just"/>
            <a:r>
              <a:rPr lang="en-IN" sz="2000" dirty="0"/>
              <a:t>[4] Y. Xie, J. Wang, H. Liu, and S. Zhang, “Transactional-</a:t>
            </a:r>
            <a:r>
              <a:rPr lang="en-IN" sz="2000" dirty="0" err="1"/>
              <a:t>behavior</a:t>
            </a:r>
            <a:r>
              <a:rPr lang="en-IN" sz="2000" dirty="0"/>
              <a:t>-based hierarchical gated network for credit card fraud detection,” </a:t>
            </a:r>
            <a:r>
              <a:rPr lang="en-IN" sz="2000" i="1" dirty="0"/>
              <a:t>IEEE/CAA Journal of </a:t>
            </a:r>
            <a:r>
              <a:rPr lang="en-IN" sz="2000" i="1" dirty="0" err="1"/>
              <a:t>Automatica</a:t>
            </a:r>
            <a:r>
              <a:rPr lang="en-IN" sz="2000" i="1" dirty="0"/>
              <a:t> Sinica</a:t>
            </a:r>
            <a:r>
              <a:rPr lang="en-IN" sz="2000" dirty="0"/>
              <a:t>, vol. 12, no. 2, pp. 345–357, 2025.</a:t>
            </a:r>
          </a:p>
          <a:p>
            <a:pPr algn="just"/>
            <a:r>
              <a:rPr lang="en-IN" sz="2000" dirty="0"/>
              <a:t>[5] Y. Xie, J. Wang, and H. Liu, “Learning transactional </a:t>
            </a:r>
            <a:r>
              <a:rPr lang="en-IN" sz="2000" dirty="0" err="1"/>
              <a:t>behavioral</a:t>
            </a:r>
            <a:r>
              <a:rPr lang="en-IN" sz="2000" dirty="0"/>
              <a:t> representations for credit card fraud detection,” </a:t>
            </a:r>
            <a:r>
              <a:rPr lang="en-IN" sz="2000" i="1" dirty="0"/>
              <a:t>IEEE Transactions on Neural Networks and Learning Systems</a:t>
            </a:r>
            <a:r>
              <a:rPr lang="en-IN" sz="2000" dirty="0"/>
              <a:t>, vol. 35, no. 4, pp. 5123–5136, 2024</a:t>
            </a:r>
          </a:p>
          <a:p>
            <a:pPr marL="146368" lvl="0" indent="0" algn="l" rtl="0">
              <a:lnSpc>
                <a:spcPct val="115000"/>
              </a:lnSpc>
              <a:spcBef>
                <a:spcPts val="0"/>
              </a:spcBef>
              <a:spcAft>
                <a:spcPts val="0"/>
              </a:spcAft>
              <a:buClr>
                <a:srgbClr val="595959"/>
              </a:buClr>
              <a:buSzPct val="58333"/>
            </a:pPr>
            <a:endParaRPr lang="en-IN"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31179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42BF23F1-29F2-6A4D-DB38-C2314B61202E}"/>
            </a:ext>
          </a:extLst>
        </p:cNvPr>
        <p:cNvGrpSpPr/>
        <p:nvPr/>
      </p:nvGrpSpPr>
      <p:grpSpPr>
        <a:xfrm>
          <a:off x="0" y="0"/>
          <a:ext cx="0" cy="0"/>
          <a:chOff x="0" y="0"/>
          <a:chExt cx="0" cy="0"/>
        </a:xfrm>
      </p:grpSpPr>
      <p:sp>
        <p:nvSpPr>
          <p:cNvPr id="37" name="Google Shape;37;p2">
            <a:extLst>
              <a:ext uri="{FF2B5EF4-FFF2-40B4-BE49-F238E27FC236}">
                <a16:creationId xmlns:a16="http://schemas.microsoft.com/office/drawing/2014/main" id="{BF1EAE7F-F72B-8558-47B2-570378EF3F3D}"/>
              </a:ext>
            </a:extLst>
          </p:cNvPr>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US" sz="3200" b="1" i="0" u="none" dirty="0">
                <a:solidFill>
                  <a:srgbClr val="C00000"/>
                </a:solidFill>
                <a:latin typeface="Times New Roman"/>
                <a:ea typeface="Times New Roman"/>
                <a:cs typeface="Times New Roman"/>
                <a:sym typeface="Times New Roman"/>
              </a:rPr>
              <a:t>Personal Decision Intelligence System</a:t>
            </a:r>
            <a:endParaRPr dirty="0">
              <a:solidFill>
                <a:srgbClr val="C00000"/>
              </a:solidFill>
            </a:endParaRPr>
          </a:p>
        </p:txBody>
      </p:sp>
      <p:sp>
        <p:nvSpPr>
          <p:cNvPr id="38" name="Google Shape;38;p2">
            <a:extLst>
              <a:ext uri="{FF2B5EF4-FFF2-40B4-BE49-F238E27FC236}">
                <a16:creationId xmlns:a16="http://schemas.microsoft.com/office/drawing/2014/main" id="{C79414EA-B97D-D58B-C18F-939923F000F5}"/>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10</a:t>
            </a:fld>
            <a:endParaRPr/>
          </a:p>
        </p:txBody>
      </p:sp>
    </p:spTree>
    <p:extLst>
      <p:ext uri="{BB962C8B-B14F-4D97-AF65-F5344CB8AC3E}">
        <p14:creationId xmlns:p14="http://schemas.microsoft.com/office/powerpoint/2010/main" val="3757773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0B2520EC-1DC0-B80F-01AD-CDD58F8EED1D}"/>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2E5C8B8E-A15C-1A42-321E-132CF73E5701}"/>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F5F99F41-6DBB-C0D6-7E45-BEE3BCDAE608}"/>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11</a:t>
            </a:fld>
            <a:endParaRPr/>
          </a:p>
        </p:txBody>
      </p:sp>
      <p:sp>
        <p:nvSpPr>
          <p:cNvPr id="58" name="Google Shape;58;g32a3e1ea9ea_0_31">
            <a:extLst>
              <a:ext uri="{FF2B5EF4-FFF2-40B4-BE49-F238E27FC236}">
                <a16:creationId xmlns:a16="http://schemas.microsoft.com/office/drawing/2014/main" id="{58B1D1C8-5A3E-C8E7-1537-D236CE480171}"/>
              </a:ext>
            </a:extLst>
          </p:cNvPr>
          <p:cNvSpPr txBox="1">
            <a:spLocks noGrp="1"/>
          </p:cNvSpPr>
          <p:nvPr>
            <p:ph type="body" idx="1"/>
          </p:nvPr>
        </p:nvSpPr>
        <p:spPr>
          <a:xfrm>
            <a:off x="-15863" y="915993"/>
            <a:ext cx="8763000" cy="3479700"/>
          </a:xfrm>
          <a:prstGeom prst="rect">
            <a:avLst/>
          </a:prstGeom>
          <a:noFill/>
          <a:ln>
            <a:noFill/>
          </a:ln>
        </p:spPr>
        <p:txBody>
          <a:bodyPr spcFirstLastPara="1" wrap="square" lIns="91425" tIns="91425" rIns="91425" bIns="91425" anchor="ctr" anchorCtr="0">
            <a:normAutofit lnSpcReduction="10000"/>
          </a:bodyPr>
          <a:lstStyle/>
          <a:p>
            <a:pPr algn="just"/>
            <a:r>
              <a:rPr lang="en-US" sz="2000" dirty="0"/>
              <a:t>    Decision-making affects many aspects of daily life, including personal, professional, and financial activities. People often make decisions under pressure or uncertainty and tend to repeat similar mistakes without understanding the patterns behind them. Most existing applications focus on tracking tasks or activities rather than analyzing decision quality.</a:t>
            </a:r>
          </a:p>
          <a:p>
            <a:pPr algn="just"/>
            <a:r>
              <a:rPr lang="en-US" sz="2000" dirty="0"/>
              <a:t>    The </a:t>
            </a:r>
            <a:r>
              <a:rPr lang="en-US" sz="2000" b="1" dirty="0"/>
              <a:t>Personal Decision Intelligence System</a:t>
            </a:r>
            <a:r>
              <a:rPr lang="en-US" sz="2000" dirty="0"/>
              <a:t> is a web-based application that helps users analyze their decision-making behavior using machine learning techniques. The system records decisions along with their context and outcomes, then identifies patterns that lead to positive or negative results. By generating personalized insights, the system assists users in improving their decision-making over time.</a:t>
            </a:r>
          </a:p>
          <a:p>
            <a:pPr marL="146368" lvl="0" indent="0" algn="just" rtl="0">
              <a:lnSpc>
                <a:spcPct val="115000"/>
              </a:lnSpc>
              <a:spcBef>
                <a:spcPts val="0"/>
              </a:spcBef>
              <a:spcAft>
                <a:spcPts val="0"/>
              </a:spcAft>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265416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1DF9300B-3143-5957-E164-989F5822FFE0}"/>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36F24156-32B6-85C6-42CD-AF04D3792EF8}"/>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Significance or importance or novelty</a:t>
            </a:r>
            <a:endParaRPr dirty="0"/>
          </a:p>
        </p:txBody>
      </p:sp>
      <p:sp>
        <p:nvSpPr>
          <p:cNvPr id="57" name="Google Shape;57;g32a3e1ea9ea_0_31">
            <a:extLst>
              <a:ext uri="{FF2B5EF4-FFF2-40B4-BE49-F238E27FC236}">
                <a16:creationId xmlns:a16="http://schemas.microsoft.com/office/drawing/2014/main" id="{289BDEB0-249E-D6BF-5A27-38951EFEAE18}"/>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12</a:t>
            </a:fld>
            <a:endParaRPr/>
          </a:p>
        </p:txBody>
      </p:sp>
      <p:sp>
        <p:nvSpPr>
          <p:cNvPr id="58" name="Google Shape;58;g32a3e1ea9ea_0_31">
            <a:extLst>
              <a:ext uri="{FF2B5EF4-FFF2-40B4-BE49-F238E27FC236}">
                <a16:creationId xmlns:a16="http://schemas.microsoft.com/office/drawing/2014/main" id="{B0C10D83-1140-5CAA-15CF-EF94EE014956}"/>
              </a:ext>
            </a:extLst>
          </p:cNvPr>
          <p:cNvSpPr txBox="1">
            <a:spLocks noGrp="1"/>
          </p:cNvSpPr>
          <p:nvPr>
            <p:ph type="body" idx="1"/>
          </p:nvPr>
        </p:nvSpPr>
        <p:spPr>
          <a:xfrm>
            <a:off x="-324678" y="914400"/>
            <a:ext cx="9252778" cy="3479700"/>
          </a:xfrm>
          <a:prstGeom prst="rect">
            <a:avLst/>
          </a:prstGeom>
          <a:noFill/>
          <a:ln>
            <a:noFill/>
          </a:ln>
        </p:spPr>
        <p:txBody>
          <a:bodyPr spcFirstLastPara="1" wrap="square" lIns="91425" tIns="91425" rIns="91425" bIns="91425" anchor="t" anchorCtr="0">
            <a:normAutofit lnSpcReduction="10000"/>
          </a:bodyPr>
          <a:lstStyle/>
          <a:p>
            <a:pPr algn="just"/>
            <a:r>
              <a:rPr lang="en-US" sz="2000" dirty="0"/>
              <a:t>   The Personal Decision Intelligence System is significant because it focuses on improving </a:t>
            </a:r>
            <a:r>
              <a:rPr lang="en-US" sz="2000" b="1" dirty="0"/>
              <a:t>decision quality</a:t>
            </a:r>
            <a:r>
              <a:rPr lang="en-US" sz="2000" dirty="0"/>
              <a:t> rather than simply tracking activities or outcomes. Most existing systems provide generic advice and do not learn from an individual’s past decisions or their consequences. This project introduces a personalized approach that helps users understand the patterns behind their decision-making behavior.</a:t>
            </a:r>
          </a:p>
          <a:p>
            <a:pPr algn="just"/>
            <a:r>
              <a:rPr lang="en-US" sz="2000" dirty="0"/>
              <a:t>   The novelty of this system lies in its use of </a:t>
            </a:r>
            <a:r>
              <a:rPr lang="en-US" sz="2000" b="1" dirty="0"/>
              <a:t>user-generated decision data</a:t>
            </a:r>
            <a:r>
              <a:rPr lang="en-US" sz="2000" dirty="0"/>
              <a:t> instead of pre-existing datasets. The machine learning component learns incrementally from each user’s decisions and outcomes, making the insights personalized and adaptive. By analyzing decision context and outcomes together, the system provides meaningful warnings and insights that are not available in conventional productivity or tracking applications.</a:t>
            </a:r>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6476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B06ACDDF-8834-FF73-5B70-D2F8669F7184}"/>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F1AD873-6823-0C3F-FA14-A8550C71D08A}"/>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40B09EE2-6CCE-239B-0793-30632F7C7FE9}"/>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13</a:t>
            </a:fld>
            <a:endParaRPr/>
          </a:p>
        </p:txBody>
      </p:sp>
      <p:sp>
        <p:nvSpPr>
          <p:cNvPr id="58" name="Google Shape;58;g32a3e1ea9ea_0_31">
            <a:extLst>
              <a:ext uri="{FF2B5EF4-FFF2-40B4-BE49-F238E27FC236}">
                <a16:creationId xmlns:a16="http://schemas.microsoft.com/office/drawing/2014/main" id="{B0979917-A0E1-45CD-0E3D-D58F9FDAE95B}"/>
              </a:ext>
            </a:extLst>
          </p:cNvPr>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rmAutofit/>
          </a:bodyPr>
          <a:lstStyle/>
          <a:p>
            <a:pPr algn="just"/>
            <a:r>
              <a:rPr lang="en-US" sz="2000" b="1" dirty="0"/>
              <a:t>Framework</a:t>
            </a:r>
          </a:p>
          <a:p>
            <a:pPr marL="571500" indent="-342900" algn="just">
              <a:buFont typeface="Arial" panose="020B0604020202020204" pitchFamily="34" charset="0"/>
              <a:buChar char="•"/>
            </a:pPr>
            <a:r>
              <a:rPr lang="en-US" sz="2000" dirty="0"/>
              <a:t>Collection of user decision data along with contextual attributes</a:t>
            </a:r>
          </a:p>
          <a:p>
            <a:pPr marL="571500" indent="-342900" algn="just">
              <a:buFont typeface="Arial" panose="020B0604020202020204" pitchFamily="34" charset="0"/>
              <a:buChar char="•"/>
            </a:pPr>
            <a:r>
              <a:rPr lang="en-US" sz="2000" dirty="0"/>
              <a:t>Data preprocessing including encoding and normalization</a:t>
            </a:r>
          </a:p>
          <a:p>
            <a:pPr marL="571500" indent="-342900" algn="just">
              <a:buFont typeface="Arial" panose="020B0604020202020204" pitchFamily="34" charset="0"/>
              <a:buChar char="•"/>
            </a:pPr>
            <a:r>
              <a:rPr lang="en-US" sz="2000" dirty="0"/>
              <a:t>Clustering of decision contexts to identify recurring patterns</a:t>
            </a:r>
          </a:p>
          <a:p>
            <a:pPr marL="571500" indent="-342900" algn="just">
              <a:buFont typeface="Arial" panose="020B0604020202020204" pitchFamily="34" charset="0"/>
              <a:buChar char="•"/>
            </a:pPr>
            <a:r>
              <a:rPr lang="en-US" sz="2000" dirty="0"/>
              <a:t>Outcome evaluation to generate personalized decision insights</a:t>
            </a:r>
          </a:p>
          <a:p>
            <a:pPr algn="just"/>
            <a:r>
              <a:rPr lang="en-US" sz="2000" b="1" dirty="0"/>
              <a:t>Techniques Used</a:t>
            </a:r>
          </a:p>
          <a:p>
            <a:pPr marL="571500" indent="-342900" algn="just">
              <a:buFont typeface="Arial" panose="020B0604020202020204" pitchFamily="34" charset="0"/>
              <a:buChar char="•"/>
            </a:pPr>
            <a:r>
              <a:rPr lang="en-US" sz="2000" dirty="0"/>
              <a:t>Unsupervised learning using K-Means clustering</a:t>
            </a:r>
          </a:p>
          <a:p>
            <a:pPr marL="571500" indent="-342900" algn="just">
              <a:buFont typeface="Arial" panose="020B0604020202020204" pitchFamily="34" charset="0"/>
              <a:buChar char="•"/>
            </a:pPr>
            <a:r>
              <a:rPr lang="en-US" sz="2000" dirty="0"/>
              <a:t>Statistical analysis of decision outcomes</a:t>
            </a:r>
          </a:p>
          <a:p>
            <a:pPr marL="571500" indent="-342900" algn="just">
              <a:buFont typeface="Arial" panose="020B0604020202020204" pitchFamily="34" charset="0"/>
              <a:buChar char="•"/>
            </a:pPr>
            <a:r>
              <a:rPr lang="en-US" sz="2000" dirty="0"/>
              <a:t>Time-based and correlation analysis for behavior patterns</a:t>
            </a:r>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34577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578A1A63-0561-A308-CC62-845E7710696A}"/>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1B310181-F8CA-D211-6AF1-50FE1D1484E8}"/>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a:t>Tools and Data sets (include SDG category)</a:t>
            </a:r>
            <a:endParaRPr dirty="0"/>
          </a:p>
        </p:txBody>
      </p:sp>
      <p:sp>
        <p:nvSpPr>
          <p:cNvPr id="57" name="Google Shape;57;g32a3e1ea9ea_0_31">
            <a:extLst>
              <a:ext uri="{FF2B5EF4-FFF2-40B4-BE49-F238E27FC236}">
                <a16:creationId xmlns:a16="http://schemas.microsoft.com/office/drawing/2014/main" id="{0A43F7CE-5289-46F4-C162-2919BB98AD97}"/>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14</a:t>
            </a:fld>
            <a:endParaRPr/>
          </a:p>
        </p:txBody>
      </p:sp>
      <p:sp>
        <p:nvSpPr>
          <p:cNvPr id="58" name="Google Shape;58;g32a3e1ea9ea_0_31">
            <a:extLst>
              <a:ext uri="{FF2B5EF4-FFF2-40B4-BE49-F238E27FC236}">
                <a16:creationId xmlns:a16="http://schemas.microsoft.com/office/drawing/2014/main" id="{E50E089E-A720-0E3A-74B4-A3E1B2F22A01}"/>
              </a:ext>
            </a:extLst>
          </p:cNvPr>
          <p:cNvSpPr txBox="1">
            <a:spLocks noGrp="1"/>
          </p:cNvSpPr>
          <p:nvPr>
            <p:ph type="body" idx="1"/>
          </p:nvPr>
        </p:nvSpPr>
        <p:spPr>
          <a:xfrm>
            <a:off x="165100" y="914400"/>
            <a:ext cx="8763000" cy="4229100"/>
          </a:xfrm>
          <a:prstGeom prst="rect">
            <a:avLst/>
          </a:prstGeom>
          <a:noFill/>
          <a:ln>
            <a:noFill/>
          </a:ln>
        </p:spPr>
        <p:txBody>
          <a:bodyPr spcFirstLastPara="1" wrap="square" lIns="91425" tIns="91425" rIns="91425" bIns="91425" anchor="t" anchorCtr="0">
            <a:normAutofit fontScale="92500" lnSpcReduction="20000"/>
          </a:bodyPr>
          <a:lstStyle/>
          <a:p>
            <a:r>
              <a:rPr lang="en-IN" sz="1300" b="1" dirty="0"/>
              <a:t>Tools Used</a:t>
            </a:r>
          </a:p>
          <a:p>
            <a:pPr marL="571500" indent="-342900">
              <a:buFont typeface="Arial" panose="020B0604020202020204" pitchFamily="34" charset="0"/>
              <a:buChar char="•"/>
            </a:pPr>
            <a:r>
              <a:rPr lang="en-IN" sz="1300" b="1" dirty="0"/>
              <a:t>Python</a:t>
            </a:r>
            <a:r>
              <a:rPr lang="en-IN" sz="1300" dirty="0"/>
              <a:t> – Core programming language for backend and machine learning</a:t>
            </a:r>
          </a:p>
          <a:p>
            <a:pPr marL="571500" indent="-342900">
              <a:buFont typeface="Arial" panose="020B0604020202020204" pitchFamily="34" charset="0"/>
              <a:buChar char="•"/>
            </a:pPr>
            <a:r>
              <a:rPr lang="en-IN" sz="1300" b="1" dirty="0" err="1"/>
              <a:t>FastAPI</a:t>
            </a:r>
            <a:r>
              <a:rPr lang="en-IN" sz="1300" dirty="0"/>
              <a:t> – Backend framework for API development</a:t>
            </a:r>
          </a:p>
          <a:p>
            <a:pPr marL="571500" indent="-342900">
              <a:buFont typeface="Arial" panose="020B0604020202020204" pitchFamily="34" charset="0"/>
              <a:buChar char="•"/>
            </a:pPr>
            <a:r>
              <a:rPr lang="en-IN" sz="1300" b="1" dirty="0"/>
              <a:t>React / HTML, CSS, JavaScript</a:t>
            </a:r>
            <a:r>
              <a:rPr lang="en-IN" sz="1300" dirty="0"/>
              <a:t> – Frontend user interface development</a:t>
            </a:r>
          </a:p>
          <a:p>
            <a:pPr marL="571500" indent="-342900">
              <a:buFont typeface="Arial" panose="020B0604020202020204" pitchFamily="34" charset="0"/>
              <a:buChar char="•"/>
            </a:pPr>
            <a:r>
              <a:rPr lang="en-IN" sz="1300" b="1" dirty="0"/>
              <a:t>Pandas &amp; NumPy</a:t>
            </a:r>
            <a:r>
              <a:rPr lang="en-IN" sz="1300" dirty="0"/>
              <a:t> – Data processing and analysis</a:t>
            </a:r>
          </a:p>
          <a:p>
            <a:pPr marL="571500" indent="-342900">
              <a:buFont typeface="Arial" panose="020B0604020202020204" pitchFamily="34" charset="0"/>
              <a:buChar char="•"/>
            </a:pPr>
            <a:r>
              <a:rPr lang="en-IN" sz="1300" b="1" dirty="0"/>
              <a:t>Scikit-learn</a:t>
            </a:r>
            <a:r>
              <a:rPr lang="en-IN" sz="1300" dirty="0"/>
              <a:t> – Implementation of clustering and analysis algorithms</a:t>
            </a:r>
          </a:p>
          <a:p>
            <a:pPr marL="571500" indent="-342900">
              <a:buFont typeface="Arial" panose="020B0604020202020204" pitchFamily="34" charset="0"/>
              <a:buChar char="•"/>
            </a:pPr>
            <a:r>
              <a:rPr lang="en-IN" sz="1300" b="1" dirty="0"/>
              <a:t>PostgreSQL / MongoDB</a:t>
            </a:r>
            <a:r>
              <a:rPr lang="en-IN" sz="1300" dirty="0"/>
              <a:t> – Storage of decision data and outcomes</a:t>
            </a:r>
          </a:p>
          <a:p>
            <a:r>
              <a:rPr lang="en-IN" sz="1300" b="1" dirty="0"/>
              <a:t>Dataset Used</a:t>
            </a:r>
          </a:p>
          <a:p>
            <a:pPr marL="571500" indent="-342900">
              <a:buFont typeface="Arial" panose="020B0604020202020204" pitchFamily="34" charset="0"/>
              <a:buChar char="•"/>
            </a:pPr>
            <a:r>
              <a:rPr lang="en-US" sz="1300" b="1" dirty="0"/>
              <a:t>Choices13k – Human Decision &amp; Preference Dataset</a:t>
            </a:r>
            <a:br>
              <a:rPr lang="en-US" sz="1300" dirty="0"/>
            </a:br>
            <a:r>
              <a:rPr lang="en-US" sz="1300" dirty="0">
                <a:hlinkClick r:id="rId3"/>
              </a:rPr>
              <a:t>https://github.com/jcpeterson/choices13k</a:t>
            </a:r>
            <a:br>
              <a:rPr lang="en-US" sz="1300" dirty="0"/>
            </a:br>
            <a:r>
              <a:rPr lang="en-US" sz="1300" dirty="0"/>
              <a:t>Used for pre-training the system to learn general human decision-making patterns and choice behavior under trade-offs.</a:t>
            </a:r>
          </a:p>
          <a:p>
            <a:pPr marL="571500" indent="-342900">
              <a:buFont typeface="Arial" panose="020B0604020202020204" pitchFamily="34" charset="0"/>
              <a:buChar char="•"/>
            </a:pPr>
            <a:r>
              <a:rPr lang="en-US" sz="1300" b="1" dirty="0"/>
              <a:t>World Values Survey (WVS)</a:t>
            </a:r>
            <a:br>
              <a:rPr lang="en-US" sz="1300" dirty="0"/>
            </a:br>
            <a:r>
              <a:rPr lang="en-US" sz="1300" dirty="0">
                <a:hlinkClick r:id="rId4"/>
              </a:rPr>
              <a:t>https://www.worldvaluessurvey.org</a:t>
            </a:r>
            <a:br>
              <a:rPr lang="en-US" sz="1300" dirty="0"/>
            </a:br>
            <a:r>
              <a:rPr lang="en-US" sz="1300" dirty="0"/>
              <a:t>Used as a survey-based reference dataset to model human values, confidence levels, and preference variations during the initial learning phase.</a:t>
            </a:r>
          </a:p>
          <a:p>
            <a:pPr marL="571500" indent="-342900">
              <a:buFont typeface="Arial" panose="020B0604020202020204" pitchFamily="34" charset="0"/>
              <a:buChar char="•"/>
            </a:pPr>
            <a:r>
              <a:rPr lang="en-US" sz="1300" b="1" dirty="0" err="1"/>
              <a:t>StudentLife</a:t>
            </a:r>
            <a:r>
              <a:rPr lang="en-US" sz="1300" b="1" dirty="0"/>
              <a:t> Dataset</a:t>
            </a:r>
            <a:br>
              <a:rPr lang="en-US" sz="1300" dirty="0"/>
            </a:br>
            <a:r>
              <a:rPr lang="en-US" sz="1300" dirty="0">
                <a:hlinkClick r:id="rId5"/>
              </a:rPr>
              <a:t>https://studentlife.cs.dartmouth.edu/dataset.html</a:t>
            </a:r>
            <a:br>
              <a:rPr lang="en-US" sz="1300" dirty="0"/>
            </a:br>
            <a:r>
              <a:rPr lang="en-US" sz="1300" dirty="0"/>
              <a:t>Used to understand the impact of contextual factors such as stress, fatigue, and time on decision-related behavior.</a:t>
            </a:r>
            <a:br>
              <a:rPr lang="en-US" sz="1300" dirty="0"/>
            </a:br>
            <a:br>
              <a:rPr lang="en-IN" sz="1300" dirty="0"/>
            </a:br>
            <a:r>
              <a:rPr lang="en-US" sz="1300" b="1" dirty="0"/>
              <a:t>Sustainable Development Goals (SDG) Alignment</a:t>
            </a:r>
          </a:p>
          <a:p>
            <a:pPr marL="514350" indent="-285750">
              <a:buFont typeface="Arial" panose="020B0604020202020204" pitchFamily="34" charset="0"/>
              <a:buChar char="•"/>
            </a:pPr>
            <a:r>
              <a:rPr lang="en-US" sz="1300" b="1" dirty="0"/>
              <a:t>SDG 4 – Quality Education</a:t>
            </a:r>
            <a:br>
              <a:rPr lang="en-US" sz="1300" dirty="0"/>
            </a:br>
            <a:r>
              <a:rPr lang="en-US" sz="1300" dirty="0"/>
              <a:t>Supports informed and reflective decision-making for students and individuals.</a:t>
            </a:r>
          </a:p>
          <a:p>
            <a:pPr marL="514350" indent="-285750">
              <a:buFont typeface="Arial" panose="020B0604020202020204" pitchFamily="34" charset="0"/>
              <a:buChar char="•"/>
            </a:pPr>
            <a:r>
              <a:rPr lang="en-US" sz="1300" b="1" dirty="0"/>
              <a:t>SDG 8 – Decent Work and Economic Growth</a:t>
            </a:r>
            <a:br>
              <a:rPr lang="en-US" sz="1300" dirty="0"/>
            </a:br>
            <a:r>
              <a:rPr lang="en-US" sz="1300" dirty="0"/>
              <a:t>Helps users make better personal and professional decisions, improving long-term outcomes.</a:t>
            </a:r>
          </a:p>
          <a:p>
            <a:pPr marL="514350" indent="-285750">
              <a:buFont typeface="Arial" panose="020B0604020202020204" pitchFamily="34" charset="0"/>
              <a:buChar char="•"/>
            </a:pPr>
            <a:r>
              <a:rPr lang="en-US" sz="1300" b="1" dirty="0"/>
              <a:t>SDG 9 – Industry, Innovation &amp; Infrastructure</a:t>
            </a:r>
            <a:br>
              <a:rPr lang="en-US" sz="1300" dirty="0"/>
            </a:br>
            <a:r>
              <a:rPr lang="en-US" sz="1300" dirty="0"/>
              <a:t>Promotes intelligent and adaptive decision-support technologies.</a:t>
            </a:r>
          </a:p>
          <a:p>
            <a:pPr marL="146368" lvl="0" indent="0" algn="l" rtl="0">
              <a:lnSpc>
                <a:spcPct val="115000"/>
              </a:lnSpc>
              <a:spcBef>
                <a:spcPts val="0"/>
              </a:spcBef>
              <a:spcAft>
                <a:spcPts val="0"/>
              </a:spcAft>
              <a:buClr>
                <a:srgbClr val="595959"/>
              </a:buClr>
              <a:buSzPct val="58333"/>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92186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DA2F1570-CC9C-2EE8-ABDF-44371DB03DF1}"/>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B4356AB-631F-D4AE-6EE9-A5F6D86D1AEF}"/>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D58F5122-4A9E-C73E-B1AC-45C81065C5E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15</a:t>
            </a:fld>
            <a:endParaRPr/>
          </a:p>
        </p:txBody>
      </p:sp>
      <p:sp>
        <p:nvSpPr>
          <p:cNvPr id="58" name="Google Shape;58;g32a3e1ea9ea_0_31">
            <a:extLst>
              <a:ext uri="{FF2B5EF4-FFF2-40B4-BE49-F238E27FC236}">
                <a16:creationId xmlns:a16="http://schemas.microsoft.com/office/drawing/2014/main" id="{B9EB44D0-96B7-0D15-6A0A-9441A083838B}"/>
              </a:ext>
            </a:extLst>
          </p:cNvPr>
          <p:cNvSpPr txBox="1">
            <a:spLocks noGrp="1"/>
          </p:cNvSpPr>
          <p:nvPr>
            <p:ph type="body" idx="1"/>
          </p:nvPr>
        </p:nvSpPr>
        <p:spPr>
          <a:xfrm>
            <a:off x="-215899" y="594733"/>
            <a:ext cx="9237686" cy="4548768"/>
          </a:xfrm>
          <a:prstGeom prst="rect">
            <a:avLst/>
          </a:prstGeom>
          <a:noFill/>
          <a:ln>
            <a:noFill/>
          </a:ln>
        </p:spPr>
        <p:txBody>
          <a:bodyPr spcFirstLastPara="1" wrap="square" lIns="91425" tIns="91425" rIns="91425" bIns="91425" anchor="ctr" anchorCtr="0">
            <a:noAutofit/>
          </a:bodyPr>
          <a:lstStyle/>
          <a:p>
            <a:r>
              <a:rPr lang="en-US" sz="1600" b="1" dirty="0"/>
              <a:t>Title: </a:t>
            </a:r>
            <a:r>
              <a:rPr lang="en-US" sz="1600" dirty="0"/>
              <a:t>Personalized Decision Support Enhanced by Multiple Expected Solution Points in the Characteristic Objects Method</a:t>
            </a:r>
          </a:p>
          <a:p>
            <a:r>
              <a:rPr lang="en-US" sz="1600" b="1" dirty="0"/>
              <a:t>Year:</a:t>
            </a:r>
            <a:r>
              <a:rPr lang="en-US" sz="1600" dirty="0"/>
              <a:t>2024</a:t>
            </a:r>
          </a:p>
          <a:p>
            <a:r>
              <a:rPr lang="en-US" sz="1600" b="1" dirty="0"/>
              <a:t>Publisher: </a:t>
            </a:r>
            <a:r>
              <a:rPr lang="en-US" sz="1600" dirty="0"/>
              <a:t>IEEE / IEEE Indexed Journals</a:t>
            </a:r>
          </a:p>
          <a:p>
            <a:r>
              <a:rPr lang="en-US" sz="1600" b="1" dirty="0"/>
              <a:t>Focus Area:</a:t>
            </a:r>
          </a:p>
          <a:p>
            <a:pPr marL="457200" lvl="1" indent="0" eaLnBrk="0" fontAlgn="base" hangingPunct="0">
              <a:spcBef>
                <a:spcPct val="0"/>
              </a:spcBef>
              <a:spcAft>
                <a:spcPct val="0"/>
              </a:spcAft>
              <a:buClrTx/>
              <a:buSzTx/>
              <a:buFontTx/>
              <a:buChar char="•"/>
            </a:pPr>
            <a:r>
              <a:rPr lang="en-US" altLang="en-US" sz="1600" dirty="0">
                <a:solidFill>
                  <a:schemeClr val="tx1"/>
                </a:solidFill>
                <a:latin typeface="Arial" panose="020B0604020202020204" pitchFamily="34" charset="0"/>
              </a:rPr>
              <a:t>Personalized Decision Support Systems</a:t>
            </a:r>
          </a:p>
          <a:p>
            <a:pPr marL="457200" lvl="1" indent="0" eaLnBrk="0" fontAlgn="base" hangingPunct="0">
              <a:spcBef>
                <a:spcPct val="0"/>
              </a:spcBef>
              <a:spcAft>
                <a:spcPct val="0"/>
              </a:spcAft>
              <a:buClrTx/>
              <a:buSzTx/>
              <a:buFontTx/>
              <a:buChar char="•"/>
            </a:pPr>
            <a:r>
              <a:rPr lang="en-US" altLang="en-US" sz="1600" dirty="0">
                <a:solidFill>
                  <a:schemeClr val="tx1"/>
                </a:solidFill>
                <a:latin typeface="Arial" panose="020B0604020202020204" pitchFamily="34" charset="0"/>
              </a:rPr>
              <a:t>Multi-Criteria Decision Making (MCDM)</a:t>
            </a:r>
          </a:p>
          <a:p>
            <a:pPr marL="457200" lvl="1" indent="0" eaLnBrk="0" fontAlgn="base" hangingPunct="0">
              <a:spcBef>
                <a:spcPct val="0"/>
              </a:spcBef>
              <a:spcAft>
                <a:spcPct val="0"/>
              </a:spcAft>
              <a:buClrTx/>
              <a:buSzTx/>
            </a:pPr>
            <a:r>
              <a:rPr lang="en-US" altLang="en-US" sz="1600" dirty="0">
                <a:solidFill>
                  <a:schemeClr val="tx1"/>
                </a:solidFill>
                <a:latin typeface="Arial" panose="020B0604020202020204" pitchFamily="34" charset="0"/>
              </a:rPr>
              <a:t>Preference Modeling in Decision Analysis</a:t>
            </a:r>
            <a:endParaRPr lang="en-US" sz="1600" dirty="0"/>
          </a:p>
          <a:p>
            <a:r>
              <a:rPr lang="en-US" sz="1600" b="1" dirty="0"/>
              <a:t>Key Contribution of Base Paper:</a:t>
            </a:r>
          </a:p>
          <a:p>
            <a:pPr marL="228600" indent="0"/>
            <a:r>
              <a:rPr lang="en-US" sz="1600" dirty="0"/>
              <a:t>Introduces a COMET-based personalized decision support model using Multiple Expected Solution Points (ESPs).</a:t>
            </a:r>
            <a:br>
              <a:rPr lang="en-US" sz="1600" dirty="0"/>
            </a:br>
            <a:r>
              <a:rPr lang="en-US" sz="1600" dirty="0"/>
              <a:t>Captures multiple user preference profiles, reducing bias from single preference modeling.</a:t>
            </a:r>
            <a:br>
              <a:rPr lang="en-US" sz="1600" dirty="0"/>
            </a:br>
            <a:r>
              <a:rPr lang="en-US" sz="1600" dirty="0"/>
              <a:t>Improves stability and reliability of decision outcomes compared to traditional weighting methods.</a:t>
            </a:r>
          </a:p>
          <a:p>
            <a:r>
              <a:rPr lang="en-US" sz="1600" b="1" dirty="0"/>
              <a:t>Motivation for Our Project:</a:t>
            </a:r>
            <a:br>
              <a:rPr lang="en-US" sz="1600" b="1" dirty="0"/>
            </a:br>
            <a:r>
              <a:rPr lang="en-US" sz="1600" dirty="0"/>
              <a:t>Inspired the use of personalized preference modeling in decision support systems</a:t>
            </a:r>
            <a:br>
              <a:rPr lang="en-US" sz="1600" dirty="0"/>
            </a:br>
            <a:r>
              <a:rPr lang="en-US" sz="1600" dirty="0"/>
              <a:t>Highlighted the need to handle multiple decision perspectives</a:t>
            </a:r>
            <a:br>
              <a:rPr lang="en-US" sz="1600" dirty="0"/>
            </a:br>
            <a:r>
              <a:rPr lang="en-US" sz="1600" dirty="0"/>
              <a:t>Motivated extending static decision models into a dynamic Personal Decision Intelligence System (PDIS)</a:t>
            </a:r>
          </a:p>
        </p:txBody>
      </p:sp>
    </p:spTree>
    <p:extLst>
      <p:ext uri="{BB962C8B-B14F-4D97-AF65-F5344CB8AC3E}">
        <p14:creationId xmlns:p14="http://schemas.microsoft.com/office/powerpoint/2010/main" val="1845183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CCCE6C5D-E94B-0162-89FB-193735F1DAC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8C40468F-BA50-5B35-E162-7E7A3663F10A}"/>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A4BD8A53-D48D-9923-0231-E4F5B01DBDFB}"/>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16</a:t>
            </a:fld>
            <a:endParaRPr/>
          </a:p>
        </p:txBody>
      </p:sp>
      <p:sp>
        <p:nvSpPr>
          <p:cNvPr id="58" name="Google Shape;58;g32a3e1ea9ea_0_31">
            <a:extLst>
              <a:ext uri="{FF2B5EF4-FFF2-40B4-BE49-F238E27FC236}">
                <a16:creationId xmlns:a16="http://schemas.microsoft.com/office/drawing/2014/main" id="{670F2E65-A7E7-8A18-6CD0-A0DC38447CC7}"/>
              </a:ext>
            </a:extLst>
          </p:cNvPr>
          <p:cNvSpPr txBox="1">
            <a:spLocks noGrp="1"/>
          </p:cNvSpPr>
          <p:nvPr>
            <p:ph type="body" idx="1"/>
          </p:nvPr>
        </p:nvSpPr>
        <p:spPr>
          <a:xfrm>
            <a:off x="-86360" y="831900"/>
            <a:ext cx="8763000" cy="3479700"/>
          </a:xfrm>
          <a:prstGeom prst="rect">
            <a:avLst/>
          </a:prstGeom>
          <a:noFill/>
          <a:ln>
            <a:noFill/>
          </a:ln>
        </p:spPr>
        <p:txBody>
          <a:bodyPr spcFirstLastPara="1" wrap="square" lIns="91425" tIns="91425" rIns="91425" bIns="91425" anchor="t" anchorCtr="0">
            <a:noAutofit/>
          </a:bodyPr>
          <a:lstStyle/>
          <a:p>
            <a:pPr algn="just"/>
            <a:r>
              <a:rPr lang="en-IN" sz="2000" dirty="0"/>
              <a:t>   [1] </a:t>
            </a:r>
            <a:r>
              <a:rPr lang="en-IN" sz="1800" dirty="0"/>
              <a:t>M. Jabbari, S. Sheikh, M. </a:t>
            </a:r>
            <a:r>
              <a:rPr lang="en-IN" sz="1800" dirty="0" err="1"/>
              <a:t>Rabiee</a:t>
            </a:r>
            <a:r>
              <a:rPr lang="en-IN" sz="1800" dirty="0"/>
              <a:t>, and A. </a:t>
            </a:r>
            <a:r>
              <a:rPr lang="en-IN" sz="1800" dirty="0" err="1"/>
              <a:t>Oztekin</a:t>
            </a:r>
            <a:r>
              <a:rPr lang="en-IN" sz="1800" dirty="0"/>
              <a:t>, “A collaborative decision support system for multi-criteria automatic clustering,” </a:t>
            </a:r>
            <a:r>
              <a:rPr lang="en-IN" sz="1800" i="1" dirty="0" err="1"/>
              <a:t>Decis</a:t>
            </a:r>
            <a:r>
              <a:rPr lang="en-IN" sz="1800" i="1" dirty="0"/>
              <a:t>. Support Syst.</a:t>
            </a:r>
            <a:r>
              <a:rPr lang="en-IN" sz="1800" dirty="0"/>
              <a:t>, vol. 153, Feb. 2022, Art. no. 113671.</a:t>
            </a:r>
            <a:br>
              <a:rPr lang="en-US" sz="2000" dirty="0"/>
            </a:br>
            <a:r>
              <a:rPr lang="en-IN" sz="2000" dirty="0"/>
              <a:t>[2] </a:t>
            </a:r>
            <a:r>
              <a:rPr lang="en-US" sz="1800" dirty="0"/>
              <a:t>A. </a:t>
            </a:r>
            <a:r>
              <a:rPr lang="en-US" sz="1800" dirty="0" err="1"/>
              <a:t>Shekhovtsov</a:t>
            </a:r>
            <a:r>
              <a:rPr lang="en-US" sz="1800" dirty="0"/>
              <a:t>, B. </a:t>
            </a:r>
            <a:r>
              <a:rPr lang="en-US" sz="1800" dirty="0" err="1"/>
              <a:t>Kizielewicz</a:t>
            </a:r>
            <a:r>
              <a:rPr lang="en-US" sz="1800" dirty="0"/>
              <a:t>, and W. </a:t>
            </a:r>
            <a:r>
              <a:rPr lang="en-US" sz="1800" dirty="0" err="1"/>
              <a:t>Sałabun</a:t>
            </a:r>
            <a:r>
              <a:rPr lang="en-US" sz="1800" dirty="0"/>
              <a:t>, “Advancing individual decision-making: An extension of the characteristic objects method using expected solution point,” </a:t>
            </a:r>
            <a:r>
              <a:rPr lang="en-US" sz="1800" i="1" dirty="0"/>
              <a:t>Inf. Sci.</a:t>
            </a:r>
            <a:r>
              <a:rPr lang="en-US" sz="1800" dirty="0"/>
              <a:t>, vol. 647, Nov. 2023, Art. no. 119456.</a:t>
            </a:r>
            <a:br>
              <a:rPr lang="en-US" sz="1800" dirty="0"/>
            </a:br>
            <a:r>
              <a:rPr lang="en-IN" sz="2000" dirty="0"/>
              <a:t>[3] </a:t>
            </a:r>
            <a:r>
              <a:rPr lang="en-US" sz="1800" dirty="0"/>
              <a:t>H. Liu, Z. Xu, L. Jiang, and J. Zhu, “Multi-criteria group decision making with preference approval structures: A personalized individual semantics approach,” </a:t>
            </a:r>
            <a:r>
              <a:rPr lang="en-US" sz="1800" i="1" dirty="0"/>
              <a:t>Inf. Fusion</a:t>
            </a:r>
            <a:r>
              <a:rPr lang="en-US" sz="1800" dirty="0"/>
              <a:t>, vol. 96, pp. 80–91, Aug. 2023.</a:t>
            </a:r>
            <a:endParaRPr sz="18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17061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23A14435-3DF4-BBB3-C697-AC55722FBD17}"/>
            </a:ext>
          </a:extLst>
        </p:cNvPr>
        <p:cNvGrpSpPr/>
        <p:nvPr/>
      </p:nvGrpSpPr>
      <p:grpSpPr>
        <a:xfrm>
          <a:off x="0" y="0"/>
          <a:ext cx="0" cy="0"/>
          <a:chOff x="0" y="0"/>
          <a:chExt cx="0" cy="0"/>
        </a:xfrm>
      </p:grpSpPr>
      <p:sp>
        <p:nvSpPr>
          <p:cNvPr id="37" name="Google Shape;37;p2">
            <a:extLst>
              <a:ext uri="{FF2B5EF4-FFF2-40B4-BE49-F238E27FC236}">
                <a16:creationId xmlns:a16="http://schemas.microsoft.com/office/drawing/2014/main" id="{E2120D80-8A37-C68C-6593-185EE29367B0}"/>
              </a:ext>
            </a:extLst>
          </p:cNvPr>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dirty="0">
                <a:solidFill>
                  <a:srgbClr val="C00000"/>
                </a:solidFill>
              </a:rPr>
              <a:t>Explainable AI–Based Intrusion Detection System for Cyber-Physical Systems</a:t>
            </a:r>
            <a:endParaRPr dirty="0">
              <a:solidFill>
                <a:srgbClr val="C00000"/>
              </a:solidFill>
            </a:endParaRPr>
          </a:p>
        </p:txBody>
      </p:sp>
      <p:sp>
        <p:nvSpPr>
          <p:cNvPr id="38" name="Google Shape;38;p2">
            <a:extLst>
              <a:ext uri="{FF2B5EF4-FFF2-40B4-BE49-F238E27FC236}">
                <a16:creationId xmlns:a16="http://schemas.microsoft.com/office/drawing/2014/main" id="{D9D35EC3-5B72-1DD0-4DDE-866C436A755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17</a:t>
            </a:fld>
            <a:endParaRPr/>
          </a:p>
        </p:txBody>
      </p:sp>
    </p:spTree>
    <p:extLst>
      <p:ext uri="{BB962C8B-B14F-4D97-AF65-F5344CB8AC3E}">
        <p14:creationId xmlns:p14="http://schemas.microsoft.com/office/powerpoint/2010/main" val="3088168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F3B87261-2AAF-A581-169E-374BF382CF2E}"/>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ED280F2B-7DEB-85D4-594B-FBBD638CA827}"/>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2CD47787-5961-E1B1-E3C1-EB4B02C07AF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58" name="Google Shape;58;g32a3e1ea9ea_0_31">
            <a:extLst>
              <a:ext uri="{FF2B5EF4-FFF2-40B4-BE49-F238E27FC236}">
                <a16:creationId xmlns:a16="http://schemas.microsoft.com/office/drawing/2014/main" id="{DEF3A389-2406-EF2B-BDB6-9767CBE5B438}"/>
              </a:ext>
            </a:extLst>
          </p:cNvPr>
          <p:cNvSpPr txBox="1">
            <a:spLocks noGrp="1"/>
          </p:cNvSpPr>
          <p:nvPr>
            <p:ph type="body" idx="1"/>
          </p:nvPr>
        </p:nvSpPr>
        <p:spPr>
          <a:xfrm>
            <a:off x="0" y="914400"/>
            <a:ext cx="8928100" cy="4051610"/>
          </a:xfrm>
          <a:prstGeom prst="rect">
            <a:avLst/>
          </a:prstGeom>
          <a:noFill/>
          <a:ln>
            <a:noFill/>
          </a:ln>
        </p:spPr>
        <p:txBody>
          <a:bodyPr spcFirstLastPara="1" wrap="square" lIns="91425" tIns="91425" rIns="91425" bIns="91425" anchor="t" anchorCtr="0">
            <a:normAutofit fontScale="92500" lnSpcReduction="10000"/>
          </a:bodyPr>
          <a:lstStyle/>
          <a:p>
            <a:pPr marL="571500" indent="-342900" algn="just">
              <a:buFont typeface="Arial" panose="020B0604020202020204" pitchFamily="34" charset="0"/>
              <a:buChar char="•"/>
            </a:pPr>
            <a:r>
              <a:rPr lang="en-US" sz="2000" dirty="0"/>
              <a:t>Cyber-Physical Systems (CPS) such as </a:t>
            </a:r>
            <a:r>
              <a:rPr lang="en-US" sz="2000" b="1" dirty="0"/>
              <a:t>power grids, industrial plants, healthcare systems, and smart cities</a:t>
            </a:r>
            <a:r>
              <a:rPr lang="en-US" sz="2000" dirty="0"/>
              <a:t> rely heavily on computer networks to control physical operations. These systems are increasingly vulnerable to </a:t>
            </a:r>
            <a:r>
              <a:rPr lang="en-US" sz="2000" b="1" dirty="0"/>
              <a:t>cyber attacks</a:t>
            </a:r>
            <a:r>
              <a:rPr lang="en-US" sz="2000" dirty="0"/>
              <a:t>, which can lead to serious </a:t>
            </a:r>
            <a:r>
              <a:rPr lang="en-US" sz="2000" b="1" dirty="0"/>
              <a:t>physical damage, service disruption, and safety risks</a:t>
            </a:r>
            <a:r>
              <a:rPr lang="en-US" sz="2000" dirty="0"/>
              <a:t>.</a:t>
            </a:r>
          </a:p>
          <a:p>
            <a:pPr marL="571500" indent="-342900" algn="just">
              <a:buFont typeface="Arial" panose="020B0604020202020204" pitchFamily="34" charset="0"/>
              <a:buChar char="•"/>
            </a:pPr>
            <a:r>
              <a:rPr lang="en-US" sz="2000" dirty="0"/>
              <a:t>Traditional Intrusion Detection Systems (IDS) use machine learning to detect attacks but often act as </a:t>
            </a:r>
            <a:r>
              <a:rPr lang="en-US" sz="2000" b="1" dirty="0"/>
              <a:t>black-box models</a:t>
            </a:r>
            <a:r>
              <a:rPr lang="en-US" sz="2000" dirty="0"/>
              <a:t>, providing no clear explanation for their decisions. This lack of transparency makes it difficult for operators to </a:t>
            </a:r>
            <a:r>
              <a:rPr lang="en-US" sz="2000" b="1" dirty="0"/>
              <a:t>trust alerts, investigate incidents, and take timely action</a:t>
            </a:r>
            <a:r>
              <a:rPr lang="en-US" sz="2000" dirty="0"/>
              <a:t>.</a:t>
            </a:r>
          </a:p>
          <a:p>
            <a:pPr marL="571500" indent="-342900" algn="just">
              <a:buFont typeface="Arial" panose="020B0604020202020204" pitchFamily="34" charset="0"/>
              <a:buChar char="•"/>
            </a:pPr>
            <a:r>
              <a:rPr lang="en-US" sz="2000" dirty="0"/>
              <a:t>To address this challenge, this project proposes an </a:t>
            </a:r>
            <a:r>
              <a:rPr lang="en-US" sz="2000" b="1" dirty="0"/>
              <a:t>Explainable AI–based Intrusion Detection System</a:t>
            </a:r>
            <a:r>
              <a:rPr lang="en-US" sz="2000" dirty="0"/>
              <a:t> that not only detects cyber attacks in CPS environments but also </a:t>
            </a:r>
            <a:r>
              <a:rPr lang="en-US" sz="2000" b="1" dirty="0"/>
              <a:t>explains why an attack was detected</a:t>
            </a:r>
            <a:r>
              <a:rPr lang="en-US" sz="2000" dirty="0"/>
              <a:t>. By using </a:t>
            </a:r>
            <a:r>
              <a:rPr lang="en-US" sz="2000" b="1" dirty="0"/>
              <a:t>interpretable machine learning models and Explainable AI techniques</a:t>
            </a:r>
            <a:r>
              <a:rPr lang="en-US" sz="2000" dirty="0"/>
              <a:t>, the system improves </a:t>
            </a:r>
            <a:r>
              <a:rPr lang="en-US" sz="2000" b="1" dirty="0"/>
              <a:t>trust, transparency, and decision-making</a:t>
            </a:r>
            <a:r>
              <a:rPr lang="en-US" sz="2000" dirty="0"/>
              <a:t> in cybersecurity for critical infrastructure.</a:t>
            </a:r>
          </a:p>
          <a:p>
            <a:pPr marL="146368" lvl="0" indent="0" algn="just" rtl="0">
              <a:lnSpc>
                <a:spcPct val="115000"/>
              </a:lnSpc>
              <a:spcBef>
                <a:spcPts val="0"/>
              </a:spcBef>
              <a:spcAft>
                <a:spcPts val="0"/>
              </a:spcAft>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516142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296414B2-8DB5-8CCD-E93B-F069592CA1EA}"/>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67568034-E83F-B5C1-7D3D-11AE52759EFF}"/>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Significance or importance or novelty</a:t>
            </a:r>
            <a:endParaRPr dirty="0"/>
          </a:p>
        </p:txBody>
      </p:sp>
      <p:sp>
        <p:nvSpPr>
          <p:cNvPr id="57" name="Google Shape;57;g32a3e1ea9ea_0_31">
            <a:extLst>
              <a:ext uri="{FF2B5EF4-FFF2-40B4-BE49-F238E27FC236}">
                <a16:creationId xmlns:a16="http://schemas.microsoft.com/office/drawing/2014/main" id="{84EF6181-A526-26A4-A701-089F1FE608B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58" name="Google Shape;58;g32a3e1ea9ea_0_31">
            <a:extLst>
              <a:ext uri="{FF2B5EF4-FFF2-40B4-BE49-F238E27FC236}">
                <a16:creationId xmlns:a16="http://schemas.microsoft.com/office/drawing/2014/main" id="{FFBDEF52-82E0-1D8B-B826-B9C62AD78023}"/>
              </a:ext>
            </a:extLst>
          </p:cNvPr>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rmAutofit lnSpcReduction="10000"/>
          </a:bodyPr>
          <a:lstStyle/>
          <a:p>
            <a:pPr marL="228600" indent="0" algn="just"/>
            <a:r>
              <a:rPr lang="en-US" sz="2000" b="1" dirty="0"/>
              <a:t>Significance</a:t>
            </a:r>
          </a:p>
          <a:p>
            <a:pPr marL="571500" indent="-342900" algn="just">
              <a:buFont typeface="Arial" panose="020B0604020202020204" pitchFamily="34" charset="0"/>
              <a:buChar char="•"/>
            </a:pPr>
            <a:r>
              <a:rPr lang="en-US" sz="2000" dirty="0"/>
              <a:t>Cyber-Physical Systems control </a:t>
            </a:r>
            <a:r>
              <a:rPr lang="en-US" sz="2000" b="1" dirty="0"/>
              <a:t>critical infrastructure</a:t>
            </a:r>
            <a:r>
              <a:rPr lang="en-US" sz="2000" dirty="0"/>
              <a:t> such as power, water, and healthcare, where cyber attacks can cause </a:t>
            </a:r>
            <a:r>
              <a:rPr lang="en-US" sz="2000" b="1" dirty="0"/>
              <a:t>real-world physical damage</a:t>
            </a:r>
            <a:r>
              <a:rPr lang="en-US" sz="2000" dirty="0"/>
              <a:t>.</a:t>
            </a:r>
          </a:p>
          <a:p>
            <a:pPr marL="571500" indent="-342900" algn="just">
              <a:buFont typeface="Arial" panose="020B0604020202020204" pitchFamily="34" charset="0"/>
              <a:buChar char="•"/>
            </a:pPr>
            <a:r>
              <a:rPr lang="en-US" sz="2000" dirty="0"/>
              <a:t>This project enhances cybersecurity by combining </a:t>
            </a:r>
            <a:r>
              <a:rPr lang="en-US" sz="2000" b="1" dirty="0"/>
              <a:t>accurate attack detection with clear explanations</a:t>
            </a:r>
            <a:r>
              <a:rPr lang="en-US" sz="2000" dirty="0"/>
              <a:t>, making security decisions safer and more reliable.</a:t>
            </a:r>
          </a:p>
          <a:p>
            <a:pPr marL="228600" indent="0" algn="just"/>
            <a:r>
              <a:rPr lang="en-US" sz="2000" b="1" dirty="0"/>
              <a:t>Importance</a:t>
            </a:r>
          </a:p>
          <a:p>
            <a:pPr marL="571500" indent="-342900" algn="just">
              <a:buFont typeface="Arial" panose="020B0604020202020204" pitchFamily="34" charset="0"/>
              <a:buChar char="•"/>
            </a:pPr>
            <a:r>
              <a:rPr lang="en-US" sz="2000" dirty="0"/>
              <a:t>Traditional AI-based intrusion detection systems act as </a:t>
            </a:r>
            <a:r>
              <a:rPr lang="en-US" sz="2000" b="1" dirty="0"/>
              <a:t>black boxes</a:t>
            </a:r>
            <a:r>
              <a:rPr lang="en-US" sz="2000" dirty="0"/>
              <a:t>, which reduces trust and slows incident response.</a:t>
            </a:r>
          </a:p>
          <a:p>
            <a:pPr marL="571500" indent="-342900" algn="just">
              <a:buFont typeface="Arial" panose="020B0604020202020204" pitchFamily="34" charset="0"/>
              <a:buChar char="•"/>
            </a:pPr>
            <a:r>
              <a:rPr lang="en-US" sz="2000" dirty="0"/>
              <a:t>By using </a:t>
            </a:r>
            <a:r>
              <a:rPr lang="en-US" sz="2000" b="1" dirty="0"/>
              <a:t>Explainable AI</a:t>
            </a:r>
            <a:r>
              <a:rPr lang="en-US" sz="2000" dirty="0"/>
              <a:t>, this system allows operators to </a:t>
            </a:r>
            <a:r>
              <a:rPr lang="en-US" sz="2000" b="1" dirty="0"/>
              <a:t>understand, verify, and act confidently</a:t>
            </a:r>
            <a:r>
              <a:rPr lang="en-US" sz="2000" dirty="0"/>
              <a:t> on security alerts.</a:t>
            </a:r>
          </a:p>
          <a:p>
            <a:pPr marL="571500" indent="-342900" algn="just">
              <a:buFont typeface="Arial" panose="020B0604020202020204" pitchFamily="34" charset="0"/>
              <a:buChar char="•"/>
            </a:pPr>
            <a:r>
              <a:rPr lang="en-US" sz="2000" dirty="0"/>
              <a:t>Improves </a:t>
            </a:r>
            <a:r>
              <a:rPr lang="en-US" sz="2000" b="1" dirty="0"/>
              <a:t>human–AI collaboration</a:t>
            </a:r>
            <a:r>
              <a:rPr lang="en-US" sz="2000" dirty="0"/>
              <a:t> in safety-critical environments.</a:t>
            </a:r>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73660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D44C941B-4E5C-D6E1-FD32-C0A0906AA22B}"/>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41214D4A-B5E2-B156-9E19-5AC4F92F41A5}"/>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F4955E50-2FE1-BD7D-13C9-8770543BC686}"/>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20</a:t>
            </a:fld>
            <a:endParaRPr/>
          </a:p>
        </p:txBody>
      </p:sp>
      <p:sp>
        <p:nvSpPr>
          <p:cNvPr id="58" name="Google Shape;58;g32a3e1ea9ea_0_31">
            <a:extLst>
              <a:ext uri="{FF2B5EF4-FFF2-40B4-BE49-F238E27FC236}">
                <a16:creationId xmlns:a16="http://schemas.microsoft.com/office/drawing/2014/main" id="{A1DBAF5F-E1FD-A7B6-0121-F56DA9961509}"/>
              </a:ext>
            </a:extLst>
          </p:cNvPr>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rmAutofit lnSpcReduction="10000"/>
          </a:bodyPr>
          <a:lstStyle/>
          <a:p>
            <a:pPr marL="228600" indent="0"/>
            <a:r>
              <a:rPr lang="en-IN" sz="2000" b="1" dirty="0"/>
              <a:t>Framework</a:t>
            </a:r>
          </a:p>
          <a:p>
            <a:pPr marL="571500" indent="-342900" algn="just">
              <a:buFont typeface="Arial" panose="020B0604020202020204" pitchFamily="34" charset="0"/>
              <a:buChar char="•"/>
            </a:pPr>
            <a:r>
              <a:rPr lang="en-IN" sz="2000" b="1" dirty="0"/>
              <a:t>Data Collection:</a:t>
            </a:r>
            <a:r>
              <a:rPr lang="en-IN" sz="2000" dirty="0"/>
              <a:t> Network traffic from Cyber-Physical Systems</a:t>
            </a:r>
          </a:p>
          <a:p>
            <a:pPr marL="571500" indent="-342900" algn="just">
              <a:buFont typeface="Arial" panose="020B0604020202020204" pitchFamily="34" charset="0"/>
              <a:buChar char="•"/>
            </a:pPr>
            <a:r>
              <a:rPr lang="en-IN" sz="2000" b="1" dirty="0"/>
              <a:t>Preprocessing:</a:t>
            </a:r>
            <a:r>
              <a:rPr lang="en-IN" sz="2000" dirty="0"/>
              <a:t> Cleaning and encoding of data</a:t>
            </a:r>
          </a:p>
          <a:p>
            <a:pPr marL="571500" indent="-342900" algn="just">
              <a:buFont typeface="Arial" panose="020B0604020202020204" pitchFamily="34" charset="0"/>
              <a:buChar char="•"/>
            </a:pPr>
            <a:r>
              <a:rPr lang="en-IN" sz="2000" b="1" dirty="0"/>
              <a:t>Intrusion Detection:</a:t>
            </a:r>
            <a:r>
              <a:rPr lang="en-IN" sz="2000" dirty="0"/>
              <a:t> Interpretable Decision Tree model</a:t>
            </a:r>
          </a:p>
          <a:p>
            <a:pPr marL="571500" indent="-342900" algn="just">
              <a:buFont typeface="Arial" panose="020B0604020202020204" pitchFamily="34" charset="0"/>
              <a:buChar char="•"/>
            </a:pPr>
            <a:r>
              <a:rPr lang="en-IN" sz="2000" b="1" dirty="0"/>
              <a:t>Explainability:</a:t>
            </a:r>
            <a:r>
              <a:rPr lang="en-IN" sz="2000" dirty="0"/>
              <a:t> Explainable AI (SHAP) for reasoning</a:t>
            </a:r>
          </a:p>
          <a:p>
            <a:pPr marL="571500" indent="-342900" algn="just">
              <a:buFont typeface="Arial" panose="020B0604020202020204" pitchFamily="34" charset="0"/>
              <a:buChar char="•"/>
            </a:pPr>
            <a:r>
              <a:rPr lang="en-IN" sz="2000" b="1" dirty="0"/>
              <a:t>Visualization:</a:t>
            </a:r>
            <a:r>
              <a:rPr lang="en-IN" sz="2000" dirty="0"/>
              <a:t> </a:t>
            </a:r>
            <a:r>
              <a:rPr lang="en-IN" sz="2000" dirty="0" err="1"/>
              <a:t>Streamlit</a:t>
            </a:r>
            <a:r>
              <a:rPr lang="en-IN" sz="2000" dirty="0"/>
              <a:t> dashboard for results</a:t>
            </a:r>
          </a:p>
          <a:p>
            <a:pPr marL="228600" indent="0" algn="just"/>
            <a:r>
              <a:rPr lang="en-IN" sz="2000" b="1" dirty="0"/>
              <a:t>Techniques</a:t>
            </a:r>
          </a:p>
          <a:p>
            <a:pPr marL="571500" indent="-342900" algn="just">
              <a:buFont typeface="Arial" panose="020B0604020202020204" pitchFamily="34" charset="0"/>
              <a:buChar char="•"/>
            </a:pPr>
            <a:r>
              <a:rPr lang="en-IN" sz="2000" dirty="0"/>
              <a:t>Decision Tree Classification</a:t>
            </a:r>
          </a:p>
          <a:p>
            <a:pPr marL="571500" indent="-342900" algn="just">
              <a:buFont typeface="Arial" panose="020B0604020202020204" pitchFamily="34" charset="0"/>
              <a:buChar char="•"/>
            </a:pPr>
            <a:r>
              <a:rPr lang="en-IN" sz="2000" dirty="0"/>
              <a:t>Explainable AI (SHAP)</a:t>
            </a:r>
          </a:p>
          <a:p>
            <a:pPr marL="571500" indent="-342900" algn="just">
              <a:buFont typeface="Arial" panose="020B0604020202020204" pitchFamily="34" charset="0"/>
              <a:buChar char="•"/>
            </a:pPr>
            <a:r>
              <a:rPr lang="en-IN" sz="2000" dirty="0"/>
              <a:t>Label Encoding</a:t>
            </a:r>
          </a:p>
          <a:p>
            <a:pPr marL="571500" indent="-342900" algn="just">
              <a:buFont typeface="Arial" panose="020B0604020202020204" pitchFamily="34" charset="0"/>
              <a:buChar char="•"/>
            </a:pPr>
            <a:r>
              <a:rPr lang="en-IN" sz="2000" dirty="0"/>
              <a:t>Feature Handling for real-world data</a:t>
            </a:r>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54612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CDF0807-F555-BABF-AC1D-1B30DCB74667}"/>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24E0806-76EE-F90C-A72A-1E4FF239C743}"/>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Tools and Data sets (include SDG category)</a:t>
            </a:r>
            <a:endParaRPr dirty="0"/>
          </a:p>
        </p:txBody>
      </p:sp>
      <p:sp>
        <p:nvSpPr>
          <p:cNvPr id="57" name="Google Shape;57;g32a3e1ea9ea_0_31">
            <a:extLst>
              <a:ext uri="{FF2B5EF4-FFF2-40B4-BE49-F238E27FC236}">
                <a16:creationId xmlns:a16="http://schemas.microsoft.com/office/drawing/2014/main" id="{45B7FCE5-8E29-5A07-DCCB-847F94B04B7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21</a:t>
            </a:fld>
            <a:endParaRPr/>
          </a:p>
        </p:txBody>
      </p:sp>
      <p:sp>
        <p:nvSpPr>
          <p:cNvPr id="58" name="Google Shape;58;g32a3e1ea9ea_0_31">
            <a:extLst>
              <a:ext uri="{FF2B5EF4-FFF2-40B4-BE49-F238E27FC236}">
                <a16:creationId xmlns:a16="http://schemas.microsoft.com/office/drawing/2014/main" id="{A3AE5048-0B10-5261-66BD-F18DBBC923B5}"/>
              </a:ext>
            </a:extLst>
          </p:cNvPr>
          <p:cNvSpPr txBox="1">
            <a:spLocks noGrp="1"/>
          </p:cNvSpPr>
          <p:nvPr>
            <p:ph type="body" idx="1"/>
          </p:nvPr>
        </p:nvSpPr>
        <p:spPr>
          <a:xfrm>
            <a:off x="165100" y="728547"/>
            <a:ext cx="8763000" cy="3933940"/>
          </a:xfrm>
          <a:prstGeom prst="rect">
            <a:avLst/>
          </a:prstGeom>
          <a:noFill/>
          <a:ln>
            <a:noFill/>
          </a:ln>
        </p:spPr>
        <p:txBody>
          <a:bodyPr spcFirstLastPara="1" wrap="square" lIns="91425" tIns="91425" rIns="91425" bIns="91425" anchor="t" anchorCtr="0">
            <a:normAutofit fontScale="85000" lnSpcReduction="20000"/>
          </a:bodyPr>
          <a:lstStyle/>
          <a:p>
            <a:pPr marL="228600" indent="0" algn="just"/>
            <a:r>
              <a:rPr lang="en-IN" b="1" dirty="0"/>
              <a:t>Tools Used</a:t>
            </a:r>
          </a:p>
          <a:p>
            <a:pPr marL="571500" indent="-342900" algn="just">
              <a:buFont typeface="Arial" panose="020B0604020202020204" pitchFamily="34" charset="0"/>
              <a:buChar char="•"/>
            </a:pPr>
            <a:r>
              <a:rPr lang="en-IN" b="1" dirty="0"/>
              <a:t>Python</a:t>
            </a:r>
            <a:r>
              <a:rPr lang="en-IN" dirty="0"/>
              <a:t> – Data processing &amp; model building</a:t>
            </a:r>
          </a:p>
          <a:p>
            <a:pPr marL="571500" indent="-342900" algn="just">
              <a:buFont typeface="Arial" panose="020B0604020202020204" pitchFamily="34" charset="0"/>
              <a:buChar char="•"/>
            </a:pPr>
            <a:r>
              <a:rPr lang="en-IN" b="1" dirty="0"/>
              <a:t>Scikit-learn</a:t>
            </a:r>
            <a:r>
              <a:rPr lang="en-IN" dirty="0"/>
              <a:t> – Decision Tree classification</a:t>
            </a:r>
          </a:p>
          <a:p>
            <a:pPr marL="571500" indent="-342900" algn="just">
              <a:buFont typeface="Arial" panose="020B0604020202020204" pitchFamily="34" charset="0"/>
              <a:buChar char="•"/>
            </a:pPr>
            <a:r>
              <a:rPr lang="en-IN" b="1" dirty="0"/>
              <a:t>SHAP</a:t>
            </a:r>
            <a:r>
              <a:rPr lang="en-IN" dirty="0"/>
              <a:t> – Explainable AI for model interpretation</a:t>
            </a:r>
          </a:p>
          <a:p>
            <a:pPr marL="571500" indent="-342900" algn="just">
              <a:buFont typeface="Arial" panose="020B0604020202020204" pitchFamily="34" charset="0"/>
              <a:buChar char="•"/>
            </a:pPr>
            <a:r>
              <a:rPr lang="en-IN" b="1" dirty="0" err="1"/>
              <a:t>Streamlit</a:t>
            </a:r>
            <a:r>
              <a:rPr lang="en-IN" dirty="0"/>
              <a:t> – Interactive dashboard visualization</a:t>
            </a:r>
          </a:p>
          <a:p>
            <a:pPr marL="571500" indent="-342900" algn="just">
              <a:buFont typeface="Arial" panose="020B0604020202020204" pitchFamily="34" charset="0"/>
              <a:buChar char="•"/>
            </a:pPr>
            <a:r>
              <a:rPr lang="en-IN" b="1" dirty="0"/>
              <a:t>Google </a:t>
            </a:r>
            <a:r>
              <a:rPr lang="en-IN" b="1" dirty="0" err="1"/>
              <a:t>Colab</a:t>
            </a:r>
            <a:r>
              <a:rPr lang="en-IN" dirty="0"/>
              <a:t> – Model training &amp; experimentation</a:t>
            </a:r>
          </a:p>
          <a:p>
            <a:pPr marL="228600" indent="0" algn="just"/>
            <a:r>
              <a:rPr lang="en-IN" b="1" dirty="0"/>
              <a:t>Dataset Used</a:t>
            </a:r>
          </a:p>
          <a:p>
            <a:pPr marL="571500" indent="-342900" algn="just">
              <a:buFont typeface="Arial" panose="020B0604020202020204" pitchFamily="34" charset="0"/>
              <a:buChar char="•"/>
            </a:pPr>
            <a:r>
              <a:rPr lang="en-IN" b="1" dirty="0"/>
              <a:t>UNSW-NB15 Dataset</a:t>
            </a:r>
            <a:endParaRPr lang="en-IN" dirty="0"/>
          </a:p>
          <a:p>
            <a:pPr marL="1028700" lvl="1" indent="-342900" algn="just">
              <a:buFont typeface="Arial" panose="020B0604020202020204" pitchFamily="34" charset="0"/>
              <a:buChar char="•"/>
            </a:pPr>
            <a:r>
              <a:rPr lang="en-IN" dirty="0"/>
              <a:t>Realistic network traffic</a:t>
            </a:r>
          </a:p>
          <a:p>
            <a:pPr marL="1028700" lvl="1" indent="-342900" algn="just">
              <a:buFont typeface="Arial" panose="020B0604020202020204" pitchFamily="34" charset="0"/>
              <a:buChar char="•"/>
            </a:pPr>
            <a:r>
              <a:rPr lang="en-IN" dirty="0"/>
              <a:t>Includes normal and multiple cyber attack types</a:t>
            </a:r>
          </a:p>
          <a:p>
            <a:pPr marL="1028700" lvl="1" indent="-342900" algn="just">
              <a:buFont typeface="Arial" panose="020B0604020202020204" pitchFamily="34" charset="0"/>
              <a:buChar char="•"/>
            </a:pPr>
            <a:r>
              <a:rPr lang="en-IN" dirty="0"/>
              <a:t>Widely used for intrusion detection research</a:t>
            </a:r>
          </a:p>
          <a:p>
            <a:pPr marL="228600" indent="0" algn="just"/>
            <a:r>
              <a:rPr lang="en-IN" b="1" dirty="0"/>
              <a:t>SDG Alignment</a:t>
            </a:r>
          </a:p>
          <a:p>
            <a:pPr marL="571500" indent="-342900" algn="just">
              <a:buFont typeface="Arial" panose="020B0604020202020204" pitchFamily="34" charset="0"/>
              <a:buChar char="•"/>
            </a:pPr>
            <a:r>
              <a:rPr lang="en-IN" b="1" dirty="0"/>
              <a:t>SDG 9:</a:t>
            </a:r>
            <a:r>
              <a:rPr lang="en-IN" dirty="0"/>
              <a:t> Industry, Innovation &amp; Infrastructure</a:t>
            </a:r>
          </a:p>
          <a:p>
            <a:pPr marL="571500" indent="-342900" algn="just">
              <a:buFont typeface="Arial" panose="020B0604020202020204" pitchFamily="34" charset="0"/>
              <a:buChar char="•"/>
            </a:pPr>
            <a:r>
              <a:rPr lang="en-IN" b="1" dirty="0"/>
              <a:t>SDG 11:</a:t>
            </a:r>
            <a:r>
              <a:rPr lang="en-IN" dirty="0"/>
              <a:t> Sustainable Cities &amp; Communities</a:t>
            </a:r>
          </a:p>
          <a:p>
            <a:pPr marL="571500" indent="-342900" algn="just">
              <a:buFont typeface="Arial" panose="020B0604020202020204" pitchFamily="34" charset="0"/>
              <a:buChar char="•"/>
            </a:pPr>
            <a:r>
              <a:rPr lang="en-IN" b="1" dirty="0"/>
              <a:t>SDG 16:</a:t>
            </a:r>
            <a:r>
              <a:rPr lang="en-IN" dirty="0"/>
              <a:t> Peace, Justice &amp; Strong Institutions</a:t>
            </a:r>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1095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DA2F1570-CC9C-2EE8-ABDF-44371DB03DF1}"/>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B4356AB-631F-D4AE-6EE9-A5F6D86D1AEF}"/>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D58F5122-4A9E-C73E-B1AC-45C81065C5E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22</a:t>
            </a:fld>
            <a:endParaRPr/>
          </a:p>
        </p:txBody>
      </p:sp>
      <p:sp>
        <p:nvSpPr>
          <p:cNvPr id="58" name="Google Shape;58;g32a3e1ea9ea_0_31">
            <a:extLst>
              <a:ext uri="{FF2B5EF4-FFF2-40B4-BE49-F238E27FC236}">
                <a16:creationId xmlns:a16="http://schemas.microsoft.com/office/drawing/2014/main" id="{B9EB44D0-96B7-0D15-6A0A-9441A083838B}"/>
              </a:ext>
            </a:extLst>
          </p:cNvPr>
          <p:cNvSpPr txBox="1">
            <a:spLocks noGrp="1"/>
          </p:cNvSpPr>
          <p:nvPr>
            <p:ph type="body" idx="1"/>
          </p:nvPr>
        </p:nvSpPr>
        <p:spPr>
          <a:xfrm>
            <a:off x="0" y="512956"/>
            <a:ext cx="9021787" cy="4630544"/>
          </a:xfrm>
          <a:prstGeom prst="rect">
            <a:avLst/>
          </a:prstGeom>
          <a:noFill/>
          <a:ln>
            <a:noFill/>
          </a:ln>
        </p:spPr>
        <p:txBody>
          <a:bodyPr spcFirstLastPara="1" wrap="square" lIns="91425" tIns="91425" rIns="91425" bIns="91425" anchor="ctr" anchorCtr="0">
            <a:normAutofit fontScale="70000" lnSpcReduction="20000"/>
          </a:bodyPr>
          <a:lstStyle/>
          <a:p>
            <a:r>
              <a:rPr lang="en-US" sz="2200" b="1" dirty="0"/>
              <a:t>Title:</a:t>
            </a:r>
            <a:br>
              <a:rPr lang="en-US" sz="2200" dirty="0"/>
            </a:br>
            <a:r>
              <a:rPr lang="en-US" sz="2200" b="1" dirty="0"/>
              <a:t>Explainable AI for Intrusion Detection Systems: SHAP Applicability on Multi-Layer Perceptron</a:t>
            </a:r>
            <a:endParaRPr lang="en-US" sz="2200" dirty="0"/>
          </a:p>
          <a:p>
            <a:r>
              <a:rPr lang="en-US" sz="2200" b="1" dirty="0"/>
              <a:t>Authors:</a:t>
            </a:r>
            <a:br>
              <a:rPr lang="en-US" sz="2200" dirty="0"/>
            </a:br>
            <a:r>
              <a:rPr lang="en-US" sz="2200" dirty="0"/>
              <a:t>D. Gaspar, P. Silva, C. Silva</a:t>
            </a:r>
          </a:p>
          <a:p>
            <a:r>
              <a:rPr lang="en-US" sz="2200" b="1" dirty="0"/>
              <a:t>Journal:</a:t>
            </a:r>
            <a:br>
              <a:rPr lang="en-US" sz="2200" dirty="0"/>
            </a:br>
            <a:r>
              <a:rPr lang="en-US" sz="2200" dirty="0"/>
              <a:t>IEEE Access</a:t>
            </a:r>
          </a:p>
          <a:p>
            <a:r>
              <a:rPr lang="en-US" sz="2200" b="1" dirty="0"/>
              <a:t>Year:</a:t>
            </a:r>
            <a:br>
              <a:rPr lang="en-US" sz="2200" dirty="0"/>
            </a:br>
            <a:r>
              <a:rPr lang="en-US" sz="2200" dirty="0"/>
              <a:t>2024</a:t>
            </a:r>
          </a:p>
          <a:p>
            <a:r>
              <a:rPr lang="en-US" sz="2200" b="1" dirty="0"/>
              <a:t>Problem Addressed:</a:t>
            </a:r>
            <a:br>
              <a:rPr lang="en-US" sz="2200" dirty="0"/>
            </a:br>
            <a:r>
              <a:rPr lang="en-US" sz="2200" dirty="0"/>
              <a:t>Traditional machine-learning-based Intrusion Detection Systems (IDS) provide high accuracy but lack transparency, making it difficult for security analysts to understand </a:t>
            </a:r>
            <a:r>
              <a:rPr lang="en-US" sz="2200" i="1" dirty="0"/>
              <a:t>why</a:t>
            </a:r>
            <a:r>
              <a:rPr lang="en-US" sz="2200" dirty="0"/>
              <a:t> a network flow is classified as an attack or normal traffic.</a:t>
            </a:r>
          </a:p>
          <a:p>
            <a:r>
              <a:rPr lang="en-US" sz="2200" b="1" dirty="0"/>
              <a:t>Proposed Solution:</a:t>
            </a:r>
            <a:br>
              <a:rPr lang="en-US" sz="2200" dirty="0"/>
            </a:br>
            <a:r>
              <a:rPr lang="en-US" sz="2200" dirty="0"/>
              <a:t>The paper proposes an </a:t>
            </a:r>
            <a:r>
              <a:rPr lang="en-US" sz="2200" b="1" dirty="0"/>
              <a:t>Explainable AI (XAI)–enabled IDS framework</a:t>
            </a:r>
            <a:r>
              <a:rPr lang="en-US" sz="2200" dirty="0"/>
              <a:t> where a machine learning classifier is combined with </a:t>
            </a:r>
            <a:r>
              <a:rPr lang="en-US" sz="2200" b="1" dirty="0"/>
              <a:t>SHAP </a:t>
            </a:r>
            <a:r>
              <a:rPr lang="en-US" sz="2200" dirty="0"/>
              <a:t>techniques to provide </a:t>
            </a:r>
            <a:r>
              <a:rPr lang="en-US" sz="2200" b="1" dirty="0"/>
              <a:t>feature-level explanations</a:t>
            </a:r>
            <a:r>
              <a:rPr lang="en-US" sz="2200" dirty="0"/>
              <a:t> for intrusion predictions.</a:t>
            </a:r>
          </a:p>
          <a:p>
            <a:r>
              <a:rPr lang="en-US" sz="2200" b="1" dirty="0"/>
              <a:t>Techniques Used:</a:t>
            </a:r>
            <a:endParaRPr lang="en-US" sz="2200" dirty="0"/>
          </a:p>
          <a:p>
            <a:r>
              <a:rPr lang="en-US" sz="2200" dirty="0"/>
              <a:t>Multi-Layer Perceptron (MLP) classifier</a:t>
            </a:r>
          </a:p>
          <a:p>
            <a:r>
              <a:rPr lang="en-US" sz="2200" dirty="0"/>
              <a:t>SHAP (Shapley Additive Explanations)</a:t>
            </a:r>
          </a:p>
          <a:p>
            <a:r>
              <a:rPr lang="en-US" sz="2200" b="1" dirty="0"/>
              <a:t>Dataset:</a:t>
            </a:r>
            <a:br>
              <a:rPr lang="en-US" sz="2200" dirty="0"/>
            </a:br>
            <a:r>
              <a:rPr lang="en-US" sz="2200" dirty="0"/>
              <a:t>Network intrusion datasets representing normal and attack traffic patterns</a:t>
            </a:r>
          </a:p>
          <a:p>
            <a:r>
              <a:rPr lang="en-US" sz="2200" b="1" dirty="0"/>
              <a:t>Relevance to Our Project:</a:t>
            </a:r>
            <a:br>
              <a:rPr lang="en-US" sz="2200" dirty="0"/>
            </a:br>
            <a:r>
              <a:rPr lang="en-US" sz="2200" dirty="0"/>
              <a:t>Our project follows the same approach by applying </a:t>
            </a:r>
            <a:r>
              <a:rPr lang="en-US" sz="2200" b="1" dirty="0"/>
              <a:t>machine-learning-based intrusion detection with SHAP explanations</a:t>
            </a:r>
            <a:r>
              <a:rPr lang="en-US" sz="2200" dirty="0"/>
              <a:t> to justify predictions in </a:t>
            </a:r>
            <a:r>
              <a:rPr lang="en-US" sz="2200" b="1" dirty="0"/>
              <a:t>Cyber-Physical / IoT network environments</a:t>
            </a:r>
            <a:r>
              <a:rPr lang="en-US" sz="2200" dirty="0"/>
              <a:t>.</a:t>
            </a:r>
          </a:p>
          <a:p>
            <a:pPr marL="146368" lvl="0" indent="0" algn="l" rtl="0">
              <a:lnSpc>
                <a:spcPct val="115000"/>
              </a:lnSpc>
              <a:spcBef>
                <a:spcPts val="0"/>
              </a:spcBef>
              <a:spcAft>
                <a:spcPts val="0"/>
              </a:spcAft>
              <a:buClr>
                <a:srgbClr val="595959"/>
              </a:buClr>
              <a:buSzPct val="58333"/>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37539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CCCE6C5D-E94B-0162-89FB-193735F1DAC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8C40468F-BA50-5B35-E162-7E7A3663F10A}"/>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A4BD8A53-D48D-9923-0231-E4F5B01DBDFB}"/>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23</a:t>
            </a:fld>
            <a:endParaRPr/>
          </a:p>
        </p:txBody>
      </p:sp>
      <p:sp>
        <p:nvSpPr>
          <p:cNvPr id="58" name="Google Shape;58;g32a3e1ea9ea_0_31">
            <a:extLst>
              <a:ext uri="{FF2B5EF4-FFF2-40B4-BE49-F238E27FC236}">
                <a16:creationId xmlns:a16="http://schemas.microsoft.com/office/drawing/2014/main" id="{670F2E65-A7E7-8A18-6CD0-A0DC38447CC7}"/>
              </a:ext>
            </a:extLst>
          </p:cNvPr>
          <p:cNvSpPr txBox="1">
            <a:spLocks noGrp="1"/>
          </p:cNvSpPr>
          <p:nvPr>
            <p:ph type="body" idx="1"/>
          </p:nvPr>
        </p:nvSpPr>
        <p:spPr>
          <a:xfrm>
            <a:off x="165100" y="579863"/>
            <a:ext cx="8763000" cy="4237463"/>
          </a:xfrm>
          <a:prstGeom prst="rect">
            <a:avLst/>
          </a:prstGeom>
          <a:noFill/>
          <a:ln>
            <a:noFill/>
          </a:ln>
        </p:spPr>
        <p:txBody>
          <a:bodyPr spcFirstLastPara="1" wrap="square" lIns="91425" tIns="91425" rIns="91425" bIns="91425" anchor="t" anchorCtr="0">
            <a:normAutofit lnSpcReduction="10000"/>
          </a:bodyPr>
          <a:lstStyle/>
          <a:p>
            <a:pPr algn="just"/>
            <a:r>
              <a:rPr lang="en-IN" sz="2000" dirty="0"/>
              <a:t>[1] D. Gaspar, P. Silva, and C. Silva, “Explainable AI for intrusion detection systems: SHAP applicability on multi-layer perceptron,” </a:t>
            </a:r>
            <a:r>
              <a:rPr lang="en-IN" sz="2000" i="1" dirty="0"/>
              <a:t>IEEE Access</a:t>
            </a:r>
            <a:r>
              <a:rPr lang="en-IN" sz="2000" dirty="0"/>
              <a:t>, vol. 12, pp. 30164–30175, 2024.</a:t>
            </a:r>
          </a:p>
          <a:p>
            <a:pPr algn="just"/>
            <a:r>
              <a:rPr lang="en-IN" sz="2000" dirty="0"/>
              <a:t>[2] O. </a:t>
            </a:r>
            <a:r>
              <a:rPr lang="en-IN" sz="2000" dirty="0" err="1"/>
              <a:t>Arreche</a:t>
            </a:r>
            <a:r>
              <a:rPr lang="en-IN" sz="2000" dirty="0"/>
              <a:t>, T. R. Guntur, J. W. Roberts, and M. Abdallah, “E-XAI: Evaluating black-box explainable AI frameworks for network intrusion detection,” </a:t>
            </a:r>
            <a:r>
              <a:rPr lang="en-IN" sz="2000" i="1" dirty="0"/>
              <a:t>IEEE Access</a:t>
            </a:r>
            <a:r>
              <a:rPr lang="en-IN" sz="2000" dirty="0"/>
              <a:t>, vol. 12, pp. 23954–23988, 2024.</a:t>
            </a:r>
          </a:p>
          <a:p>
            <a:pPr algn="just"/>
            <a:r>
              <a:rPr lang="en-IN" sz="2000" dirty="0"/>
              <a:t>[3] A. Al-</a:t>
            </a:r>
            <a:r>
              <a:rPr lang="en-IN" sz="2000" dirty="0" err="1"/>
              <a:t>Hawawreh</a:t>
            </a:r>
            <a:r>
              <a:rPr lang="en-IN" sz="2000" dirty="0"/>
              <a:t>, N. </a:t>
            </a:r>
            <a:r>
              <a:rPr lang="en-IN" sz="2000" dirty="0" err="1"/>
              <a:t>Neshenko</a:t>
            </a:r>
            <a:r>
              <a:rPr lang="en-IN" sz="2000" dirty="0"/>
              <a:t>, and E. Bou-Harb, “Explainable machine learning for trustworthy intrusion detection in cyber-physical systems,” </a:t>
            </a:r>
            <a:r>
              <a:rPr lang="en-IN" sz="2000" i="1" dirty="0"/>
              <a:t>IEEE Internet of Things Journal</a:t>
            </a:r>
            <a:r>
              <a:rPr lang="en-IN" sz="2000" dirty="0"/>
              <a:t>, vol. 11, no. 6, pp. 10432–10445, 2024.</a:t>
            </a:r>
          </a:p>
          <a:p>
            <a:pPr algn="just"/>
            <a:r>
              <a:rPr lang="en-IN" sz="2000" dirty="0"/>
              <a:t>[4] S. Li, S. B. </a:t>
            </a:r>
            <a:r>
              <a:rPr lang="en-IN" sz="2000" dirty="0" err="1"/>
              <a:t>Hulayyil</a:t>
            </a:r>
            <a:r>
              <a:rPr lang="en-IN" sz="2000" dirty="0"/>
              <a:t>, and N. Saxena, “Explainable AI-based intrusion detection in IoT systems,” </a:t>
            </a:r>
            <a:r>
              <a:rPr lang="en-IN" sz="2000" i="1" dirty="0"/>
              <a:t>IEEE Internet of Things Journal</a:t>
            </a:r>
            <a:r>
              <a:rPr lang="en-IN" sz="2000" dirty="0"/>
              <a:t>, early access, 2025.</a:t>
            </a:r>
          </a:p>
          <a:p>
            <a:pPr algn="just"/>
            <a:r>
              <a:rPr lang="en-IN" sz="2000" dirty="0"/>
              <a:t>[5] M. Alqarni and A. S. </a:t>
            </a:r>
            <a:r>
              <a:rPr lang="en-IN" sz="2000" dirty="0" err="1"/>
              <a:t>Alfakeeh</a:t>
            </a:r>
            <a:r>
              <a:rPr lang="en-IN" sz="2000" dirty="0"/>
              <a:t>, “A trustworthy explainable intrusion detection framework for IoT and cyber-physical systems,” </a:t>
            </a:r>
            <a:r>
              <a:rPr lang="en-IN" sz="2000" i="1" dirty="0"/>
              <a:t>IEEE Transactions on Artificial Intelligence</a:t>
            </a:r>
            <a:r>
              <a:rPr lang="en-IN" sz="2000" dirty="0"/>
              <a:t>, early access, 2025.</a:t>
            </a:r>
          </a:p>
          <a:p>
            <a:pPr marL="146368" lvl="0" indent="0" algn="l" rtl="0">
              <a:lnSpc>
                <a:spcPct val="115000"/>
              </a:lnSpc>
              <a:spcBef>
                <a:spcPts val="0"/>
              </a:spcBef>
              <a:spcAft>
                <a:spcPts val="0"/>
              </a:spcAft>
              <a:buClr>
                <a:srgbClr val="595959"/>
              </a:buClr>
              <a:buSzPct val="58333"/>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34366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24</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2728</Words>
  <Application>Microsoft Office PowerPoint</Application>
  <PresentationFormat>On-screen Show (16:9)</PresentationFormat>
  <Paragraphs>236</Paragraphs>
  <Slides>24</Slides>
  <Notes>24</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24</vt:i4>
      </vt:variant>
    </vt:vector>
  </HeadingPairs>
  <TitlesOfParts>
    <vt:vector size="28" baseType="lpstr">
      <vt:lpstr>Arial</vt:lpstr>
      <vt:lpstr>Times New Roman</vt:lpstr>
      <vt:lpstr>2_Simple Light</vt:lpstr>
      <vt:lpstr>1_Simple Light</vt:lpstr>
      <vt:lpstr>    Gokaraju Rangaraju Institute of Engineering and Technology  (Autonomous) Department of Data Science  Mini Project with seminar (CSE(DS))</vt:lpstr>
      <vt:lpstr>SafePay AI</vt:lpstr>
      <vt:lpstr>Introduction to the project work</vt:lpstr>
      <vt:lpstr>Significance or importance or novelty</vt:lpstr>
      <vt:lpstr>Frame work and Techniques</vt:lpstr>
      <vt:lpstr>Tools and Data sets (include SDG category)</vt:lpstr>
      <vt:lpstr>Base paper details</vt:lpstr>
      <vt:lpstr>Limitations in Paper:</vt:lpstr>
      <vt:lpstr>References</vt:lpstr>
      <vt:lpstr>Personal Decision Intelligence System</vt:lpstr>
      <vt:lpstr>Introduction to the project work</vt:lpstr>
      <vt:lpstr>Significance or importance or novelty</vt:lpstr>
      <vt:lpstr>Frame work and Techniques</vt:lpstr>
      <vt:lpstr>Tools and Data sets (include SDG category)</vt:lpstr>
      <vt:lpstr>Base paper details</vt:lpstr>
      <vt:lpstr>References</vt:lpstr>
      <vt:lpstr>Explainable AI–Based Intrusion Detection System for Cyber-Physical Systems</vt:lpstr>
      <vt:lpstr>Introduction to the project work</vt:lpstr>
      <vt:lpstr>Significance or importance or novelty</vt:lpstr>
      <vt:lpstr>Frame work and Techniques</vt:lpstr>
      <vt:lpstr>Tools and Data sets (include SDG category)</vt:lpstr>
      <vt:lpstr>Base paper details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Nadeem MD</cp:lastModifiedBy>
  <cp:revision>32</cp:revision>
  <dcterms:modified xsi:type="dcterms:W3CDTF">2026-01-07T02:45:06Z</dcterms:modified>
</cp:coreProperties>
</file>